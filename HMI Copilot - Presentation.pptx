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today an engineer draws every HMI screen by hand and wires every tag by hand. We generate the whole project file, and it opens in Schneider's own tool. We will show that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linger. The judges wrote this problem statement — they know it. The one sentence that matters is the green bar: the cost is paid on site, not at the desk.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figures on the right are the whole pitch. One file, zero hand edits, and a human still signs it off.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2 and 5 are where the senior engineer's judgement is encoded — knowing a pump needs a fault alarm is the expertise, not drawing the rectangle.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judge asks 'why Next.js' — one language across client, orchestrator and packager, no CORS, no second dev server, and the packager is the only piece that needs a Node runtime.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separates us from a chatbot demo. Point at 'one model, two renderers' — the picture on screen is generated from the same JSON that goes into the file.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anti-hallucination slide. If a judge says 'LLMs make things up', this is the answer: the schema constrains the shape, the samples supply the vocabulary, and the validator catches the rest.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Naming rules are taken verbatim from the product's own documented conventions — appendix/naming_conventions.htm. We did not invent a linter.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byte count out loud — 25 KB. It is a small, legible, plain file, and that is exactly why full automation is possible.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image is not a screenshot and not a mockup — it is our renderer walking the Screen.dat inside the .eote. Then switch to OTE and show the real thing beside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Variables editor and the Alarm editor in the real tool here. The level alarms are the interesting ones: the setpoints came from inference, not from the tag 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OTE: click Lamp_PUMP1_RUN and show CurrentValue is already bound to PMP_101_RUN. That single click is the proof.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if asked: the simulator is what drives this. Modbus/OPC-UA is designed and the seam is there, but we are not claiming it is wired up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Rehearse the fallback. If PumpStation misbehaves on the judges' machine, open Minimal, say exactly what it isolates, and carry on. Never debug live.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long this took: the format was readable in an afternoon because it is JSON and SQLite. The backslash detail was the only real trap.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likely challenge is 'why not build it into the product'. Answer: that needs an SDK we do not have and code signing, and it would break on every release. The file boundary works with any OTE 4.4+ install and survives upgrades.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last line. Judges from an engineering company do not want to hear that their engineers are being replaced.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this slide before a judge finds it. Being straight about the amber column buys credibility for everything in the green 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SQLite and not a hosted database: these are not our databases. Variables.db and Alarm.db are the product's own file formats, sitting inside the .eote. Supabase would be storing our application data — a different question, and not what the judges are asking about.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three-word line, then go straight to questions. Do not read the roadmap aloud — it is there for the judges to read while you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1783080"/>
            <a:ext cx="10874959" cy="274320"/>
          </a:xfrm>
          <a:prstGeom prst="rect">
            <a:avLst/>
          </a:prstGeom>
          <a:noFill/>
        </p:spPr>
        <p:txBody>
          <a:bodyPr wrap="square" anchor="t" lIns="0" rIns="0" tIns="0" bIns="0">
            <a:spAutoFit/>
          </a:bodyPr>
          <a:lstStyle/>
          <a:p>
            <a:pPr algn="l">
              <a:lnSpc>
                <a:spcPct val="100000"/>
              </a:lnSpc>
              <a:spcAft>
                <a:spcPts val="1400"/>
              </a:spcAft>
            </a:pPr>
            <a:r>
              <a:rPr sz="1300" b="0" i="0">
                <a:solidFill>
                  <a:srgbClr val="3DCD58"/>
                </a:solidFill>
                <a:latin typeface="Segoe UI Semibold"/>
              </a:rPr>
              <a:t>ENCODE  ·  PROBLEM STATEMENT 3</a:t>
            </a:r>
          </a:p>
        </p:txBody>
      </p:sp>
      <p:sp>
        <p:nvSpPr>
          <p:cNvPr id="4" name="TextBox 3"/>
          <p:cNvSpPr txBox="1"/>
          <p:nvPr/>
        </p:nvSpPr>
        <p:spPr>
          <a:xfrm>
            <a:off x="658368" y="2212848"/>
            <a:ext cx="10058400" cy="914400"/>
          </a:xfrm>
          <a:prstGeom prst="rect">
            <a:avLst/>
          </a:prstGeom>
          <a:noFill/>
        </p:spPr>
        <p:txBody>
          <a:bodyPr wrap="square" anchor="t" lIns="0" rIns="0" tIns="0" bIns="0">
            <a:spAutoFit/>
          </a:bodyPr>
          <a:lstStyle/>
          <a:p>
            <a:pPr algn="l">
              <a:lnSpc>
                <a:spcPct val="100000"/>
              </a:lnSpc>
              <a:spcAft>
                <a:spcPts val="800"/>
              </a:spcAft>
            </a:pPr>
            <a:r>
              <a:rPr sz="6000" b="0" i="0">
                <a:solidFill>
                  <a:srgbClr val="1C242E"/>
                </a:solidFill>
                <a:latin typeface="Segoe UI Semibold"/>
              </a:rPr>
              <a:t>HMI Copilot</a:t>
            </a:r>
          </a:p>
        </p:txBody>
      </p:sp>
      <p:sp>
        <p:nvSpPr>
          <p:cNvPr id="5" name="TextBox 4"/>
          <p:cNvSpPr txBox="1"/>
          <p:nvPr/>
        </p:nvSpPr>
        <p:spPr>
          <a:xfrm>
            <a:off x="658368" y="3154680"/>
            <a:ext cx="9509760" cy="640080"/>
          </a:xfrm>
          <a:prstGeom prst="rect">
            <a:avLst/>
          </a:prstGeom>
          <a:noFill/>
        </p:spPr>
        <p:txBody>
          <a:bodyPr wrap="square" anchor="t" lIns="0" rIns="0" tIns="0" bIns="0">
            <a:spAutoFit/>
          </a:bodyPr>
          <a:lstStyle/>
          <a:p>
            <a:pPr algn="l">
              <a:lnSpc>
                <a:spcPct val="100000"/>
              </a:lnSpc>
              <a:spcAft>
                <a:spcPts val="0"/>
              </a:spcAft>
            </a:pPr>
            <a:r>
              <a:rPr sz="2400" b="0" i="0">
                <a:solidFill>
                  <a:srgbClr val="6C7A89"/>
                </a:solidFill>
                <a:latin typeface="Segoe UI"/>
              </a:rPr>
              <a:t>From PLC tags to a ready-to-open EcoStruxure project.</a:t>
            </a:r>
          </a:p>
        </p:txBody>
      </p:sp>
      <p:sp>
        <p:nvSpPr>
          <p:cNvPr id="6" name="Rectangle 5"/>
          <p:cNvSpPr/>
          <p:nvPr/>
        </p:nvSpPr>
        <p:spPr>
          <a:xfrm>
            <a:off x="658368" y="3977639"/>
            <a:ext cx="1005840" cy="5080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4315968"/>
            <a:ext cx="10241280" cy="822960"/>
          </a:xfrm>
          <a:prstGeom prst="rect">
            <a:avLst/>
          </a:prstGeom>
          <a:noFill/>
        </p:spPr>
        <p:txBody>
          <a:bodyPr wrap="square" anchor="t" lIns="0" rIns="0" tIns="0" bIns="0">
            <a:spAutoFit/>
          </a:bodyPr>
          <a:lstStyle/>
          <a:p>
            <a:pPr algn="l">
              <a:lnSpc>
                <a:spcPct val="130000"/>
              </a:lnSpc>
              <a:spcAft>
                <a:spcPts val="0"/>
              </a:spcAft>
            </a:pPr>
            <a:r>
              <a:rPr sz="1350" b="0" i="0">
                <a:solidFill>
                  <a:srgbClr val="1C242E"/>
                </a:solidFill>
                <a:latin typeface="Segoe UI"/>
              </a:rPr>
              <a:t>A tag export and one sentence of English become a complete, validated EcoStruxure Operator Terminal Expert project — screens drawn, tags declared, alarms configured, bindings wired — while the engineer watches it being built.</a:t>
            </a:r>
          </a:p>
        </p:txBody>
      </p:sp>
      <p:sp>
        <p:nvSpPr>
          <p:cNvPr id="8" name="TextBox 7"/>
          <p:cNvSpPr txBox="1"/>
          <p:nvPr/>
        </p:nvSpPr>
        <p:spPr>
          <a:xfrm>
            <a:off x="658368" y="5806440"/>
            <a:ext cx="7315200" cy="548640"/>
          </a:xfrm>
          <a:prstGeom prst="rect">
            <a:avLst/>
          </a:prstGeom>
          <a:noFill/>
        </p:spPr>
        <p:txBody>
          <a:bodyPr wrap="square" anchor="t" lIns="0" rIns="0" tIns="0" bIns="0">
            <a:spAutoFit/>
          </a:bodyPr>
          <a:lstStyle/>
          <a:p>
            <a:pPr algn="l">
              <a:lnSpc>
                <a:spcPct val="100000"/>
              </a:lnSpc>
              <a:spcAft>
                <a:spcPts val="200"/>
              </a:spcAft>
            </a:pPr>
            <a:r>
              <a:rPr sz="1400" b="0" i="0">
                <a:solidFill>
                  <a:srgbClr val="1C242E"/>
                </a:solidFill>
                <a:latin typeface="Segoe UI Semibold"/>
              </a:rPr>
              <a:t>&lt;Team name&gt;</a:t>
            </a:r>
          </a:p>
          <a:p>
            <a:pPr algn="l">
              <a:lnSpc>
                <a:spcPct val="100000"/>
              </a:lnSpc>
              <a:spcAft>
                <a:spcPts val="0"/>
              </a:spcAft>
            </a:pPr>
            <a:r>
              <a:rPr sz="1200" b="0" i="0">
                <a:solidFill>
                  <a:srgbClr val="6C7A89"/>
                </a:solidFill>
                <a:latin typeface="Segoe UI"/>
              </a:rPr>
              <a:t>&lt;Member 1  ·  Member 2  ·  Member 3&gt;</a:t>
            </a:r>
          </a:p>
        </p:txBody>
      </p:sp>
      <p:sp>
        <p:nvSpPr>
          <p:cNvPr id="9" name="TextBox 8"/>
          <p:cNvSpPr txBox="1"/>
          <p:nvPr/>
        </p:nvSpPr>
        <p:spPr>
          <a:xfrm>
            <a:off x="8058607" y="5806440"/>
            <a:ext cx="3474720" cy="548640"/>
          </a:xfrm>
          <a:prstGeom prst="rect">
            <a:avLst/>
          </a:prstGeom>
          <a:noFill/>
        </p:spPr>
        <p:txBody>
          <a:bodyPr wrap="square" anchor="t" lIns="0" rIns="0" tIns="0" bIns="0">
            <a:spAutoFit/>
          </a:bodyPr>
          <a:lstStyle/>
          <a:p>
            <a:pPr algn="r">
              <a:lnSpc>
                <a:spcPct val="100000"/>
              </a:lnSpc>
              <a:spcAft>
                <a:spcPts val="200"/>
              </a:spcAft>
            </a:pPr>
            <a:r>
              <a:rPr sz="1050" b="0" i="0">
                <a:solidFill>
                  <a:srgbClr val="6C7A89"/>
                </a:solidFill>
                <a:latin typeface="Segoe UI"/>
              </a:rPr>
              <a:t>Target platform</a:t>
            </a:r>
          </a:p>
          <a:p>
            <a:pPr algn="r">
              <a:lnSpc>
                <a:spcPct val="100000"/>
              </a:lnSpc>
              <a:spcAft>
                <a:spcPts val="0"/>
              </a:spcAft>
            </a:pPr>
            <a:r>
              <a:rPr sz="1200" b="0" i="0">
                <a:solidFill>
                  <a:srgbClr val="1C242E"/>
                </a:solidFill>
                <a:latin typeface="Segoe UI Semibold"/>
              </a:rPr>
              <a:t>EcoStruxure Operator Terminal Expert 4.4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THE PROBLEM</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Four costs, on every project</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2</a:t>
            </a:r>
          </a:p>
        </p:txBody>
      </p:sp>
      <p:sp>
        <p:nvSpPr>
          <p:cNvPr id="7" name="TextBox 6"/>
          <p:cNvSpPr txBox="1"/>
          <p:nvPr/>
        </p:nvSpPr>
        <p:spPr>
          <a:xfrm>
            <a:off x="658368" y="1591056"/>
            <a:ext cx="10874959" cy="457200"/>
          </a:xfrm>
          <a:prstGeom prst="rect">
            <a:avLst/>
          </a:prstGeom>
          <a:noFill/>
        </p:spPr>
        <p:txBody>
          <a:bodyPr wrap="square" anchor="t" lIns="0" rIns="0" tIns="0" bIns="0">
            <a:spAutoFit/>
          </a:bodyPr>
          <a:lstStyle/>
          <a:p>
            <a:pPr algn="l">
              <a:lnSpc>
                <a:spcPct val="100000"/>
              </a:lnSpc>
              <a:spcAft>
                <a:spcPts val="600"/>
              </a:spcAft>
            </a:pPr>
            <a:r>
              <a:rPr sz="1300" b="0" i="1">
                <a:solidFill>
                  <a:srgbClr val="6C7A89"/>
                </a:solidFill>
                <a:latin typeface="Segoe UI"/>
              </a:rPr>
              <a:t>“The current engineering workflow relies heavily on manual screen development, expert-driven configuration, and complex tag integration activities.”</a:t>
            </a:r>
          </a:p>
        </p:txBody>
      </p:sp>
      <p:sp>
        <p:nvSpPr>
          <p:cNvPr id="8" name="Rounded Rectangle 7"/>
          <p:cNvSpPr/>
          <p:nvPr/>
        </p:nvSpPr>
        <p:spPr>
          <a:xfrm>
            <a:off x="658368" y="2157984"/>
            <a:ext cx="2512999" cy="210312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2157984"/>
            <a:ext cx="44450" cy="210312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2340864"/>
            <a:ext cx="2074087" cy="274320"/>
          </a:xfrm>
          <a:prstGeom prst="rect">
            <a:avLst/>
          </a:prstGeom>
          <a:noFill/>
        </p:spPr>
        <p:txBody>
          <a:bodyPr wrap="square" anchor="t" lIns="0" rIns="0" tIns="0" bIns="0">
            <a:spAutoFit/>
          </a:bodyPr>
          <a:lstStyle/>
          <a:p>
            <a:pPr algn="l">
              <a:lnSpc>
                <a:spcPct val="100000"/>
              </a:lnSpc>
              <a:spcAft>
                <a:spcPts val="400"/>
              </a:spcAft>
            </a:pPr>
            <a:r>
              <a:rPr sz="1350" b="0" i="0">
                <a:solidFill>
                  <a:srgbClr val="1C242E"/>
                </a:solidFill>
                <a:latin typeface="Segoe UI Semibold"/>
              </a:rPr>
              <a:t>Manual screen development</a:t>
            </a:r>
          </a:p>
        </p:txBody>
      </p:sp>
      <p:sp>
        <p:nvSpPr>
          <p:cNvPr id="11" name="TextBox 10"/>
          <p:cNvSpPr txBox="1"/>
          <p:nvPr/>
        </p:nvSpPr>
        <p:spPr>
          <a:xfrm>
            <a:off x="877824" y="2724912"/>
            <a:ext cx="2074087" cy="1371600"/>
          </a:xfrm>
          <a:prstGeom prst="rect">
            <a:avLst/>
          </a:prstGeom>
          <a:noFill/>
        </p:spPr>
        <p:txBody>
          <a:bodyPr wrap="square" anchor="t" lIns="0" rIns="0" tIns="0" bIns="0">
            <a:spAutoFit/>
          </a:bodyPr>
          <a:lstStyle/>
          <a:p>
            <a:pPr algn="l">
              <a:lnSpc>
                <a:spcPct val="118000"/>
              </a:lnSpc>
              <a:spcAft>
                <a:spcPts val="300"/>
              </a:spcAft>
            </a:pPr>
            <a:r>
              <a:rPr sz="1100" b="0" i="0">
                <a:solidFill>
                  <a:srgbClr val="6C7A89"/>
                </a:solidFill>
                <a:latin typeface="Segoe UI"/>
              </a:rPr>
              <a:t>An engineer hand-places every lamp, bargraph and trend — then repeats it for 40 near-identical equipment screens.</a:t>
            </a:r>
          </a:p>
        </p:txBody>
      </p:sp>
      <p:sp>
        <p:nvSpPr>
          <p:cNvPr id="12" name="Rounded Rectangle 11"/>
          <p:cNvSpPr/>
          <p:nvPr/>
        </p:nvSpPr>
        <p:spPr>
          <a:xfrm>
            <a:off x="3445687" y="2157984"/>
            <a:ext cx="2512999" cy="210312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45687" y="2157984"/>
            <a:ext cx="44450" cy="210312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665143" y="2340864"/>
            <a:ext cx="2074087" cy="274320"/>
          </a:xfrm>
          <a:prstGeom prst="rect">
            <a:avLst/>
          </a:prstGeom>
          <a:noFill/>
        </p:spPr>
        <p:txBody>
          <a:bodyPr wrap="square" anchor="t" lIns="0" rIns="0" tIns="0" bIns="0">
            <a:spAutoFit/>
          </a:bodyPr>
          <a:lstStyle/>
          <a:p>
            <a:pPr algn="l">
              <a:lnSpc>
                <a:spcPct val="100000"/>
              </a:lnSpc>
              <a:spcAft>
                <a:spcPts val="400"/>
              </a:spcAft>
            </a:pPr>
            <a:r>
              <a:rPr sz="1350" b="0" i="0">
                <a:solidFill>
                  <a:srgbClr val="1C242E"/>
                </a:solidFill>
                <a:latin typeface="Segoe UI Semibold"/>
              </a:rPr>
              <a:t>Expert-driven configuration</a:t>
            </a:r>
          </a:p>
        </p:txBody>
      </p:sp>
      <p:sp>
        <p:nvSpPr>
          <p:cNvPr id="15" name="TextBox 14"/>
          <p:cNvSpPr txBox="1"/>
          <p:nvPr/>
        </p:nvSpPr>
        <p:spPr>
          <a:xfrm>
            <a:off x="3665143" y="2724912"/>
            <a:ext cx="2074087" cy="1371600"/>
          </a:xfrm>
          <a:prstGeom prst="rect">
            <a:avLst/>
          </a:prstGeom>
          <a:noFill/>
        </p:spPr>
        <p:txBody>
          <a:bodyPr wrap="square" anchor="t" lIns="0" rIns="0" tIns="0" bIns="0">
            <a:spAutoFit/>
          </a:bodyPr>
          <a:lstStyle/>
          <a:p>
            <a:pPr algn="l">
              <a:lnSpc>
                <a:spcPct val="118000"/>
              </a:lnSpc>
              <a:spcAft>
                <a:spcPts val="300"/>
              </a:spcAft>
            </a:pPr>
            <a:r>
              <a:rPr sz="1100" b="0" i="0">
                <a:solidFill>
                  <a:srgbClr val="6C7A89"/>
                </a:solidFill>
                <a:latin typeface="Segoe UI"/>
              </a:rPr>
              <a:t>Only senior engineers know which object, animation and colour standard applies. Juniors block on them.</a:t>
            </a:r>
          </a:p>
        </p:txBody>
      </p:sp>
      <p:sp>
        <p:nvSpPr>
          <p:cNvPr id="16" name="Rounded Rectangle 15"/>
          <p:cNvSpPr/>
          <p:nvPr/>
        </p:nvSpPr>
        <p:spPr>
          <a:xfrm>
            <a:off x="6233007" y="2157984"/>
            <a:ext cx="2512999" cy="210312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33007" y="2157984"/>
            <a:ext cx="44450" cy="210312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52463" y="2340864"/>
            <a:ext cx="2074087" cy="274320"/>
          </a:xfrm>
          <a:prstGeom prst="rect">
            <a:avLst/>
          </a:prstGeom>
          <a:noFill/>
        </p:spPr>
        <p:txBody>
          <a:bodyPr wrap="square" anchor="t" lIns="0" rIns="0" tIns="0" bIns="0">
            <a:spAutoFit/>
          </a:bodyPr>
          <a:lstStyle/>
          <a:p>
            <a:pPr algn="l">
              <a:lnSpc>
                <a:spcPct val="100000"/>
              </a:lnSpc>
              <a:spcAft>
                <a:spcPts val="400"/>
              </a:spcAft>
            </a:pPr>
            <a:r>
              <a:rPr sz="1350" b="0" i="0">
                <a:solidFill>
                  <a:srgbClr val="1C242E"/>
                </a:solidFill>
                <a:latin typeface="Segoe UI Semibold"/>
              </a:rPr>
              <a:t>Complex tag integration</a:t>
            </a:r>
          </a:p>
        </p:txBody>
      </p:sp>
      <p:sp>
        <p:nvSpPr>
          <p:cNvPr id="19" name="TextBox 18"/>
          <p:cNvSpPr txBox="1"/>
          <p:nvPr/>
        </p:nvSpPr>
        <p:spPr>
          <a:xfrm>
            <a:off x="6452463" y="2724912"/>
            <a:ext cx="2074087" cy="1371600"/>
          </a:xfrm>
          <a:prstGeom prst="rect">
            <a:avLst/>
          </a:prstGeom>
          <a:noFill/>
        </p:spPr>
        <p:txBody>
          <a:bodyPr wrap="square" anchor="t" lIns="0" rIns="0" tIns="0" bIns="0">
            <a:spAutoFit/>
          </a:bodyPr>
          <a:lstStyle/>
          <a:p>
            <a:pPr algn="l">
              <a:lnSpc>
                <a:spcPct val="118000"/>
              </a:lnSpc>
              <a:spcAft>
                <a:spcPts val="300"/>
              </a:spcAft>
            </a:pPr>
            <a:r>
              <a:rPr sz="1100" b="0" i="0">
                <a:solidFill>
                  <a:srgbClr val="6C7A89"/>
                </a:solidFill>
                <a:latin typeface="Segoe UI"/>
              </a:rPr>
              <a:t>Hundreds of PLC symbols mapped by hand onto object properties. One wrong binding stays invisible until commissioning.</a:t>
            </a:r>
          </a:p>
        </p:txBody>
      </p:sp>
      <p:sp>
        <p:nvSpPr>
          <p:cNvPr id="20" name="Rounded Rectangle 19"/>
          <p:cNvSpPr/>
          <p:nvPr/>
        </p:nvSpPr>
        <p:spPr>
          <a:xfrm>
            <a:off x="9020327" y="2157984"/>
            <a:ext cx="2512999" cy="210312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9020327" y="2157984"/>
            <a:ext cx="44450" cy="210312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239783" y="2340864"/>
            <a:ext cx="2074087" cy="274320"/>
          </a:xfrm>
          <a:prstGeom prst="rect">
            <a:avLst/>
          </a:prstGeom>
          <a:noFill/>
        </p:spPr>
        <p:txBody>
          <a:bodyPr wrap="square" anchor="t" lIns="0" rIns="0" tIns="0" bIns="0">
            <a:spAutoFit/>
          </a:bodyPr>
          <a:lstStyle/>
          <a:p>
            <a:pPr algn="l">
              <a:lnSpc>
                <a:spcPct val="100000"/>
              </a:lnSpc>
              <a:spcAft>
                <a:spcPts val="400"/>
              </a:spcAft>
            </a:pPr>
            <a:r>
              <a:rPr sz="1350" b="0" i="0">
                <a:solidFill>
                  <a:srgbClr val="1C242E"/>
                </a:solidFill>
                <a:latin typeface="Segoe UI Semibold"/>
              </a:rPr>
              <a:t>Inconsistency</a:t>
            </a:r>
          </a:p>
        </p:txBody>
      </p:sp>
      <p:sp>
        <p:nvSpPr>
          <p:cNvPr id="23" name="TextBox 22"/>
          <p:cNvSpPr txBox="1"/>
          <p:nvPr/>
        </p:nvSpPr>
        <p:spPr>
          <a:xfrm>
            <a:off x="9239783" y="2724912"/>
            <a:ext cx="2074087" cy="1371600"/>
          </a:xfrm>
          <a:prstGeom prst="rect">
            <a:avLst/>
          </a:prstGeom>
          <a:noFill/>
        </p:spPr>
        <p:txBody>
          <a:bodyPr wrap="square" anchor="t" lIns="0" rIns="0" tIns="0" bIns="0">
            <a:spAutoFit/>
          </a:bodyPr>
          <a:lstStyle/>
          <a:p>
            <a:pPr algn="l">
              <a:lnSpc>
                <a:spcPct val="118000"/>
              </a:lnSpc>
              <a:spcAft>
                <a:spcPts val="300"/>
              </a:spcAft>
            </a:pPr>
            <a:r>
              <a:rPr sz="1100" b="0" i="0">
                <a:solidFill>
                  <a:srgbClr val="6C7A89"/>
                </a:solidFill>
                <a:latin typeface="Segoe UI"/>
              </a:rPr>
              <a:t>Two engineers on one project produce two differently-shaped, differently-named HMIs.</a:t>
            </a:r>
          </a:p>
        </p:txBody>
      </p:sp>
      <p:sp>
        <p:nvSpPr>
          <p:cNvPr id="24" name="Rounded Rectangle 23"/>
          <p:cNvSpPr/>
          <p:nvPr/>
        </p:nvSpPr>
        <p:spPr>
          <a:xfrm>
            <a:off x="658368" y="4553712"/>
            <a:ext cx="10874959" cy="566928"/>
          </a:xfrm>
          <a:prstGeom prst="roundRect">
            <a:avLst>
              <a:gd name="adj" fmla="val 12000"/>
            </a:avLst>
          </a:prstGeom>
          <a:solidFill>
            <a:srgbClr val="F4F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4400" y="4700016"/>
            <a:ext cx="10362895" cy="365760"/>
          </a:xfrm>
          <a:prstGeom prst="rect">
            <a:avLst/>
          </a:prstGeom>
          <a:noFill/>
        </p:spPr>
        <p:txBody>
          <a:bodyPr wrap="square" anchor="t" lIns="0" rIns="0" tIns="0" bIns="0">
            <a:spAutoFit/>
          </a:bodyPr>
          <a:lstStyle/>
          <a:p>
            <a:pPr algn="l">
              <a:lnSpc>
                <a:spcPct val="100000"/>
              </a:lnSpc>
              <a:spcAft>
                <a:spcPts val="0"/>
              </a:spcAft>
            </a:pPr>
            <a:r>
              <a:rPr sz="1350" b="0" i="0">
                <a:solidFill>
                  <a:srgbClr val="008A3E"/>
                </a:solidFill>
                <a:latin typeface="Segoe UI Semibold"/>
              </a:rPr>
              <a:t>They compound. Validation and commissioning slip, because the errors surface on site instead of at the desk.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THE SOLUTION</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A tag list in. A project file out.</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3</a:t>
            </a:r>
          </a:p>
        </p:txBody>
      </p:sp>
      <p:sp>
        <p:nvSpPr>
          <p:cNvPr id="7" name="TextBox 6"/>
          <p:cNvSpPr txBox="1"/>
          <p:nvPr/>
        </p:nvSpPr>
        <p:spPr>
          <a:xfrm>
            <a:off x="658368" y="1591056"/>
            <a:ext cx="10874959" cy="457200"/>
          </a:xfrm>
          <a:prstGeom prst="rect">
            <a:avLst/>
          </a:prstGeom>
          <a:noFill/>
        </p:spPr>
        <p:txBody>
          <a:bodyPr wrap="square" anchor="t" lIns="0" rIns="0" tIns="0" bIns="0">
            <a:spAutoFit/>
          </a:bodyPr>
          <a:lstStyle/>
          <a:p>
            <a:pPr algn="l">
              <a:lnSpc>
                <a:spcPct val="125000"/>
              </a:lnSpc>
              <a:spcAft>
                <a:spcPts val="600"/>
              </a:spcAft>
            </a:pPr>
            <a:r>
              <a:rPr sz="1500" b="0" i="0">
                <a:solidFill>
                  <a:srgbClr val="1C242E"/>
                </a:solidFill>
                <a:latin typeface="Segoe UI"/>
              </a:rPr>
              <a:t>HMI Copilot turns a PLC tag export plus plain-English intent into a complete, validated EcoStruxure project — and shows the engineer every object as it is generated.</a:t>
            </a:r>
          </a:p>
        </p:txBody>
      </p:sp>
      <p:pic>
        <p:nvPicPr>
          <p:cNvPr id="8" name="Picture 7" descr="pipeline.png"/>
          <p:cNvPicPr>
            <a:picLocks noChangeAspect="1"/>
          </p:cNvPicPr>
          <p:nvPr/>
        </p:nvPicPr>
        <p:blipFill>
          <a:blip r:embed="rId2"/>
          <a:stretch>
            <a:fillRect/>
          </a:stretch>
        </p:blipFill>
        <p:spPr>
          <a:xfrm>
            <a:off x="658368" y="2368296"/>
            <a:ext cx="6858000" cy="4364182"/>
          </a:xfrm>
          <a:prstGeom prst="rect">
            <a:avLst/>
          </a:prstGeom>
        </p:spPr>
      </p:pic>
      <p:sp>
        <p:nvSpPr>
          <p:cNvPr id="9" name="Rectangle 8"/>
          <p:cNvSpPr/>
          <p:nvPr/>
        </p:nvSpPr>
        <p:spPr>
          <a:xfrm>
            <a:off x="658368" y="2368296"/>
            <a:ext cx="6858000" cy="4364182"/>
          </a:xfrm>
          <a:prstGeom prst="rect">
            <a:avLst/>
          </a:prstGeom>
          <a:no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27848" y="2368296"/>
            <a:ext cx="3605479" cy="548640"/>
          </a:xfrm>
          <a:prstGeom prst="rect">
            <a:avLst/>
          </a:prstGeom>
          <a:noFill/>
        </p:spPr>
        <p:txBody>
          <a:bodyPr wrap="square" anchor="t" lIns="0" rIns="0" tIns="0" bIns="0">
            <a:spAutoFit/>
          </a:bodyPr>
          <a:lstStyle/>
          <a:p>
            <a:pPr algn="ctr">
              <a:lnSpc>
                <a:spcPct val="100000"/>
              </a:lnSpc>
              <a:spcAft>
                <a:spcPts val="0"/>
              </a:spcAft>
            </a:pPr>
            <a:r>
              <a:rPr sz="3800" b="0" i="0">
                <a:solidFill>
                  <a:srgbClr val="008A3E"/>
                </a:solidFill>
                <a:latin typeface="Segoe UI Semibold"/>
              </a:rPr>
              <a:t>1 file</a:t>
            </a:r>
          </a:p>
        </p:txBody>
      </p:sp>
      <p:sp>
        <p:nvSpPr>
          <p:cNvPr id="11" name="TextBox 10"/>
          <p:cNvSpPr txBox="1"/>
          <p:nvPr/>
        </p:nvSpPr>
        <p:spPr>
          <a:xfrm>
            <a:off x="7927848" y="2935224"/>
            <a:ext cx="3605479" cy="365760"/>
          </a:xfrm>
          <a:prstGeom prst="rect">
            <a:avLst/>
          </a:prstGeom>
          <a:noFill/>
        </p:spPr>
        <p:txBody>
          <a:bodyPr wrap="square" anchor="t" lIns="0" rIns="0" tIns="0" bIns="0">
            <a:spAutoFit/>
          </a:bodyPr>
          <a:lstStyle/>
          <a:p>
            <a:pPr algn="ctr">
              <a:lnSpc>
                <a:spcPct val="112000"/>
              </a:lnSpc>
              <a:spcAft>
                <a:spcPts val="0"/>
              </a:spcAft>
            </a:pPr>
            <a:r>
              <a:rPr sz="1150" b="0" i="0">
                <a:solidFill>
                  <a:srgbClr val="6C7A89"/>
                </a:solidFill>
                <a:latin typeface="Segoe UI"/>
              </a:rPr>
              <a:t>opens with File ▸ Open Project.
Nothing to import, nothing to assemble.</a:t>
            </a:r>
          </a:p>
        </p:txBody>
      </p:sp>
      <p:sp>
        <p:nvSpPr>
          <p:cNvPr id="12" name="TextBox 11"/>
          <p:cNvSpPr txBox="1"/>
          <p:nvPr/>
        </p:nvSpPr>
        <p:spPr>
          <a:xfrm>
            <a:off x="7927848" y="3602736"/>
            <a:ext cx="3605479" cy="548640"/>
          </a:xfrm>
          <a:prstGeom prst="rect">
            <a:avLst/>
          </a:prstGeom>
          <a:noFill/>
        </p:spPr>
        <p:txBody>
          <a:bodyPr wrap="square" anchor="t" lIns="0" rIns="0" tIns="0" bIns="0">
            <a:spAutoFit/>
          </a:bodyPr>
          <a:lstStyle/>
          <a:p>
            <a:pPr algn="ctr">
              <a:lnSpc>
                <a:spcPct val="100000"/>
              </a:lnSpc>
              <a:spcAft>
                <a:spcPts val="0"/>
              </a:spcAft>
            </a:pPr>
            <a:r>
              <a:rPr sz="3800" b="0" i="0">
                <a:solidFill>
                  <a:srgbClr val="008A3E"/>
                </a:solidFill>
                <a:latin typeface="Segoe UI Semibold"/>
              </a:rPr>
              <a:t>0 hand edits</a:t>
            </a:r>
          </a:p>
        </p:txBody>
      </p:sp>
      <p:sp>
        <p:nvSpPr>
          <p:cNvPr id="13" name="TextBox 12"/>
          <p:cNvSpPr txBox="1"/>
          <p:nvPr/>
        </p:nvSpPr>
        <p:spPr>
          <a:xfrm>
            <a:off x="7927848" y="4169664"/>
            <a:ext cx="3605479" cy="365760"/>
          </a:xfrm>
          <a:prstGeom prst="rect">
            <a:avLst/>
          </a:prstGeom>
          <a:noFill/>
        </p:spPr>
        <p:txBody>
          <a:bodyPr wrap="square" anchor="t" lIns="0" rIns="0" tIns="0" bIns="0">
            <a:spAutoFit/>
          </a:bodyPr>
          <a:lstStyle/>
          <a:p>
            <a:pPr algn="ctr">
              <a:lnSpc>
                <a:spcPct val="112000"/>
              </a:lnSpc>
              <a:spcAft>
                <a:spcPts val="0"/>
              </a:spcAft>
            </a:pPr>
            <a:r>
              <a:rPr sz="1150" b="0" i="0">
                <a:solidFill>
                  <a:srgbClr val="6C7A89"/>
                </a:solidFill>
                <a:latin typeface="Segoe UI"/>
              </a:rPr>
              <a:t>screens, tags, alarms and bindings are all generated</a:t>
            </a:r>
          </a:p>
        </p:txBody>
      </p:sp>
      <p:sp>
        <p:nvSpPr>
          <p:cNvPr id="14" name="TextBox 13"/>
          <p:cNvSpPr txBox="1"/>
          <p:nvPr/>
        </p:nvSpPr>
        <p:spPr>
          <a:xfrm>
            <a:off x="7927848" y="4837176"/>
            <a:ext cx="3605479" cy="548640"/>
          </a:xfrm>
          <a:prstGeom prst="rect">
            <a:avLst/>
          </a:prstGeom>
          <a:noFill/>
        </p:spPr>
        <p:txBody>
          <a:bodyPr wrap="square" anchor="t" lIns="0" rIns="0" tIns="0" bIns="0">
            <a:spAutoFit/>
          </a:bodyPr>
          <a:lstStyle/>
          <a:p>
            <a:pPr algn="ctr">
              <a:lnSpc>
                <a:spcPct val="100000"/>
              </a:lnSpc>
              <a:spcAft>
                <a:spcPts val="0"/>
              </a:spcAft>
            </a:pPr>
            <a:r>
              <a:rPr sz="3800" b="0" i="0">
                <a:solidFill>
                  <a:srgbClr val="1C242E"/>
                </a:solidFill>
                <a:latin typeface="Segoe UI Semibold"/>
              </a:rPr>
              <a:t>Human-led</a:t>
            </a:r>
          </a:p>
        </p:txBody>
      </p:sp>
      <p:sp>
        <p:nvSpPr>
          <p:cNvPr id="15" name="TextBox 14"/>
          <p:cNvSpPr txBox="1"/>
          <p:nvPr/>
        </p:nvSpPr>
        <p:spPr>
          <a:xfrm>
            <a:off x="7927848" y="5404104"/>
            <a:ext cx="3605479" cy="365760"/>
          </a:xfrm>
          <a:prstGeom prst="rect">
            <a:avLst/>
          </a:prstGeom>
          <a:noFill/>
        </p:spPr>
        <p:txBody>
          <a:bodyPr wrap="square" anchor="t" lIns="0" rIns="0" tIns="0" bIns="0">
            <a:spAutoFit/>
          </a:bodyPr>
          <a:lstStyle/>
          <a:p>
            <a:pPr algn="ctr">
              <a:lnSpc>
                <a:spcPct val="112000"/>
              </a:lnSpc>
              <a:spcAft>
                <a:spcPts val="0"/>
              </a:spcAft>
            </a:pPr>
            <a:r>
              <a:rPr sz="1150" b="0" i="0">
                <a:solidFill>
                  <a:srgbClr val="6C7A89"/>
                </a:solidFill>
                <a:latin typeface="Segoe UI"/>
              </a:rPr>
              <a:t>the engineer inspects, edits and approves every element before export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HOW IT WORKS</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What happens between the two</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4</a:t>
            </a:r>
          </a:p>
        </p:txBody>
      </p:sp>
      <p:sp>
        <p:nvSpPr>
          <p:cNvPr id="7" name="Rounded Rectangle 6"/>
          <p:cNvSpPr/>
          <p:nvPr/>
        </p:nvSpPr>
        <p:spPr>
          <a:xfrm>
            <a:off x="658368" y="1591056"/>
            <a:ext cx="384048" cy="384048"/>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1655064"/>
            <a:ext cx="384048" cy="274320"/>
          </a:xfrm>
          <a:prstGeom prst="rect">
            <a:avLst/>
          </a:prstGeom>
          <a:noFill/>
        </p:spPr>
        <p:txBody>
          <a:bodyPr wrap="square" anchor="t" lIns="0" rIns="0" tIns="0" bIns="0">
            <a:spAutoFit/>
          </a:bodyPr>
          <a:lstStyle/>
          <a:p>
            <a:pPr algn="ctr">
              <a:lnSpc>
                <a:spcPct val="100000"/>
              </a:lnSpc>
              <a:spcAft>
                <a:spcPts val="0"/>
              </a:spcAft>
            </a:pPr>
            <a:r>
              <a:rPr sz="1300" b="0" i="0">
                <a:solidFill>
                  <a:srgbClr val="FFFFFF"/>
                </a:solidFill>
                <a:latin typeface="Segoe UI Semibold"/>
              </a:rPr>
              <a:t>1</a:t>
            </a:r>
          </a:p>
        </p:txBody>
      </p:sp>
      <p:sp>
        <p:nvSpPr>
          <p:cNvPr id="9" name="TextBox 8"/>
          <p:cNvSpPr txBox="1"/>
          <p:nvPr/>
        </p:nvSpPr>
        <p:spPr>
          <a:xfrm>
            <a:off x="1188720" y="1609344"/>
            <a:ext cx="4724247" cy="274320"/>
          </a:xfrm>
          <a:prstGeom prst="rect">
            <a:avLst/>
          </a:prstGeom>
          <a:noFill/>
        </p:spPr>
        <p:txBody>
          <a:bodyPr wrap="square" anchor="t" lIns="0" rIns="0" tIns="0" bIns="0">
            <a:spAutoFit/>
          </a:bodyPr>
          <a:lstStyle/>
          <a:p>
            <a:pPr algn="l">
              <a:lnSpc>
                <a:spcPct val="100000"/>
              </a:lnSpc>
              <a:spcAft>
                <a:spcPts val="200"/>
              </a:spcAft>
            </a:pPr>
            <a:r>
              <a:rPr sz="1400" b="0" i="0">
                <a:solidFill>
                  <a:srgbClr val="1C242E"/>
                </a:solidFill>
                <a:latin typeface="Segoe UI Semibold"/>
              </a:rPr>
              <a:t>Ingest</a:t>
            </a:r>
          </a:p>
        </p:txBody>
      </p:sp>
      <p:sp>
        <p:nvSpPr>
          <p:cNvPr id="10" name="TextBox 9"/>
          <p:cNvSpPr txBox="1"/>
          <p:nvPr/>
        </p:nvSpPr>
        <p:spPr>
          <a:xfrm>
            <a:off x="1188720" y="1901952"/>
            <a:ext cx="4724247" cy="640080"/>
          </a:xfrm>
          <a:prstGeom prst="rect">
            <a:avLst/>
          </a:prstGeom>
          <a:noFill/>
        </p:spPr>
        <p:txBody>
          <a:bodyPr wrap="square" anchor="t" lIns="0" rIns="0" tIns="0" bIns="0">
            <a:spAutoFit/>
          </a:bodyPr>
          <a:lstStyle/>
          <a:p>
            <a:pPr algn="l">
              <a:lnSpc>
                <a:spcPct val="116000"/>
              </a:lnSpc>
              <a:spcAft>
                <a:spcPts val="0"/>
              </a:spcAft>
            </a:pPr>
            <a:r>
              <a:rPr sz="1050" b="0" i="0">
                <a:solidFill>
                  <a:srgbClr val="6C7A89"/>
                </a:solidFill>
                <a:latin typeface="Segoe UI"/>
              </a:rPr>
              <a:t>Parse the PLC tag export — .csv, .xlsx or a Machine Expert symbol file — and normalise every tag to name, type, address and comment.</a:t>
            </a:r>
          </a:p>
        </p:txBody>
      </p:sp>
      <p:sp>
        <p:nvSpPr>
          <p:cNvPr id="11" name="Rounded Rectangle 10"/>
          <p:cNvSpPr/>
          <p:nvPr/>
        </p:nvSpPr>
        <p:spPr>
          <a:xfrm>
            <a:off x="6278727" y="1591056"/>
            <a:ext cx="384048" cy="384048"/>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78727" y="1655064"/>
            <a:ext cx="384048" cy="274320"/>
          </a:xfrm>
          <a:prstGeom prst="rect">
            <a:avLst/>
          </a:prstGeom>
          <a:noFill/>
        </p:spPr>
        <p:txBody>
          <a:bodyPr wrap="square" anchor="t" lIns="0" rIns="0" tIns="0" bIns="0">
            <a:spAutoFit/>
          </a:bodyPr>
          <a:lstStyle/>
          <a:p>
            <a:pPr algn="ctr">
              <a:lnSpc>
                <a:spcPct val="100000"/>
              </a:lnSpc>
              <a:spcAft>
                <a:spcPts val="0"/>
              </a:spcAft>
            </a:pPr>
            <a:r>
              <a:rPr sz="1300" b="0" i="0">
                <a:solidFill>
                  <a:srgbClr val="FFFFFF"/>
                </a:solidFill>
                <a:latin typeface="Segoe UI Semibold"/>
              </a:rPr>
              <a:t>2</a:t>
            </a:r>
          </a:p>
        </p:txBody>
      </p:sp>
      <p:sp>
        <p:nvSpPr>
          <p:cNvPr id="13" name="TextBox 12"/>
          <p:cNvSpPr txBox="1"/>
          <p:nvPr/>
        </p:nvSpPr>
        <p:spPr>
          <a:xfrm>
            <a:off x="6809079" y="1609344"/>
            <a:ext cx="4724247" cy="274320"/>
          </a:xfrm>
          <a:prstGeom prst="rect">
            <a:avLst/>
          </a:prstGeom>
          <a:noFill/>
        </p:spPr>
        <p:txBody>
          <a:bodyPr wrap="square" anchor="t" lIns="0" rIns="0" tIns="0" bIns="0">
            <a:spAutoFit/>
          </a:bodyPr>
          <a:lstStyle/>
          <a:p>
            <a:pPr algn="l">
              <a:lnSpc>
                <a:spcPct val="100000"/>
              </a:lnSpc>
              <a:spcAft>
                <a:spcPts val="200"/>
              </a:spcAft>
            </a:pPr>
            <a:r>
              <a:rPr sz="1400" b="0" i="0">
                <a:solidFill>
                  <a:srgbClr val="1C242E"/>
                </a:solidFill>
                <a:latin typeface="Segoe UI Semibold"/>
              </a:rPr>
              <a:t>Infer equipment</a:t>
            </a:r>
          </a:p>
        </p:txBody>
      </p:sp>
      <p:sp>
        <p:nvSpPr>
          <p:cNvPr id="14" name="TextBox 13"/>
          <p:cNvSpPr txBox="1"/>
          <p:nvPr/>
        </p:nvSpPr>
        <p:spPr>
          <a:xfrm>
            <a:off x="6809079" y="1901952"/>
            <a:ext cx="4724247" cy="640080"/>
          </a:xfrm>
          <a:prstGeom prst="rect">
            <a:avLst/>
          </a:prstGeom>
          <a:noFill/>
        </p:spPr>
        <p:txBody>
          <a:bodyPr wrap="square" anchor="t" lIns="0" rIns="0" tIns="0" bIns="0">
            <a:spAutoFit/>
          </a:bodyPr>
          <a:lstStyle/>
          <a:p>
            <a:pPr algn="l">
              <a:lnSpc>
                <a:spcPct val="116000"/>
              </a:lnSpc>
              <a:spcAft>
                <a:spcPts val="0"/>
              </a:spcAft>
            </a:pPr>
            <a:r>
              <a:rPr sz="1050" b="0" i="0">
                <a:solidFill>
                  <a:srgbClr val="6C7A89"/>
                </a:solidFill>
                <a:latin typeface="Segoe UI"/>
              </a:rPr>
              <a:t>Cluster tags by naming pattern. PMP_101_RUN / _FLT / _SPD become one pump with a run state, a fault and a speed.</a:t>
            </a:r>
          </a:p>
        </p:txBody>
      </p:sp>
      <p:sp>
        <p:nvSpPr>
          <p:cNvPr id="15" name="Rounded Rectangle 14"/>
          <p:cNvSpPr/>
          <p:nvPr/>
        </p:nvSpPr>
        <p:spPr>
          <a:xfrm>
            <a:off x="658368" y="2651760"/>
            <a:ext cx="384048" cy="384048"/>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2715768"/>
            <a:ext cx="384048" cy="274320"/>
          </a:xfrm>
          <a:prstGeom prst="rect">
            <a:avLst/>
          </a:prstGeom>
          <a:noFill/>
        </p:spPr>
        <p:txBody>
          <a:bodyPr wrap="square" anchor="t" lIns="0" rIns="0" tIns="0" bIns="0">
            <a:spAutoFit/>
          </a:bodyPr>
          <a:lstStyle/>
          <a:p>
            <a:pPr algn="ctr">
              <a:lnSpc>
                <a:spcPct val="100000"/>
              </a:lnSpc>
              <a:spcAft>
                <a:spcPts val="0"/>
              </a:spcAft>
            </a:pPr>
            <a:r>
              <a:rPr sz="1300" b="0" i="0">
                <a:solidFill>
                  <a:srgbClr val="FFFFFF"/>
                </a:solidFill>
                <a:latin typeface="Segoe UI Semibold"/>
              </a:rPr>
              <a:t>3</a:t>
            </a:r>
          </a:p>
        </p:txBody>
      </p:sp>
      <p:sp>
        <p:nvSpPr>
          <p:cNvPr id="17" name="TextBox 16"/>
          <p:cNvSpPr txBox="1"/>
          <p:nvPr/>
        </p:nvSpPr>
        <p:spPr>
          <a:xfrm>
            <a:off x="1188720" y="2670048"/>
            <a:ext cx="4724247" cy="274320"/>
          </a:xfrm>
          <a:prstGeom prst="rect">
            <a:avLst/>
          </a:prstGeom>
          <a:noFill/>
        </p:spPr>
        <p:txBody>
          <a:bodyPr wrap="square" anchor="t" lIns="0" rIns="0" tIns="0" bIns="0">
            <a:spAutoFit/>
          </a:bodyPr>
          <a:lstStyle/>
          <a:p>
            <a:pPr algn="l">
              <a:lnSpc>
                <a:spcPct val="100000"/>
              </a:lnSpc>
              <a:spcAft>
                <a:spcPts val="200"/>
              </a:spcAft>
            </a:pPr>
            <a:r>
              <a:rPr sz="1400" b="0" i="0">
                <a:solidFill>
                  <a:srgbClr val="1C242E"/>
                </a:solidFill>
                <a:latin typeface="Segoe UI Semibold"/>
              </a:rPr>
              <a:t>Select components</a:t>
            </a:r>
          </a:p>
        </p:txBody>
      </p:sp>
      <p:sp>
        <p:nvSpPr>
          <p:cNvPr id="18" name="TextBox 17"/>
          <p:cNvSpPr txBox="1"/>
          <p:nvPr/>
        </p:nvSpPr>
        <p:spPr>
          <a:xfrm>
            <a:off x="1188720" y="2962656"/>
            <a:ext cx="4724247" cy="640080"/>
          </a:xfrm>
          <a:prstGeom prst="rect">
            <a:avLst/>
          </a:prstGeom>
          <a:noFill/>
        </p:spPr>
        <p:txBody>
          <a:bodyPr wrap="square" anchor="t" lIns="0" rIns="0" tIns="0" bIns="0">
            <a:spAutoFit/>
          </a:bodyPr>
          <a:lstStyle/>
          <a:p>
            <a:pPr algn="l">
              <a:lnSpc>
                <a:spcPct val="116000"/>
              </a:lnSpc>
              <a:spcAft>
                <a:spcPts val="0"/>
              </a:spcAft>
            </a:pPr>
            <a:r>
              <a:rPr sz="1050" b="0" i="0">
                <a:solidFill>
                  <a:srgbClr val="6C7A89"/>
                </a:solidFill>
                <a:latin typeface="Segoe UI"/>
              </a:rPr>
              <a:t>Pick the right part for each tag from the 50 types the product actually ships — real shapes, not invented ones.</a:t>
            </a:r>
          </a:p>
        </p:txBody>
      </p:sp>
      <p:sp>
        <p:nvSpPr>
          <p:cNvPr id="19" name="Rounded Rectangle 18"/>
          <p:cNvSpPr/>
          <p:nvPr/>
        </p:nvSpPr>
        <p:spPr>
          <a:xfrm>
            <a:off x="6278727" y="2651760"/>
            <a:ext cx="384048" cy="384048"/>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78727" y="2715768"/>
            <a:ext cx="384048" cy="274320"/>
          </a:xfrm>
          <a:prstGeom prst="rect">
            <a:avLst/>
          </a:prstGeom>
          <a:noFill/>
        </p:spPr>
        <p:txBody>
          <a:bodyPr wrap="square" anchor="t" lIns="0" rIns="0" tIns="0" bIns="0">
            <a:spAutoFit/>
          </a:bodyPr>
          <a:lstStyle/>
          <a:p>
            <a:pPr algn="ctr">
              <a:lnSpc>
                <a:spcPct val="100000"/>
              </a:lnSpc>
              <a:spcAft>
                <a:spcPts val="0"/>
              </a:spcAft>
            </a:pPr>
            <a:r>
              <a:rPr sz="1300" b="0" i="0">
                <a:solidFill>
                  <a:srgbClr val="FFFFFF"/>
                </a:solidFill>
                <a:latin typeface="Segoe UI Semibold"/>
              </a:rPr>
              <a:t>4</a:t>
            </a:r>
          </a:p>
        </p:txBody>
      </p:sp>
      <p:sp>
        <p:nvSpPr>
          <p:cNvPr id="21" name="TextBox 20"/>
          <p:cNvSpPr txBox="1"/>
          <p:nvPr/>
        </p:nvSpPr>
        <p:spPr>
          <a:xfrm>
            <a:off x="6809079" y="2670048"/>
            <a:ext cx="4724247" cy="274320"/>
          </a:xfrm>
          <a:prstGeom prst="rect">
            <a:avLst/>
          </a:prstGeom>
          <a:noFill/>
        </p:spPr>
        <p:txBody>
          <a:bodyPr wrap="square" anchor="t" lIns="0" rIns="0" tIns="0" bIns="0">
            <a:spAutoFit/>
          </a:bodyPr>
          <a:lstStyle/>
          <a:p>
            <a:pPr algn="l">
              <a:lnSpc>
                <a:spcPct val="100000"/>
              </a:lnSpc>
              <a:spcAft>
                <a:spcPts val="200"/>
              </a:spcAft>
            </a:pPr>
            <a:r>
              <a:rPr sz="1400" b="0" i="0">
                <a:solidFill>
                  <a:srgbClr val="1C242E"/>
                </a:solidFill>
                <a:latin typeface="Segoe UI Semibold"/>
              </a:rPr>
              <a:t>Lay out the screen</a:t>
            </a:r>
          </a:p>
        </p:txBody>
      </p:sp>
      <p:sp>
        <p:nvSpPr>
          <p:cNvPr id="22" name="TextBox 21"/>
          <p:cNvSpPr txBox="1"/>
          <p:nvPr/>
        </p:nvSpPr>
        <p:spPr>
          <a:xfrm>
            <a:off x="6809079" y="2962656"/>
            <a:ext cx="4724247" cy="640080"/>
          </a:xfrm>
          <a:prstGeom prst="rect">
            <a:avLst/>
          </a:prstGeom>
          <a:noFill/>
        </p:spPr>
        <p:txBody>
          <a:bodyPr wrap="square" anchor="t" lIns="0" rIns="0" tIns="0" bIns="0">
            <a:spAutoFit/>
          </a:bodyPr>
          <a:lstStyle/>
          <a:p>
            <a:pPr algn="l">
              <a:lnSpc>
                <a:spcPct val="116000"/>
              </a:lnSpc>
              <a:spcAft>
                <a:spcPts val="0"/>
              </a:spcAft>
            </a:pPr>
            <a:r>
              <a:rPr sz="1050" b="0" i="0">
                <a:solidFill>
                  <a:srgbClr val="6C7A89"/>
                </a:solidFill>
                <a:latin typeface="Segoe UI"/>
              </a:rPr>
              <a:t>Position parts absolutely inside a ViewBox sized to the target panel, respecting reading order and alarm-banner convention.</a:t>
            </a:r>
          </a:p>
        </p:txBody>
      </p:sp>
      <p:sp>
        <p:nvSpPr>
          <p:cNvPr id="23" name="Rounded Rectangle 22"/>
          <p:cNvSpPr/>
          <p:nvPr/>
        </p:nvSpPr>
        <p:spPr>
          <a:xfrm>
            <a:off x="658368" y="3712464"/>
            <a:ext cx="384048" cy="384048"/>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3776472"/>
            <a:ext cx="384048" cy="274320"/>
          </a:xfrm>
          <a:prstGeom prst="rect">
            <a:avLst/>
          </a:prstGeom>
          <a:noFill/>
        </p:spPr>
        <p:txBody>
          <a:bodyPr wrap="square" anchor="t" lIns="0" rIns="0" tIns="0" bIns="0">
            <a:spAutoFit/>
          </a:bodyPr>
          <a:lstStyle/>
          <a:p>
            <a:pPr algn="ctr">
              <a:lnSpc>
                <a:spcPct val="100000"/>
              </a:lnSpc>
              <a:spcAft>
                <a:spcPts val="0"/>
              </a:spcAft>
            </a:pPr>
            <a:r>
              <a:rPr sz="1300" b="0" i="0">
                <a:solidFill>
                  <a:srgbClr val="FFFFFF"/>
                </a:solidFill>
                <a:latin typeface="Segoe UI Semibold"/>
              </a:rPr>
              <a:t>5</a:t>
            </a:r>
          </a:p>
        </p:txBody>
      </p:sp>
      <p:sp>
        <p:nvSpPr>
          <p:cNvPr id="25" name="TextBox 24"/>
          <p:cNvSpPr txBox="1"/>
          <p:nvPr/>
        </p:nvSpPr>
        <p:spPr>
          <a:xfrm>
            <a:off x="1188720" y="3730752"/>
            <a:ext cx="4724247" cy="274320"/>
          </a:xfrm>
          <a:prstGeom prst="rect">
            <a:avLst/>
          </a:prstGeom>
          <a:noFill/>
        </p:spPr>
        <p:txBody>
          <a:bodyPr wrap="square" anchor="t" lIns="0" rIns="0" tIns="0" bIns="0">
            <a:spAutoFit/>
          </a:bodyPr>
          <a:lstStyle/>
          <a:p>
            <a:pPr algn="l">
              <a:lnSpc>
                <a:spcPct val="100000"/>
              </a:lnSpc>
              <a:spcAft>
                <a:spcPts val="200"/>
              </a:spcAft>
            </a:pPr>
            <a:r>
              <a:rPr sz="1400" b="0" i="0">
                <a:solidFill>
                  <a:srgbClr val="1C242E"/>
                </a:solidFill>
                <a:latin typeface="Segoe UI Semibold"/>
              </a:rPr>
              <a:t>Generate alarms</a:t>
            </a:r>
          </a:p>
        </p:txBody>
      </p:sp>
      <p:sp>
        <p:nvSpPr>
          <p:cNvPr id="26" name="TextBox 25"/>
          <p:cNvSpPr txBox="1"/>
          <p:nvPr/>
        </p:nvSpPr>
        <p:spPr>
          <a:xfrm>
            <a:off x="1188720" y="4023360"/>
            <a:ext cx="4724247" cy="640080"/>
          </a:xfrm>
          <a:prstGeom prst="rect">
            <a:avLst/>
          </a:prstGeom>
          <a:noFill/>
        </p:spPr>
        <p:txBody>
          <a:bodyPr wrap="square" anchor="t" lIns="0" rIns="0" tIns="0" bIns="0">
            <a:spAutoFit/>
          </a:bodyPr>
          <a:lstStyle/>
          <a:p>
            <a:pPr algn="l">
              <a:lnSpc>
                <a:spcPct val="116000"/>
              </a:lnSpc>
              <a:spcAft>
                <a:spcPts val="0"/>
              </a:spcAft>
            </a:pPr>
            <a:r>
              <a:rPr sz="1050" b="0" i="0">
                <a:solidFill>
                  <a:srgbClr val="6C7A89"/>
                </a:solidFill>
                <a:latin typeface="Segoe UI"/>
              </a:rPr>
              <a:t>Every pump gets its fault alarm, every level its Hi and HiHi. Missing ones are flagged, not silently skipped.</a:t>
            </a:r>
          </a:p>
        </p:txBody>
      </p:sp>
      <p:sp>
        <p:nvSpPr>
          <p:cNvPr id="27" name="Rounded Rectangle 26"/>
          <p:cNvSpPr/>
          <p:nvPr/>
        </p:nvSpPr>
        <p:spPr>
          <a:xfrm>
            <a:off x="6278727" y="3712464"/>
            <a:ext cx="384048" cy="384048"/>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278727" y="3776472"/>
            <a:ext cx="384048" cy="274320"/>
          </a:xfrm>
          <a:prstGeom prst="rect">
            <a:avLst/>
          </a:prstGeom>
          <a:noFill/>
        </p:spPr>
        <p:txBody>
          <a:bodyPr wrap="square" anchor="t" lIns="0" rIns="0" tIns="0" bIns="0">
            <a:spAutoFit/>
          </a:bodyPr>
          <a:lstStyle/>
          <a:p>
            <a:pPr algn="ctr">
              <a:lnSpc>
                <a:spcPct val="100000"/>
              </a:lnSpc>
              <a:spcAft>
                <a:spcPts val="0"/>
              </a:spcAft>
            </a:pPr>
            <a:r>
              <a:rPr sz="1300" b="0" i="0">
                <a:solidFill>
                  <a:srgbClr val="FFFFFF"/>
                </a:solidFill>
                <a:latin typeface="Segoe UI Semibold"/>
              </a:rPr>
              <a:t>6</a:t>
            </a:r>
          </a:p>
        </p:txBody>
      </p:sp>
      <p:sp>
        <p:nvSpPr>
          <p:cNvPr id="29" name="TextBox 28"/>
          <p:cNvSpPr txBox="1"/>
          <p:nvPr/>
        </p:nvSpPr>
        <p:spPr>
          <a:xfrm>
            <a:off x="6809079" y="3730752"/>
            <a:ext cx="4724247" cy="274320"/>
          </a:xfrm>
          <a:prstGeom prst="rect">
            <a:avLst/>
          </a:prstGeom>
          <a:noFill/>
        </p:spPr>
        <p:txBody>
          <a:bodyPr wrap="square" anchor="t" lIns="0" rIns="0" tIns="0" bIns="0">
            <a:spAutoFit/>
          </a:bodyPr>
          <a:lstStyle/>
          <a:p>
            <a:pPr algn="l">
              <a:lnSpc>
                <a:spcPct val="100000"/>
              </a:lnSpc>
              <a:spcAft>
                <a:spcPts val="200"/>
              </a:spcAft>
            </a:pPr>
            <a:r>
              <a:rPr sz="1400" b="0" i="0">
                <a:solidFill>
                  <a:srgbClr val="1C242E"/>
                </a:solidFill>
                <a:latin typeface="Segoe UI Semibold"/>
              </a:rPr>
              <a:t>Wire the bindings</a:t>
            </a:r>
          </a:p>
        </p:txBody>
      </p:sp>
      <p:sp>
        <p:nvSpPr>
          <p:cNvPr id="30" name="TextBox 29"/>
          <p:cNvSpPr txBox="1"/>
          <p:nvPr/>
        </p:nvSpPr>
        <p:spPr>
          <a:xfrm>
            <a:off x="6809079" y="4023360"/>
            <a:ext cx="4724247" cy="640080"/>
          </a:xfrm>
          <a:prstGeom prst="rect">
            <a:avLst/>
          </a:prstGeom>
          <a:noFill/>
        </p:spPr>
        <p:txBody>
          <a:bodyPr wrap="square" anchor="t" lIns="0" rIns="0" tIns="0" bIns="0">
            <a:spAutoFit/>
          </a:bodyPr>
          <a:lstStyle/>
          <a:p>
            <a:pPr algn="l">
              <a:lnSpc>
                <a:spcPct val="116000"/>
              </a:lnSpc>
              <a:spcAft>
                <a:spcPts val="0"/>
              </a:spcAft>
            </a:pPr>
            <a:r>
              <a:rPr sz="1050" b="0" i="0">
                <a:solidFill>
                  <a:srgbClr val="6C7A89"/>
                </a:solidFill>
                <a:latin typeface="Segoe UI"/>
              </a:rPr>
              <a:t>Build the Sources → Bindings → Targets graph: tags onto display properties, trigger tags onto alarms.</a:t>
            </a:r>
          </a:p>
        </p:txBody>
      </p:sp>
      <p:sp>
        <p:nvSpPr>
          <p:cNvPr id="31" name="Rounded Rectangle 30"/>
          <p:cNvSpPr/>
          <p:nvPr/>
        </p:nvSpPr>
        <p:spPr>
          <a:xfrm>
            <a:off x="658368" y="4773168"/>
            <a:ext cx="384048" cy="384048"/>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8368" y="4837176"/>
            <a:ext cx="384048" cy="274320"/>
          </a:xfrm>
          <a:prstGeom prst="rect">
            <a:avLst/>
          </a:prstGeom>
          <a:noFill/>
        </p:spPr>
        <p:txBody>
          <a:bodyPr wrap="square" anchor="t" lIns="0" rIns="0" tIns="0" bIns="0">
            <a:spAutoFit/>
          </a:bodyPr>
          <a:lstStyle/>
          <a:p>
            <a:pPr algn="ctr">
              <a:lnSpc>
                <a:spcPct val="100000"/>
              </a:lnSpc>
              <a:spcAft>
                <a:spcPts val="0"/>
              </a:spcAft>
            </a:pPr>
            <a:r>
              <a:rPr sz="1300" b="0" i="0">
                <a:solidFill>
                  <a:srgbClr val="FFFFFF"/>
                </a:solidFill>
                <a:latin typeface="Segoe UI Semibold"/>
              </a:rPr>
              <a:t>7</a:t>
            </a:r>
          </a:p>
        </p:txBody>
      </p:sp>
      <p:sp>
        <p:nvSpPr>
          <p:cNvPr id="33" name="TextBox 32"/>
          <p:cNvSpPr txBox="1"/>
          <p:nvPr/>
        </p:nvSpPr>
        <p:spPr>
          <a:xfrm>
            <a:off x="1188720" y="4791456"/>
            <a:ext cx="4724247" cy="274320"/>
          </a:xfrm>
          <a:prstGeom prst="rect">
            <a:avLst/>
          </a:prstGeom>
          <a:noFill/>
        </p:spPr>
        <p:txBody>
          <a:bodyPr wrap="square" anchor="t" lIns="0" rIns="0" tIns="0" bIns="0">
            <a:spAutoFit/>
          </a:bodyPr>
          <a:lstStyle/>
          <a:p>
            <a:pPr algn="l">
              <a:lnSpc>
                <a:spcPct val="100000"/>
              </a:lnSpc>
              <a:spcAft>
                <a:spcPts val="200"/>
              </a:spcAft>
            </a:pPr>
            <a:r>
              <a:rPr sz="1400" b="0" i="0">
                <a:solidFill>
                  <a:srgbClr val="1C242E"/>
                </a:solidFill>
                <a:latin typeface="Segoe UI Semibold"/>
              </a:rPr>
              <a:t>Validate</a:t>
            </a:r>
          </a:p>
        </p:txBody>
      </p:sp>
      <p:sp>
        <p:nvSpPr>
          <p:cNvPr id="34" name="TextBox 33"/>
          <p:cNvSpPr txBox="1"/>
          <p:nvPr/>
        </p:nvSpPr>
        <p:spPr>
          <a:xfrm>
            <a:off x="1188720" y="5084064"/>
            <a:ext cx="4724247" cy="640080"/>
          </a:xfrm>
          <a:prstGeom prst="rect">
            <a:avLst/>
          </a:prstGeom>
          <a:noFill/>
        </p:spPr>
        <p:txBody>
          <a:bodyPr wrap="square" anchor="t" lIns="0" rIns="0" tIns="0" bIns="0">
            <a:spAutoFit/>
          </a:bodyPr>
          <a:lstStyle/>
          <a:p>
            <a:pPr algn="l">
              <a:lnSpc>
                <a:spcPct val="116000"/>
              </a:lnSpc>
              <a:spcAft>
                <a:spcPts val="0"/>
              </a:spcAft>
            </a:pPr>
            <a:r>
              <a:rPr sz="1050" b="0" i="0">
                <a:solidFill>
                  <a:srgbClr val="6C7A89"/>
                </a:solidFill>
                <a:latin typeface="Segoe UI"/>
              </a:rPr>
              <a:t>Naming rules, binding integrity, type mismatches, completeness and standards conformance — before anything is exported.</a:t>
            </a:r>
          </a:p>
        </p:txBody>
      </p:sp>
      <p:sp>
        <p:nvSpPr>
          <p:cNvPr id="35" name="Rounded Rectangle 34"/>
          <p:cNvSpPr/>
          <p:nvPr/>
        </p:nvSpPr>
        <p:spPr>
          <a:xfrm>
            <a:off x="6278727" y="4773168"/>
            <a:ext cx="384048" cy="384048"/>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278727" y="4837176"/>
            <a:ext cx="384048" cy="274320"/>
          </a:xfrm>
          <a:prstGeom prst="rect">
            <a:avLst/>
          </a:prstGeom>
          <a:noFill/>
        </p:spPr>
        <p:txBody>
          <a:bodyPr wrap="square" anchor="t" lIns="0" rIns="0" tIns="0" bIns="0">
            <a:spAutoFit/>
          </a:bodyPr>
          <a:lstStyle/>
          <a:p>
            <a:pPr algn="ctr">
              <a:lnSpc>
                <a:spcPct val="100000"/>
              </a:lnSpc>
              <a:spcAft>
                <a:spcPts val="0"/>
              </a:spcAft>
            </a:pPr>
            <a:r>
              <a:rPr sz="1300" b="0" i="0">
                <a:solidFill>
                  <a:srgbClr val="FFFFFF"/>
                </a:solidFill>
                <a:latin typeface="Segoe UI Semibold"/>
              </a:rPr>
              <a:t>8</a:t>
            </a:r>
          </a:p>
        </p:txBody>
      </p:sp>
      <p:sp>
        <p:nvSpPr>
          <p:cNvPr id="37" name="TextBox 36"/>
          <p:cNvSpPr txBox="1"/>
          <p:nvPr/>
        </p:nvSpPr>
        <p:spPr>
          <a:xfrm>
            <a:off x="6809079" y="4791456"/>
            <a:ext cx="4724247" cy="274320"/>
          </a:xfrm>
          <a:prstGeom prst="rect">
            <a:avLst/>
          </a:prstGeom>
          <a:noFill/>
        </p:spPr>
        <p:txBody>
          <a:bodyPr wrap="square" anchor="t" lIns="0" rIns="0" tIns="0" bIns="0">
            <a:spAutoFit/>
          </a:bodyPr>
          <a:lstStyle/>
          <a:p>
            <a:pPr algn="l">
              <a:lnSpc>
                <a:spcPct val="100000"/>
              </a:lnSpc>
              <a:spcAft>
                <a:spcPts val="200"/>
              </a:spcAft>
            </a:pPr>
            <a:r>
              <a:rPr sz="1400" b="0" i="0">
                <a:solidFill>
                  <a:srgbClr val="1C242E"/>
                </a:solidFill>
                <a:latin typeface="Segoe UI Semibold"/>
              </a:rPr>
              <a:t>Package</a:t>
            </a:r>
          </a:p>
        </p:txBody>
      </p:sp>
      <p:sp>
        <p:nvSpPr>
          <p:cNvPr id="38" name="TextBox 37"/>
          <p:cNvSpPr txBox="1"/>
          <p:nvPr/>
        </p:nvSpPr>
        <p:spPr>
          <a:xfrm>
            <a:off x="6809079" y="5084064"/>
            <a:ext cx="4724247" cy="640080"/>
          </a:xfrm>
          <a:prstGeom prst="rect">
            <a:avLst/>
          </a:prstGeom>
          <a:noFill/>
        </p:spPr>
        <p:txBody>
          <a:bodyPr wrap="square" anchor="t" lIns="0" rIns="0" tIns="0" bIns="0">
            <a:spAutoFit/>
          </a:bodyPr>
          <a:lstStyle/>
          <a:p>
            <a:pPr algn="l">
              <a:lnSpc>
                <a:spcPct val="116000"/>
              </a:lnSpc>
              <a:spcAft>
                <a:spcPts val="0"/>
              </a:spcAft>
            </a:pPr>
            <a:r>
              <a:rPr sz="1050" b="0" i="0">
                <a:solidFill>
                  <a:srgbClr val="6C7A89"/>
                </a:solidFill>
                <a:latin typeface="Segoe UI"/>
              </a:rPr>
              <a:t>Write Variables.db and Alarm.db, add the screen, emit Bindings.dat, repack as a native .eote.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ARCHITECTURE</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One repo, one language, one deploy</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5</a:t>
            </a:r>
          </a:p>
        </p:txBody>
      </p:sp>
      <p:sp>
        <p:nvSpPr>
          <p:cNvPr id="7" name="Rounded Rectangle 6"/>
          <p:cNvSpPr/>
          <p:nvPr/>
        </p:nvSpPr>
        <p:spPr>
          <a:xfrm>
            <a:off x="658368" y="1591056"/>
            <a:ext cx="10874959" cy="932688"/>
          </a:xfrm>
          <a:prstGeom prst="roundRect">
            <a:avLst>
              <a:gd name="adj" fmla="val 60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591056"/>
            <a:ext cx="50800" cy="932688"/>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737360"/>
            <a:ext cx="10326319" cy="274320"/>
          </a:xfrm>
          <a:prstGeom prst="rect">
            <a:avLst/>
          </a:prstGeom>
          <a:noFill/>
        </p:spPr>
        <p:txBody>
          <a:bodyPr wrap="square" anchor="t" lIns="0" rIns="0" tIns="0" bIns="0">
            <a:spAutoFit/>
          </a:bodyPr>
          <a:lstStyle/>
          <a:p>
            <a:pPr algn="l">
              <a:lnSpc>
                <a:spcPct val="100000"/>
              </a:lnSpc>
              <a:spcAft>
                <a:spcPts val="300"/>
              </a:spcAft>
            </a:pPr>
            <a:r>
              <a:rPr sz="1350" b="0" i="0">
                <a:solidFill>
                  <a:srgbClr val="1C242E"/>
                </a:solidFill>
                <a:latin typeface="Segoe UI Semibold"/>
              </a:rPr>
              <a:t>WEB CLIENT — Next.js App Router</a:t>
            </a:r>
          </a:p>
        </p:txBody>
      </p:sp>
      <p:sp>
        <p:nvSpPr>
          <p:cNvPr id="10" name="TextBox 9"/>
          <p:cNvSpPr txBox="1"/>
          <p:nvPr/>
        </p:nvSpPr>
        <p:spPr>
          <a:xfrm>
            <a:off x="914400" y="2093976"/>
            <a:ext cx="10326319" cy="365760"/>
          </a:xfrm>
          <a:prstGeom prst="rect">
            <a:avLst/>
          </a:prstGeom>
          <a:noFill/>
        </p:spPr>
        <p:txBody>
          <a:bodyPr wrap="square" anchor="t" lIns="0" rIns="0" tIns="0" bIns="0">
            <a:spAutoFit/>
          </a:bodyPr>
          <a:lstStyle/>
          <a:p>
            <a:pPr algn="l">
              <a:lnSpc>
                <a:spcPct val="100000"/>
              </a:lnSpc>
              <a:spcAft>
                <a:spcPts val="0"/>
              </a:spcAft>
            </a:pPr>
            <a:r>
              <a:rPr sz="1150" b="0" i="0">
                <a:solidFill>
                  <a:srgbClr val="6C7A89"/>
                </a:solidFill>
                <a:latin typeface="Segoe UI"/>
              </a:rPr>
              <a:t>Intent panel   ·   Live HMI canvas (inline SVG)   ·   Binding map   ·   Validation   ·   Build timeline</a:t>
            </a:r>
          </a:p>
        </p:txBody>
      </p:sp>
      <p:sp>
        <p:nvSpPr>
          <p:cNvPr id="11" name="TextBox 10"/>
          <p:cNvSpPr txBox="1"/>
          <p:nvPr/>
        </p:nvSpPr>
        <p:spPr>
          <a:xfrm>
            <a:off x="658368" y="2560320"/>
            <a:ext cx="10874959" cy="201168"/>
          </a:xfrm>
          <a:prstGeom prst="rect">
            <a:avLst/>
          </a:prstGeom>
          <a:noFill/>
        </p:spPr>
        <p:txBody>
          <a:bodyPr wrap="square" anchor="t" lIns="0" rIns="0" tIns="0" bIns="0">
            <a:spAutoFit/>
          </a:bodyPr>
          <a:lstStyle/>
          <a:p>
            <a:pPr algn="ctr">
              <a:lnSpc>
                <a:spcPct val="100000"/>
              </a:lnSpc>
              <a:spcAft>
                <a:spcPts val="0"/>
              </a:spcAft>
            </a:pPr>
            <a:r>
              <a:rPr sz="1000" b="0" i="0">
                <a:solidFill>
                  <a:srgbClr val="3DCD58"/>
                </a:solidFill>
                <a:latin typeface="Segoe UI"/>
              </a:rPr>
              <a:t>▼   SSE — one finished object at a time</a:t>
            </a:r>
          </a:p>
        </p:txBody>
      </p:sp>
      <p:sp>
        <p:nvSpPr>
          <p:cNvPr id="12" name="Rounded Rectangle 11"/>
          <p:cNvSpPr/>
          <p:nvPr/>
        </p:nvSpPr>
        <p:spPr>
          <a:xfrm>
            <a:off x="658368" y="2761488"/>
            <a:ext cx="10874959" cy="932688"/>
          </a:xfrm>
          <a:prstGeom prst="roundRect">
            <a:avLst>
              <a:gd name="adj" fmla="val 60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58368" y="2761488"/>
            <a:ext cx="50800" cy="932688"/>
          </a:xfrm>
          <a:prstGeom prst="rect">
            <a:avLst/>
          </a:prstGeom>
          <a:solidFill>
            <a:srgbClr val="008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4400" y="2907792"/>
            <a:ext cx="10326319" cy="274320"/>
          </a:xfrm>
          <a:prstGeom prst="rect">
            <a:avLst/>
          </a:prstGeom>
          <a:noFill/>
        </p:spPr>
        <p:txBody>
          <a:bodyPr wrap="square" anchor="t" lIns="0" rIns="0" tIns="0" bIns="0">
            <a:spAutoFit/>
          </a:bodyPr>
          <a:lstStyle/>
          <a:p>
            <a:pPr algn="l">
              <a:lnSpc>
                <a:spcPct val="100000"/>
              </a:lnSpc>
              <a:spcAft>
                <a:spcPts val="300"/>
              </a:spcAft>
            </a:pPr>
            <a:r>
              <a:rPr sz="1350" b="0" i="0">
                <a:solidFill>
                  <a:srgbClr val="1C242E"/>
                </a:solidFill>
                <a:latin typeface="Segoe UI Semibold"/>
              </a:rPr>
              <a:t>ORCHESTRATOR — route handlers, Node runtime</a:t>
            </a:r>
          </a:p>
        </p:txBody>
      </p:sp>
      <p:sp>
        <p:nvSpPr>
          <p:cNvPr id="15" name="TextBox 14"/>
          <p:cNvSpPr txBox="1"/>
          <p:nvPr/>
        </p:nvSpPr>
        <p:spPr>
          <a:xfrm>
            <a:off x="914400" y="3264408"/>
            <a:ext cx="10326319" cy="365760"/>
          </a:xfrm>
          <a:prstGeom prst="rect">
            <a:avLst/>
          </a:prstGeom>
          <a:noFill/>
        </p:spPr>
        <p:txBody>
          <a:bodyPr wrap="square" anchor="t" lIns="0" rIns="0" tIns="0" bIns="0">
            <a:spAutoFit/>
          </a:bodyPr>
          <a:lstStyle/>
          <a:p>
            <a:pPr algn="l">
              <a:lnSpc>
                <a:spcPct val="100000"/>
              </a:lnSpc>
              <a:spcAft>
                <a:spcPts val="0"/>
              </a:spcAft>
            </a:pPr>
            <a:r>
              <a:rPr sz="1150" b="0" i="0">
                <a:solidFill>
                  <a:srgbClr val="6C7A89"/>
                </a:solidFill>
                <a:latin typeface="Segoe UI"/>
              </a:rPr>
              <a:t>Tag Ingestion → Equipment Inference → Layout Planner → Part Selector → Screen Generator → Binding Resolver → Validation Engine</a:t>
            </a:r>
          </a:p>
        </p:txBody>
      </p:sp>
      <p:sp>
        <p:nvSpPr>
          <p:cNvPr id="16" name="TextBox 15"/>
          <p:cNvSpPr txBox="1"/>
          <p:nvPr/>
        </p:nvSpPr>
        <p:spPr>
          <a:xfrm>
            <a:off x="658368" y="3730752"/>
            <a:ext cx="10874959" cy="201168"/>
          </a:xfrm>
          <a:prstGeom prst="rect">
            <a:avLst/>
          </a:prstGeom>
          <a:noFill/>
        </p:spPr>
        <p:txBody>
          <a:bodyPr wrap="square" anchor="t" lIns="0" rIns="0" tIns="0" bIns="0">
            <a:spAutoFit/>
          </a:bodyPr>
          <a:lstStyle/>
          <a:p>
            <a:pPr algn="ctr">
              <a:lnSpc>
                <a:spcPct val="100000"/>
              </a:lnSpc>
              <a:spcAft>
                <a:spcPts val="0"/>
              </a:spcAft>
            </a:pPr>
            <a:r>
              <a:rPr sz="1000" b="0" i="0">
                <a:solidFill>
                  <a:srgbClr val="3DCD58"/>
                </a:solidFill>
                <a:latin typeface="Segoe UI"/>
              </a:rPr>
              <a:t>▼   schema-grounded JSON</a:t>
            </a:r>
          </a:p>
        </p:txBody>
      </p:sp>
      <p:sp>
        <p:nvSpPr>
          <p:cNvPr id="17" name="Rounded Rectangle 16"/>
          <p:cNvSpPr/>
          <p:nvPr/>
        </p:nvSpPr>
        <p:spPr>
          <a:xfrm>
            <a:off x="658368" y="3931920"/>
            <a:ext cx="10874959" cy="932688"/>
          </a:xfrm>
          <a:prstGeom prst="roundRect">
            <a:avLst>
              <a:gd name="adj" fmla="val 60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58368" y="3931920"/>
            <a:ext cx="50800" cy="932688"/>
          </a:xfrm>
          <a:prstGeom prst="rect">
            <a:avLst/>
          </a:prstGeom>
          <a:solidFill>
            <a:srgbClr val="1C24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4400" y="4078224"/>
            <a:ext cx="10326319" cy="274320"/>
          </a:xfrm>
          <a:prstGeom prst="rect">
            <a:avLst/>
          </a:prstGeom>
          <a:noFill/>
        </p:spPr>
        <p:txBody>
          <a:bodyPr wrap="square" anchor="t" lIns="0" rIns="0" tIns="0" bIns="0">
            <a:spAutoFit/>
          </a:bodyPr>
          <a:lstStyle/>
          <a:p>
            <a:pPr algn="l">
              <a:lnSpc>
                <a:spcPct val="100000"/>
              </a:lnSpc>
              <a:spcAft>
                <a:spcPts val="300"/>
              </a:spcAft>
            </a:pPr>
            <a:r>
              <a:rPr sz="1350" b="0" i="0">
                <a:solidFill>
                  <a:srgbClr val="1C242E"/>
                </a:solidFill>
                <a:latin typeface="Segoe UI Semibold"/>
              </a:rPr>
              <a:t>PACKAGER — jszip + sql.js</a:t>
            </a:r>
          </a:p>
        </p:txBody>
      </p:sp>
      <p:sp>
        <p:nvSpPr>
          <p:cNvPr id="20" name="TextBox 19"/>
          <p:cNvSpPr txBox="1"/>
          <p:nvPr/>
        </p:nvSpPr>
        <p:spPr>
          <a:xfrm>
            <a:off x="914400" y="4434840"/>
            <a:ext cx="10326319" cy="365760"/>
          </a:xfrm>
          <a:prstGeom prst="rect">
            <a:avLst/>
          </a:prstGeom>
          <a:noFill/>
        </p:spPr>
        <p:txBody>
          <a:bodyPr wrap="square" anchor="t" lIns="0" rIns="0" tIns="0" bIns="0">
            <a:spAutoFit/>
          </a:bodyPr>
          <a:lstStyle/>
          <a:p>
            <a:pPr algn="l">
              <a:lnSpc>
                <a:spcPct val="100000"/>
              </a:lnSpc>
              <a:spcAft>
                <a:spcPts val="0"/>
              </a:spcAft>
            </a:pPr>
            <a:r>
              <a:rPr sz="1150" b="0" i="0">
                <a:solidFill>
                  <a:srgbClr val="6C7A89"/>
                </a:solidFill>
                <a:latin typeface="Segoe UI"/>
              </a:rPr>
              <a:t>Screens\&lt;guid&gt;\Screen.dat   ·   Variables.db   ·   Alarm.db   ·   Bindings.dat   →   project.eote</a:t>
            </a:r>
          </a:p>
        </p:txBody>
      </p:sp>
      <p:sp>
        <p:nvSpPr>
          <p:cNvPr id="21" name="TextBox 20"/>
          <p:cNvSpPr txBox="1"/>
          <p:nvPr/>
        </p:nvSpPr>
        <p:spPr>
          <a:xfrm>
            <a:off x="658368" y="5202936"/>
            <a:ext cx="10874959" cy="548640"/>
          </a:xfrm>
          <a:prstGeom prst="rect">
            <a:avLst/>
          </a:prstGeom>
          <a:noFill/>
        </p:spPr>
        <p:txBody>
          <a:bodyPr wrap="square" anchor="t" lIns="0" rIns="0" tIns="0" bIns="0">
            <a:spAutoFit/>
          </a:bodyPr>
          <a:lstStyle/>
          <a:p>
            <a:pPr algn="l">
              <a:lnSpc>
                <a:spcPct val="120000"/>
              </a:lnSpc>
              <a:spcAft>
                <a:spcPts val="600"/>
              </a:spcAft>
            </a:pPr>
            <a:r>
              <a:rPr sz="1150" b="0" i="0">
                <a:solidFill>
                  <a:srgbClr val="6C7A89"/>
                </a:solidFill>
                <a:latin typeface="Segoe UI"/>
              </a:rPr>
              <a:t>The packager runs on the Node runtime, not Edge — sql.js is WebAssembly, so there is no native module and it deploys anywhere. Most databases (Recipe, Security, Language) are copied verbatim from the shipped Blank.eote skeleton; only Variables.db and Alarm.db are written.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THE INTERFACE IS THE PRODUCT</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A chatbot is the wrong interface</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6</a:t>
            </a:r>
          </a:p>
        </p:txBody>
      </p:sp>
      <p:sp>
        <p:nvSpPr>
          <p:cNvPr id="7" name="TextBox 6"/>
          <p:cNvSpPr txBox="1"/>
          <p:nvPr/>
        </p:nvSpPr>
        <p:spPr>
          <a:xfrm>
            <a:off x="658368" y="1591056"/>
            <a:ext cx="10874959" cy="457200"/>
          </a:xfrm>
          <a:prstGeom prst="rect">
            <a:avLst/>
          </a:prstGeom>
          <a:noFill/>
        </p:spPr>
        <p:txBody>
          <a:bodyPr wrap="square" anchor="t" lIns="0" rIns="0" tIns="0" bIns="0">
            <a:spAutoFit/>
          </a:bodyPr>
          <a:lstStyle/>
          <a:p>
            <a:pPr algn="l">
              <a:lnSpc>
                <a:spcPct val="125000"/>
              </a:lnSpc>
              <a:spcAft>
                <a:spcPts val="600"/>
              </a:spcAft>
            </a:pPr>
            <a:r>
              <a:rPr sz="1400" b="0" i="0">
                <a:solidFill>
                  <a:srgbClr val="1C242E"/>
                </a:solidFill>
                <a:latin typeface="Segoe UI"/>
              </a:rPr>
              <a:t>Engineering trust is visual. An engineer will not accept a screen they did not see being built, and cannot sign off a binding they cannot inspect.</a:t>
            </a:r>
          </a:p>
        </p:txBody>
      </p:sp>
      <p:sp>
        <p:nvSpPr>
          <p:cNvPr id="8" name="Rounded Rectangle 7"/>
          <p:cNvSpPr/>
          <p:nvPr/>
        </p:nvSpPr>
        <p:spPr>
          <a:xfrm>
            <a:off x="658368" y="2157984"/>
            <a:ext cx="3442106" cy="137160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2157984"/>
            <a:ext cx="44450" cy="137160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2340864"/>
            <a:ext cx="3003194" cy="274320"/>
          </a:xfrm>
          <a:prstGeom prst="rect">
            <a:avLst/>
          </a:prstGeom>
          <a:noFill/>
        </p:spPr>
        <p:txBody>
          <a:bodyPr wrap="square" anchor="t" lIns="0" rIns="0" tIns="0" bIns="0">
            <a:spAutoFit/>
          </a:bodyPr>
          <a:lstStyle/>
          <a:p>
            <a:pPr algn="l">
              <a:lnSpc>
                <a:spcPct val="100000"/>
              </a:lnSpc>
              <a:spcAft>
                <a:spcPts val="400"/>
              </a:spcAft>
            </a:pPr>
            <a:r>
              <a:rPr sz="1250" b="0" i="0">
                <a:solidFill>
                  <a:srgbClr val="1C242E"/>
                </a:solidFill>
                <a:latin typeface="Segoe UI Semibold"/>
              </a:rPr>
              <a:t>Streaming render</a:t>
            </a:r>
          </a:p>
        </p:txBody>
      </p:sp>
      <p:sp>
        <p:nvSpPr>
          <p:cNvPr id="11" name="TextBox 10"/>
          <p:cNvSpPr txBox="1"/>
          <p:nvPr/>
        </p:nvSpPr>
        <p:spPr>
          <a:xfrm>
            <a:off x="877824" y="2724912"/>
            <a:ext cx="3003194" cy="640080"/>
          </a:xfrm>
          <a:prstGeom prst="rect">
            <a:avLst/>
          </a:prstGeom>
          <a:noFill/>
        </p:spPr>
        <p:txBody>
          <a:bodyPr wrap="square" anchor="t" lIns="0" rIns="0" tIns="0" bIns="0">
            <a:spAutoFit/>
          </a:bodyPr>
          <a:lstStyle/>
          <a:p>
            <a:pPr algn="l">
              <a:lnSpc>
                <a:spcPct val="118000"/>
              </a:lnSpc>
              <a:spcAft>
                <a:spcPts val="300"/>
              </a:spcAft>
            </a:pPr>
            <a:r>
              <a:rPr sz="1050" b="0" i="0">
                <a:solidFill>
                  <a:srgbClr val="6C7A89"/>
                </a:solidFill>
                <a:latin typeface="Segoe UI"/>
              </a:rPr>
              <a:t>Objects appear as their JSON completes. Never a spinner followed by a finished screen — the engineer watches the HMI assemble itself.</a:t>
            </a:r>
          </a:p>
        </p:txBody>
      </p:sp>
      <p:sp>
        <p:nvSpPr>
          <p:cNvPr id="12" name="Rounded Rectangle 11"/>
          <p:cNvSpPr/>
          <p:nvPr/>
        </p:nvSpPr>
        <p:spPr>
          <a:xfrm>
            <a:off x="4374794" y="2157984"/>
            <a:ext cx="3442106" cy="137160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74794" y="2157984"/>
            <a:ext cx="44450" cy="137160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94250" y="2340864"/>
            <a:ext cx="3003194" cy="274320"/>
          </a:xfrm>
          <a:prstGeom prst="rect">
            <a:avLst/>
          </a:prstGeom>
          <a:noFill/>
        </p:spPr>
        <p:txBody>
          <a:bodyPr wrap="square" anchor="t" lIns="0" rIns="0" tIns="0" bIns="0">
            <a:spAutoFit/>
          </a:bodyPr>
          <a:lstStyle/>
          <a:p>
            <a:pPr algn="l">
              <a:lnSpc>
                <a:spcPct val="100000"/>
              </a:lnSpc>
              <a:spcAft>
                <a:spcPts val="400"/>
              </a:spcAft>
            </a:pPr>
            <a:r>
              <a:rPr sz="1250" b="0" i="0">
                <a:solidFill>
                  <a:srgbClr val="1C242E"/>
                </a:solidFill>
                <a:latin typeface="Segoe UI Semibold"/>
              </a:rPr>
              <a:t>Timeline in engineering language</a:t>
            </a:r>
          </a:p>
        </p:txBody>
      </p:sp>
      <p:sp>
        <p:nvSpPr>
          <p:cNvPr id="15" name="TextBox 14"/>
          <p:cNvSpPr txBox="1"/>
          <p:nvPr/>
        </p:nvSpPr>
        <p:spPr>
          <a:xfrm>
            <a:off x="4594250" y="2724912"/>
            <a:ext cx="3003194" cy="640080"/>
          </a:xfrm>
          <a:prstGeom prst="rect">
            <a:avLst/>
          </a:prstGeom>
          <a:noFill/>
        </p:spPr>
        <p:txBody>
          <a:bodyPr wrap="square" anchor="t" lIns="0" rIns="0" tIns="0" bIns="0">
            <a:spAutoFit/>
          </a:bodyPr>
          <a:lstStyle/>
          <a:p>
            <a:pPr algn="l">
              <a:lnSpc>
                <a:spcPct val="118000"/>
              </a:lnSpc>
              <a:spcAft>
                <a:spcPts val="300"/>
              </a:spcAft>
            </a:pPr>
            <a:r>
              <a:rPr sz="1050" b="0" i="0">
                <a:solidFill>
                  <a:srgbClr val="6C7A89"/>
                </a:solidFill>
                <a:latin typeface="Segoe UI"/>
              </a:rPr>
              <a:t>Not “Thinking…” but “Parsed 247 tags → detected 2 pumps → bound FT_101_PV → NumericDisplay.CurrentValue”. Every step clickable.</a:t>
            </a:r>
          </a:p>
        </p:txBody>
      </p:sp>
      <p:sp>
        <p:nvSpPr>
          <p:cNvPr id="16" name="Rounded Rectangle 15"/>
          <p:cNvSpPr/>
          <p:nvPr/>
        </p:nvSpPr>
        <p:spPr>
          <a:xfrm>
            <a:off x="8091220" y="2157984"/>
            <a:ext cx="3442106" cy="137160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091220" y="2157984"/>
            <a:ext cx="44450" cy="137160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310676" y="2340864"/>
            <a:ext cx="3003194" cy="274320"/>
          </a:xfrm>
          <a:prstGeom prst="rect">
            <a:avLst/>
          </a:prstGeom>
          <a:noFill/>
        </p:spPr>
        <p:txBody>
          <a:bodyPr wrap="square" anchor="t" lIns="0" rIns="0" tIns="0" bIns="0">
            <a:spAutoFit/>
          </a:bodyPr>
          <a:lstStyle/>
          <a:p>
            <a:pPr algn="l">
              <a:lnSpc>
                <a:spcPct val="100000"/>
              </a:lnSpc>
              <a:spcAft>
                <a:spcPts val="400"/>
              </a:spcAft>
            </a:pPr>
            <a:r>
              <a:rPr sz="1250" b="0" i="0">
                <a:solidFill>
                  <a:srgbClr val="1C242E"/>
                </a:solidFill>
                <a:latin typeface="Segoe UI Semibold"/>
              </a:rPr>
              <a:t>The binding map</a:t>
            </a:r>
          </a:p>
        </p:txBody>
      </p:sp>
      <p:sp>
        <p:nvSpPr>
          <p:cNvPr id="19" name="TextBox 18"/>
          <p:cNvSpPr txBox="1"/>
          <p:nvPr/>
        </p:nvSpPr>
        <p:spPr>
          <a:xfrm>
            <a:off x="8310676" y="2724912"/>
            <a:ext cx="3003194" cy="640080"/>
          </a:xfrm>
          <a:prstGeom prst="rect">
            <a:avLst/>
          </a:prstGeom>
          <a:noFill/>
        </p:spPr>
        <p:txBody>
          <a:bodyPr wrap="square" anchor="t" lIns="0" rIns="0" tIns="0" bIns="0">
            <a:spAutoFit/>
          </a:bodyPr>
          <a:lstStyle/>
          <a:p>
            <a:pPr algn="l">
              <a:lnSpc>
                <a:spcPct val="118000"/>
              </a:lnSpc>
              <a:spcAft>
                <a:spcPts val="300"/>
              </a:spcAft>
            </a:pPr>
            <a:r>
              <a:rPr sz="1050" b="0" i="0">
                <a:solidFill>
                  <a:srgbClr val="6C7A89"/>
                </a:solidFill>
                <a:latin typeface="Segoe UI"/>
              </a:rPr>
              <a:t>Tags left, object properties right, connectors between. Unbound tags amber, type mismatches red. Today this is invisible until commissioning.</a:t>
            </a:r>
          </a:p>
        </p:txBody>
      </p:sp>
      <p:sp>
        <p:nvSpPr>
          <p:cNvPr id="20" name="Rounded Rectangle 19"/>
          <p:cNvSpPr/>
          <p:nvPr/>
        </p:nvSpPr>
        <p:spPr>
          <a:xfrm>
            <a:off x="658368" y="3730752"/>
            <a:ext cx="3442106" cy="137160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8368" y="3730752"/>
            <a:ext cx="44450" cy="137160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77824" y="3913632"/>
            <a:ext cx="3003194" cy="274320"/>
          </a:xfrm>
          <a:prstGeom prst="rect">
            <a:avLst/>
          </a:prstGeom>
          <a:noFill/>
        </p:spPr>
        <p:txBody>
          <a:bodyPr wrap="square" anchor="t" lIns="0" rIns="0" tIns="0" bIns="0">
            <a:spAutoFit/>
          </a:bodyPr>
          <a:lstStyle/>
          <a:p>
            <a:pPr algn="l">
              <a:lnSpc>
                <a:spcPct val="100000"/>
              </a:lnSpc>
              <a:spcAft>
                <a:spcPts val="400"/>
              </a:spcAft>
            </a:pPr>
            <a:r>
              <a:rPr sz="1250" b="0" i="0">
                <a:solidFill>
                  <a:srgbClr val="1C242E"/>
                </a:solidFill>
                <a:latin typeface="Segoe UI Semibold"/>
              </a:rPr>
              <a:t>Live simulation</a:t>
            </a:r>
          </a:p>
        </p:txBody>
      </p:sp>
      <p:sp>
        <p:nvSpPr>
          <p:cNvPr id="23" name="TextBox 22"/>
          <p:cNvSpPr txBox="1"/>
          <p:nvPr/>
        </p:nvSpPr>
        <p:spPr>
          <a:xfrm>
            <a:off x="877824" y="4297680"/>
            <a:ext cx="3003194" cy="640080"/>
          </a:xfrm>
          <a:prstGeom prst="rect">
            <a:avLst/>
          </a:prstGeom>
          <a:noFill/>
        </p:spPr>
        <p:txBody>
          <a:bodyPr wrap="square" anchor="t" lIns="0" rIns="0" tIns="0" bIns="0">
            <a:spAutoFit/>
          </a:bodyPr>
          <a:lstStyle/>
          <a:p>
            <a:pPr algn="l">
              <a:lnSpc>
                <a:spcPct val="118000"/>
              </a:lnSpc>
              <a:spcAft>
                <a:spcPts val="300"/>
              </a:spcAft>
            </a:pPr>
            <a:r>
              <a:rPr sz="1050" b="0" i="0">
                <a:solidFill>
                  <a:srgbClr val="6C7A89"/>
                </a:solidFill>
                <a:latin typeface="Segoe UI"/>
              </a:rPr>
              <a:t>Flip to Live and simulated values drive the canvas: lamps change state, numbers move, alarms fire — before any hardware exists.</a:t>
            </a:r>
          </a:p>
        </p:txBody>
      </p:sp>
      <p:sp>
        <p:nvSpPr>
          <p:cNvPr id="24" name="Rounded Rectangle 23"/>
          <p:cNvSpPr/>
          <p:nvPr/>
        </p:nvSpPr>
        <p:spPr>
          <a:xfrm>
            <a:off x="4374794" y="3730752"/>
            <a:ext cx="3442106" cy="137160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374794" y="3730752"/>
            <a:ext cx="44450" cy="137160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94250" y="3913632"/>
            <a:ext cx="3003194" cy="274320"/>
          </a:xfrm>
          <a:prstGeom prst="rect">
            <a:avLst/>
          </a:prstGeom>
          <a:noFill/>
        </p:spPr>
        <p:txBody>
          <a:bodyPr wrap="square" anchor="t" lIns="0" rIns="0" tIns="0" bIns="0">
            <a:spAutoFit/>
          </a:bodyPr>
          <a:lstStyle/>
          <a:p>
            <a:pPr algn="l">
              <a:lnSpc>
                <a:spcPct val="100000"/>
              </a:lnSpc>
              <a:spcAft>
                <a:spcPts val="400"/>
              </a:spcAft>
            </a:pPr>
            <a:r>
              <a:rPr sz="1250" b="0" i="0">
                <a:solidFill>
                  <a:srgbClr val="1C242E"/>
                </a:solidFill>
                <a:latin typeface="Segoe UI Semibold"/>
              </a:rPr>
              <a:t>Explain this object</a:t>
            </a:r>
          </a:p>
        </p:txBody>
      </p:sp>
      <p:sp>
        <p:nvSpPr>
          <p:cNvPr id="27" name="TextBox 26"/>
          <p:cNvSpPr txBox="1"/>
          <p:nvPr/>
        </p:nvSpPr>
        <p:spPr>
          <a:xfrm>
            <a:off x="4594250" y="4297680"/>
            <a:ext cx="3003194" cy="640080"/>
          </a:xfrm>
          <a:prstGeom prst="rect">
            <a:avLst/>
          </a:prstGeom>
          <a:noFill/>
        </p:spPr>
        <p:txBody>
          <a:bodyPr wrap="square" anchor="t" lIns="0" rIns="0" tIns="0" bIns="0">
            <a:spAutoFit/>
          </a:bodyPr>
          <a:lstStyle/>
          <a:p>
            <a:pPr algn="l">
              <a:lnSpc>
                <a:spcPct val="118000"/>
              </a:lnSpc>
              <a:spcAft>
                <a:spcPts val="300"/>
              </a:spcAft>
            </a:pPr>
            <a:r>
              <a:rPr sz="1050" b="0" i="0">
                <a:solidFill>
                  <a:srgbClr val="6C7A89"/>
                </a:solidFill>
                <a:latin typeface="Segoe UI"/>
              </a:rPr>
              <a:t>Hover any element for why it exists: which tags produced it, which part type was chosen, which standard set its colour.</a:t>
            </a:r>
          </a:p>
        </p:txBody>
      </p:sp>
      <p:sp>
        <p:nvSpPr>
          <p:cNvPr id="28" name="Rounded Rectangle 27"/>
          <p:cNvSpPr/>
          <p:nvPr/>
        </p:nvSpPr>
        <p:spPr>
          <a:xfrm>
            <a:off x="8091220" y="3730752"/>
            <a:ext cx="3442106" cy="137160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8091220" y="3730752"/>
            <a:ext cx="44450" cy="137160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310676" y="3913632"/>
            <a:ext cx="3003194" cy="274320"/>
          </a:xfrm>
          <a:prstGeom prst="rect">
            <a:avLst/>
          </a:prstGeom>
          <a:noFill/>
        </p:spPr>
        <p:txBody>
          <a:bodyPr wrap="square" anchor="t" lIns="0" rIns="0" tIns="0" bIns="0">
            <a:spAutoFit/>
          </a:bodyPr>
          <a:lstStyle/>
          <a:p>
            <a:pPr algn="l">
              <a:lnSpc>
                <a:spcPct val="100000"/>
              </a:lnSpc>
              <a:spcAft>
                <a:spcPts val="400"/>
              </a:spcAft>
            </a:pPr>
            <a:r>
              <a:rPr sz="1250" b="0" i="0">
                <a:solidFill>
                  <a:srgbClr val="1C242E"/>
                </a:solidFill>
                <a:latin typeface="Segoe UI Semibold"/>
              </a:rPr>
              <a:t>Diff on change</a:t>
            </a:r>
          </a:p>
        </p:txBody>
      </p:sp>
      <p:sp>
        <p:nvSpPr>
          <p:cNvPr id="31" name="TextBox 30"/>
          <p:cNvSpPr txBox="1"/>
          <p:nvPr/>
        </p:nvSpPr>
        <p:spPr>
          <a:xfrm>
            <a:off x="8310676" y="4297680"/>
            <a:ext cx="3003194" cy="640080"/>
          </a:xfrm>
          <a:prstGeom prst="rect">
            <a:avLst/>
          </a:prstGeom>
          <a:noFill/>
        </p:spPr>
        <p:txBody>
          <a:bodyPr wrap="square" anchor="t" lIns="0" rIns="0" tIns="0" bIns="0">
            <a:spAutoFit/>
          </a:bodyPr>
          <a:lstStyle/>
          <a:p>
            <a:pPr algn="l">
              <a:lnSpc>
                <a:spcPct val="118000"/>
              </a:lnSpc>
              <a:spcAft>
                <a:spcPts val="300"/>
              </a:spcAft>
            </a:pPr>
            <a:r>
              <a:rPr sz="1050" b="0" i="0">
                <a:solidFill>
                  <a:srgbClr val="6C7A89"/>
                </a:solidFill>
                <a:latin typeface="Segoe UI"/>
              </a:rPr>
              <a:t>Ask for a change and the JSON diff appears beside an animated canvas transition. Nothing changes silently.</a:t>
            </a:r>
          </a:p>
        </p:txBody>
      </p:sp>
      <p:sp>
        <p:nvSpPr>
          <p:cNvPr id="32" name="TextBox 31"/>
          <p:cNvSpPr txBox="1"/>
          <p:nvPr/>
        </p:nvSpPr>
        <p:spPr>
          <a:xfrm>
            <a:off x="658368" y="5468112"/>
            <a:ext cx="10874959"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008A3E"/>
                </a:solidFill>
                <a:latin typeface="Segoe UI Semibold"/>
              </a:rPr>
              <a:t>The preview renders the same Screen.dat that gets packaged. One model, two renderers — so the preview cannot lie about the output.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GROUNDED GENERATION</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Why it cannot invent a screen that will not open</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7</a:t>
            </a:r>
          </a:p>
        </p:txBody>
      </p:sp>
      <p:sp>
        <p:nvSpPr>
          <p:cNvPr id="7" name="Rounded Rectangle 6"/>
          <p:cNvSpPr/>
          <p:nvPr/>
        </p:nvSpPr>
        <p:spPr>
          <a:xfrm>
            <a:off x="658368" y="1591056"/>
            <a:ext cx="3442106" cy="228600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591056"/>
            <a:ext cx="44450" cy="228600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77824" y="1773936"/>
            <a:ext cx="3003194" cy="274320"/>
          </a:xfrm>
          <a:prstGeom prst="rect">
            <a:avLst/>
          </a:prstGeom>
          <a:noFill/>
        </p:spPr>
        <p:txBody>
          <a:bodyPr wrap="square" anchor="t" lIns="0" rIns="0" tIns="0" bIns="0">
            <a:spAutoFit/>
          </a:bodyPr>
          <a:lstStyle/>
          <a:p>
            <a:pPr algn="l">
              <a:lnSpc>
                <a:spcPct val="100000"/>
              </a:lnSpc>
              <a:spcAft>
                <a:spcPts val="400"/>
              </a:spcAft>
            </a:pPr>
            <a:r>
              <a:rPr sz="1400" b="0" i="0">
                <a:solidFill>
                  <a:srgbClr val="1C242E"/>
                </a:solidFill>
                <a:latin typeface="Segoe UI Semibold"/>
              </a:rPr>
              <a:t>Machine-readable schemas</a:t>
            </a:r>
          </a:p>
        </p:txBody>
      </p:sp>
      <p:sp>
        <p:nvSpPr>
          <p:cNvPr id="10" name="TextBox 9"/>
          <p:cNvSpPr txBox="1"/>
          <p:nvPr/>
        </p:nvSpPr>
        <p:spPr>
          <a:xfrm>
            <a:off x="877824" y="2157984"/>
            <a:ext cx="3003194" cy="1554480"/>
          </a:xfrm>
          <a:prstGeom prst="rect">
            <a:avLst/>
          </a:prstGeom>
          <a:noFill/>
        </p:spPr>
        <p:txBody>
          <a:bodyPr wrap="square" anchor="t" lIns="0" rIns="0" tIns="0" bIns="0">
            <a:spAutoFit/>
          </a:bodyPr>
          <a:lstStyle/>
          <a:p>
            <a:pPr algn="l">
              <a:lnSpc>
                <a:spcPct val="118000"/>
              </a:lnSpc>
              <a:spcAft>
                <a:spcPts val="300"/>
              </a:spcAft>
            </a:pPr>
            <a:r>
              <a:rPr sz="1150" b="0" i="0">
                <a:solidFill>
                  <a:srgbClr val="6C7A89"/>
                </a:solidFill>
                <a:latin typeface="Segoe UI"/>
              </a:rPr>
              <a:t>Buildtime/PropertyDefinitions/ defines every property of Screen, Variable, 25 parts and 13 layout objects. Generation is constrained by the .propDef, so an invented property is structurally impossible.</a:t>
            </a:r>
          </a:p>
        </p:txBody>
      </p:sp>
      <p:sp>
        <p:nvSpPr>
          <p:cNvPr id="11" name="Rounded Rectangle 10"/>
          <p:cNvSpPr/>
          <p:nvPr/>
        </p:nvSpPr>
        <p:spPr>
          <a:xfrm>
            <a:off x="4374794" y="1591056"/>
            <a:ext cx="3442106" cy="228600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374794" y="1591056"/>
            <a:ext cx="44450" cy="228600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94250" y="1773936"/>
            <a:ext cx="3003194" cy="274320"/>
          </a:xfrm>
          <a:prstGeom prst="rect">
            <a:avLst/>
          </a:prstGeom>
          <a:noFill/>
        </p:spPr>
        <p:txBody>
          <a:bodyPr wrap="square" anchor="t" lIns="0" rIns="0" tIns="0" bIns="0">
            <a:spAutoFit/>
          </a:bodyPr>
          <a:lstStyle/>
          <a:p>
            <a:pPr algn="l">
              <a:lnSpc>
                <a:spcPct val="100000"/>
              </a:lnSpc>
              <a:spcAft>
                <a:spcPts val="400"/>
              </a:spcAft>
            </a:pPr>
            <a:r>
              <a:rPr sz="1400" b="0" i="0">
                <a:solidFill>
                  <a:srgbClr val="1C242E"/>
                </a:solidFill>
                <a:latin typeface="Segoe UI Semibold"/>
              </a:rPr>
              <a:t>Real shapes, not guesses</a:t>
            </a:r>
          </a:p>
        </p:txBody>
      </p:sp>
      <p:sp>
        <p:nvSpPr>
          <p:cNvPr id="14" name="TextBox 13"/>
          <p:cNvSpPr txBox="1"/>
          <p:nvPr/>
        </p:nvSpPr>
        <p:spPr>
          <a:xfrm>
            <a:off x="4594250" y="2157984"/>
            <a:ext cx="3003194" cy="1554480"/>
          </a:xfrm>
          <a:prstGeom prst="rect">
            <a:avLst/>
          </a:prstGeom>
          <a:noFill/>
        </p:spPr>
        <p:txBody>
          <a:bodyPr wrap="square" anchor="t" lIns="0" rIns="0" tIns="0" bIns="0">
            <a:spAutoFit/>
          </a:bodyPr>
          <a:lstStyle/>
          <a:p>
            <a:pPr algn="l">
              <a:lnSpc>
                <a:spcPct val="118000"/>
              </a:lnSpc>
              <a:spcAft>
                <a:spcPts val="300"/>
              </a:spcAft>
            </a:pPr>
            <a:r>
              <a:rPr sz="1150" b="0" i="0">
                <a:solidFill>
                  <a:srgbClr val="6C7A89"/>
                </a:solidFill>
                <a:latin typeface="Segoe UI"/>
              </a:rPr>
              <a:t>Every part shape and binding property name we emit was extracted from the sample projects the product ships. reference/part_examples.json records one real example of each of the 50 part types those projects use.</a:t>
            </a:r>
          </a:p>
        </p:txBody>
      </p:sp>
      <p:sp>
        <p:nvSpPr>
          <p:cNvPr id="15" name="Rounded Rectangle 14"/>
          <p:cNvSpPr/>
          <p:nvPr/>
        </p:nvSpPr>
        <p:spPr>
          <a:xfrm>
            <a:off x="8091220" y="1591056"/>
            <a:ext cx="3442106" cy="2286000"/>
          </a:xfrm>
          <a:prstGeom prst="roundRect">
            <a:avLst>
              <a:gd name="adj" fmla="val 55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91220" y="1591056"/>
            <a:ext cx="44450" cy="228600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310676" y="1773936"/>
            <a:ext cx="3003194" cy="274320"/>
          </a:xfrm>
          <a:prstGeom prst="rect">
            <a:avLst/>
          </a:prstGeom>
          <a:noFill/>
        </p:spPr>
        <p:txBody>
          <a:bodyPr wrap="square" anchor="t" lIns="0" rIns="0" tIns="0" bIns="0">
            <a:spAutoFit/>
          </a:bodyPr>
          <a:lstStyle/>
          <a:p>
            <a:pPr algn="l">
              <a:lnSpc>
                <a:spcPct val="100000"/>
              </a:lnSpc>
              <a:spcAft>
                <a:spcPts val="400"/>
              </a:spcAft>
            </a:pPr>
            <a:r>
              <a:rPr sz="1400" b="0" i="0">
                <a:solidFill>
                  <a:srgbClr val="1C242E"/>
                </a:solidFill>
                <a:latin typeface="Segoe UI Semibold"/>
              </a:rPr>
              <a:t>The product's own palette</a:t>
            </a:r>
          </a:p>
        </p:txBody>
      </p:sp>
      <p:sp>
        <p:nvSpPr>
          <p:cNvPr id="18" name="TextBox 17"/>
          <p:cNvSpPr txBox="1"/>
          <p:nvPr/>
        </p:nvSpPr>
        <p:spPr>
          <a:xfrm>
            <a:off x="8310676" y="2157984"/>
            <a:ext cx="3003194" cy="1554480"/>
          </a:xfrm>
          <a:prstGeom prst="rect">
            <a:avLst/>
          </a:prstGeom>
          <a:noFill/>
        </p:spPr>
        <p:txBody>
          <a:bodyPr wrap="square" anchor="t" lIns="0" rIns="0" tIns="0" bIns="0">
            <a:spAutoFit/>
          </a:bodyPr>
          <a:lstStyle/>
          <a:p>
            <a:pPr algn="l">
              <a:lnSpc>
                <a:spcPct val="118000"/>
              </a:lnSpc>
              <a:spcAft>
                <a:spcPts val="300"/>
              </a:spcAft>
            </a:pPr>
            <a:r>
              <a:rPr sz="1150" b="0" i="0">
                <a:solidFill>
                  <a:srgbClr val="6C7A89"/>
                </a:solidFill>
                <a:latin typeface="Segoe UI"/>
              </a:rPr>
              <a:t>Screen colours are palette indices, not RGB. We resolve them from the product's own CommonScripts/Colors/Colors.lua — ColorSet 4, “Green-Simple” — so generated screens match the house style by construction.</a:t>
            </a:r>
          </a:p>
        </p:txBody>
      </p:sp>
      <p:sp>
        <p:nvSpPr>
          <p:cNvPr id="19" name="Rounded Rectangle 18"/>
          <p:cNvSpPr/>
          <p:nvPr/>
        </p:nvSpPr>
        <p:spPr>
          <a:xfrm>
            <a:off x="658368" y="4197096"/>
            <a:ext cx="10874959" cy="1325880"/>
          </a:xfrm>
          <a:prstGeom prst="roundRect">
            <a:avLst>
              <a:gd name="adj" fmla="val 5000"/>
            </a:avLst>
          </a:prstGeom>
          <a:solidFill>
            <a:srgbClr val="F7F9FA"/>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32688" y="4352544"/>
            <a:ext cx="10326319" cy="1051560"/>
          </a:xfrm>
          <a:prstGeom prst="rect">
            <a:avLst/>
          </a:prstGeom>
          <a:noFill/>
        </p:spPr>
        <p:txBody>
          <a:bodyPr wrap="square" anchor="t" lIns="0" rIns="0" tIns="0" bIns="0">
            <a:spAutoFit/>
          </a:bodyPr>
          <a:lstStyle/>
          <a:p>
            <a:pPr algn="l">
              <a:lnSpc>
                <a:spcPct val="100000"/>
              </a:lnSpc>
              <a:spcAft>
                <a:spcPts val="800"/>
              </a:spcAft>
            </a:pPr>
            <a:r>
              <a:rPr sz="1150" b="0" i="0">
                <a:solidFill>
                  <a:srgbClr val="6C7A89"/>
                </a:solidFill>
                <a:latin typeface="Segoe UI"/>
              </a:rPr>
              <a:t>A binding is declarative — this is the whole of “complex tag integration”:</a:t>
            </a:r>
          </a:p>
          <a:p>
            <a:pPr algn="l">
              <a:lnSpc>
                <a:spcPct val="100000"/>
              </a:lnSpc>
              <a:spcAft>
                <a:spcPts val="800"/>
              </a:spcAft>
            </a:pPr>
            <a:r>
              <a:rPr sz="1300" b="0" i="0">
                <a:solidFill>
                  <a:srgbClr val="008A3E"/>
                </a:solidFill>
                <a:latin typeface="Consolas"/>
              </a:rPr>
              <a:t>{ "BindingText": "FT_101_PV.Value", "TargetProperty": "CurrentValue", "Target": 4 }</a:t>
            </a:r>
          </a:p>
          <a:p>
            <a:pPr algn="l">
              <a:lnSpc>
                <a:spcPct val="100000"/>
              </a:lnSpc>
              <a:spcAft>
                <a:spcPts val="0"/>
              </a:spcAft>
            </a:pPr>
            <a:r>
              <a:rPr sz="1150" b="0" i="0">
                <a:solidFill>
                  <a:srgbClr val="6C7A89"/>
                </a:solidFill>
                <a:latin typeface="Segoe UI"/>
              </a:rPr>
              <a:t>The engineer does this by hand, several hundred times, per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VALIDATION</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Errors caught at the desk, not on site</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8</a:t>
            </a:r>
          </a:p>
        </p:txBody>
      </p:sp>
      <p:graphicFrame>
        <p:nvGraphicFramePr>
          <p:cNvPr id="7" name="Table 6"/>
          <p:cNvGraphicFramePr>
            <a:graphicFrameLocks noGrp="1"/>
          </p:cNvGraphicFramePr>
          <p:nvPr/>
        </p:nvGraphicFramePr>
        <p:xfrm>
          <a:off x="658368" y="1591056"/>
          <a:ext cx="10874957" cy="2615184"/>
        </p:xfrm>
        <a:graphic>
          <a:graphicData uri="http://schemas.openxmlformats.org/drawingml/2006/table">
            <a:tbl>
              <a:tblPr firstRow="1" bandRow="1">
                <a:tableStyleId>{5C22544A-7EE6-4342-B048-85BDC9FD1C3A}</a:tableStyleId>
              </a:tblPr>
              <a:tblGrid>
                <a:gridCol w="2392490"/>
                <a:gridCol w="5654978"/>
                <a:gridCol w="2827489"/>
              </a:tblGrid>
              <a:tr h="347472">
                <a:tc>
                  <a:txBody>
                    <a:bodyPr wrap="square"/>
                    <a:lstStyle/>
                    <a:p>
                      <a:r>
                        <a:rPr sz="1100" b="1">
                          <a:solidFill>
                            <a:srgbClr val="FFFFFF"/>
                          </a:solidFill>
                          <a:latin typeface="Segoe UI Semibold"/>
                        </a:rPr>
                        <a:t>Check</a:t>
                      </a:r>
                    </a:p>
                  </a:txBody>
                  <a:tcPr marL="91440" marR="91440" marT="27432" marB="27432" anchor="ctr">
                    <a:solidFill>
                      <a:srgbClr val="008A3E"/>
                    </a:solidFill>
                  </a:tcPr>
                </a:tc>
                <a:tc>
                  <a:txBody>
                    <a:bodyPr wrap="square"/>
                    <a:lstStyle/>
                    <a:p>
                      <a:r>
                        <a:rPr sz="1100" b="1">
                          <a:solidFill>
                            <a:srgbClr val="FFFFFF"/>
                          </a:solidFill>
                          <a:latin typeface="Segoe UI Semibold"/>
                        </a:rPr>
                        <a:t>What it catches</a:t>
                      </a:r>
                    </a:p>
                  </a:txBody>
                  <a:tcPr marL="91440" marR="91440" marT="27432" marB="27432" anchor="ctr">
                    <a:solidFill>
                      <a:srgbClr val="008A3E"/>
                    </a:solidFill>
                  </a:tcPr>
                </a:tc>
                <a:tc>
                  <a:txBody>
                    <a:bodyPr wrap="square"/>
                    <a:lstStyle/>
                    <a:p>
                      <a:r>
                        <a:rPr sz="1100" b="1">
                          <a:solidFill>
                            <a:srgbClr val="FFFFFF"/>
                          </a:solidFill>
                          <a:latin typeface="Segoe UI Semibold"/>
                        </a:rPr>
                        <a:t>Today</a:t>
                      </a:r>
                    </a:p>
                  </a:txBody>
                  <a:tcPr marL="91440" marR="91440" marT="27432" marB="27432" anchor="ctr">
                    <a:solidFill>
                      <a:srgbClr val="008A3E"/>
                    </a:solidFill>
                  </a:tcPr>
                </a:tc>
              </a:tr>
              <a:tr h="566928">
                <a:tc>
                  <a:txBody>
                    <a:bodyPr wrap="square"/>
                    <a:lstStyle/>
                    <a:p>
                      <a:r>
                        <a:rPr sz="1150" b="0">
                          <a:solidFill>
                            <a:srgbClr val="1C242E"/>
                          </a:solidFill>
                          <a:latin typeface="Segoe UI"/>
                        </a:rPr>
                        <a:t>Naming conventions</a:t>
                      </a:r>
                    </a:p>
                  </a:txBody>
                  <a:tcPr marL="91440" marR="91440" marT="27432" marB="27432" anchor="ctr">
                    <a:solidFill>
                      <a:srgbClr val="FFFFFF"/>
                    </a:solidFill>
                  </a:tcPr>
                </a:tc>
                <a:tc>
                  <a:txBody>
                    <a:bodyPr wrap="square"/>
                    <a:lstStyle/>
                    <a:p>
                      <a:r>
                        <a:rPr sz="1150" b="0">
                          <a:solidFill>
                            <a:srgbClr val="1C242E"/>
                          </a:solidFill>
                          <a:latin typeface="Segoe UI"/>
                        </a:rPr>
                        <a:t>Reserved words (BOOL, ACK, class…), leading digits, spaces, illegal characters</a:t>
                      </a:r>
                    </a:p>
                  </a:txBody>
                  <a:tcPr marL="91440" marR="91440" marT="27432" marB="27432" anchor="ctr">
                    <a:solidFill>
                      <a:srgbClr val="FFFFFF"/>
                    </a:solidFill>
                  </a:tcPr>
                </a:tc>
                <a:tc>
                  <a:txBody>
                    <a:bodyPr wrap="square"/>
                    <a:lstStyle/>
                    <a:p>
                      <a:r>
                        <a:rPr sz="1150" b="0">
                          <a:solidFill>
                            <a:srgbClr val="1C242E"/>
                          </a:solidFill>
                          <a:latin typeface="Segoe UI"/>
                        </a:rPr>
                        <a:t>Silently dropped on import</a:t>
                      </a:r>
                    </a:p>
                  </a:txBody>
                  <a:tcPr marL="91440" marR="91440" marT="27432" marB="27432" anchor="ctr">
                    <a:solidFill>
                      <a:srgbClr val="FFFFFF"/>
                    </a:solidFill>
                  </a:tcPr>
                </a:tc>
              </a:tr>
              <a:tr h="566928">
                <a:tc>
                  <a:txBody>
                    <a:bodyPr wrap="square"/>
                    <a:lstStyle/>
                    <a:p>
                      <a:r>
                        <a:rPr sz="1150" b="0">
                          <a:solidFill>
                            <a:srgbClr val="1C242E"/>
                          </a:solidFill>
                          <a:latin typeface="Segoe UI"/>
                        </a:rPr>
                        <a:t>Binding integrity</a:t>
                      </a:r>
                    </a:p>
                  </a:txBody>
                  <a:tcPr marL="91440" marR="91440" marT="27432" marB="27432" anchor="ctr">
                    <a:solidFill>
                      <a:srgbClr val="F4F8F5"/>
                    </a:solidFill>
                  </a:tcPr>
                </a:tc>
                <a:tc>
                  <a:txBody>
                    <a:bodyPr wrap="square"/>
                    <a:lstStyle/>
                    <a:p>
                      <a:r>
                        <a:rPr sz="1150" b="0">
                          <a:solidFill>
                            <a:srgbClr val="1C242E"/>
                          </a:solidFill>
                          <a:latin typeface="Segoe UI"/>
                        </a:rPr>
                        <a:t>Unbound properties, tags bound to nothing, a REAL driving a BOOL lamp, bad scaling</a:t>
                      </a:r>
                    </a:p>
                  </a:txBody>
                  <a:tcPr marL="91440" marR="91440" marT="27432" marB="27432" anchor="ctr">
                    <a:solidFill>
                      <a:srgbClr val="F4F8F5"/>
                    </a:solidFill>
                  </a:tcPr>
                </a:tc>
                <a:tc>
                  <a:txBody>
                    <a:bodyPr wrap="square"/>
                    <a:lstStyle/>
                    <a:p>
                      <a:r>
                        <a:rPr sz="1150" b="0">
                          <a:solidFill>
                            <a:srgbClr val="1C242E"/>
                          </a:solidFill>
                          <a:latin typeface="Segoe UI"/>
                        </a:rPr>
                        <a:t>Found at commissioning</a:t>
                      </a:r>
                    </a:p>
                  </a:txBody>
                  <a:tcPr marL="91440" marR="91440" marT="27432" marB="27432" anchor="ctr">
                    <a:solidFill>
                      <a:srgbClr val="F4F8F5"/>
                    </a:solidFill>
                  </a:tcPr>
                </a:tc>
              </a:tr>
              <a:tr h="566928">
                <a:tc>
                  <a:txBody>
                    <a:bodyPr wrap="square"/>
                    <a:lstStyle/>
                    <a:p>
                      <a:r>
                        <a:rPr sz="1150" b="0">
                          <a:solidFill>
                            <a:srgbClr val="1C242E"/>
                          </a:solidFill>
                          <a:latin typeface="Segoe UI"/>
                        </a:rPr>
                        <a:t>Completeness</a:t>
                      </a:r>
                    </a:p>
                  </a:txBody>
                  <a:tcPr marL="91440" marR="91440" marT="27432" marB="27432" anchor="ctr">
                    <a:solidFill>
                      <a:srgbClr val="FFFFFF"/>
                    </a:solidFill>
                  </a:tcPr>
                </a:tc>
                <a:tc>
                  <a:txBody>
                    <a:bodyPr wrap="square"/>
                    <a:lstStyle/>
                    <a:p>
                      <a:r>
                        <a:rPr sz="1150" b="0">
                          <a:solidFill>
                            <a:srgbClr val="1C242E"/>
                          </a:solidFill>
                          <a:latin typeface="Segoe UI"/>
                        </a:rPr>
                        <a:t>Equipment with no fault alarm, a trend with no logging, a screen with no navigation</a:t>
                      </a:r>
                    </a:p>
                  </a:txBody>
                  <a:tcPr marL="91440" marR="91440" marT="27432" marB="27432" anchor="ctr">
                    <a:solidFill>
                      <a:srgbClr val="FFFFFF"/>
                    </a:solidFill>
                  </a:tcPr>
                </a:tc>
                <a:tc>
                  <a:txBody>
                    <a:bodyPr wrap="square"/>
                    <a:lstStyle/>
                    <a:p>
                      <a:r>
                        <a:rPr sz="1150" b="0">
                          <a:solidFill>
                            <a:srgbClr val="1C242E"/>
                          </a:solidFill>
                          <a:latin typeface="Segoe UI"/>
                        </a:rPr>
                        <a:t>Found by the customer</a:t>
                      </a:r>
                    </a:p>
                  </a:txBody>
                  <a:tcPr marL="91440" marR="91440" marT="27432" marB="27432" anchor="ctr">
                    <a:solidFill>
                      <a:srgbClr val="FFFFFF"/>
                    </a:solidFill>
                  </a:tcPr>
                </a:tc>
              </a:tr>
              <a:tr h="566928">
                <a:tc>
                  <a:txBody>
                    <a:bodyPr wrap="square"/>
                    <a:lstStyle/>
                    <a:p>
                      <a:r>
                        <a:rPr sz="1150" b="0">
                          <a:solidFill>
                            <a:srgbClr val="1C242E"/>
                          </a:solidFill>
                          <a:latin typeface="Segoe UI"/>
                        </a:rPr>
                        <a:t>Standards conformance</a:t>
                      </a:r>
                    </a:p>
                  </a:txBody>
                  <a:tcPr marL="91440" marR="91440" marT="27432" marB="27432" anchor="ctr">
                    <a:solidFill>
                      <a:srgbClr val="F4F8F5"/>
                    </a:solidFill>
                  </a:tcPr>
                </a:tc>
                <a:tc>
                  <a:txBody>
                    <a:bodyPr wrap="square"/>
                    <a:lstStyle/>
                    <a:p>
                      <a:r>
                        <a:rPr sz="1150" b="0">
                          <a:solidFill>
                            <a:srgbClr val="1C242E"/>
                          </a:solidFill>
                          <a:latin typeface="Segoe UI"/>
                        </a:rPr>
                        <a:t>Colour palette, font sizes, alarm-banner placement, resolution fit</a:t>
                      </a:r>
                    </a:p>
                  </a:txBody>
                  <a:tcPr marL="91440" marR="91440" marT="27432" marB="27432" anchor="ctr">
                    <a:solidFill>
                      <a:srgbClr val="F4F8F5"/>
                    </a:solidFill>
                  </a:tcPr>
                </a:tc>
                <a:tc>
                  <a:txBody>
                    <a:bodyPr wrap="square"/>
                    <a:lstStyle/>
                    <a:p>
                      <a:r>
                        <a:rPr sz="1150" b="0">
                          <a:solidFill>
                            <a:srgbClr val="1C242E"/>
                          </a:solidFill>
                          <a:latin typeface="Segoe UI"/>
                        </a:rPr>
                        <a:t>Varies by engineer</a:t>
                      </a:r>
                    </a:p>
                  </a:txBody>
                  <a:tcPr marL="91440" marR="91440" marT="27432" marB="27432" anchor="ctr">
                    <a:solidFill>
                      <a:srgbClr val="F4F8F5"/>
                    </a:solidFill>
                  </a:tcPr>
                </a:tc>
              </a:tr>
            </a:tbl>
          </a:graphicData>
        </a:graphic>
      </p:graphicFrame>
      <p:sp>
        <p:nvSpPr>
          <p:cNvPr id="8" name="TextBox 7"/>
          <p:cNvSpPr txBox="1"/>
          <p:nvPr/>
        </p:nvSpPr>
        <p:spPr>
          <a:xfrm>
            <a:off x="658368" y="4562856"/>
            <a:ext cx="10874959" cy="548640"/>
          </a:xfrm>
          <a:prstGeom prst="rect">
            <a:avLst/>
          </a:prstGeom>
          <a:noFill/>
        </p:spPr>
        <p:txBody>
          <a:bodyPr wrap="square" anchor="t" lIns="0" rIns="0" tIns="0" bIns="0">
            <a:spAutoFit/>
          </a:bodyPr>
          <a:lstStyle/>
          <a:p>
            <a:pPr algn="l">
              <a:lnSpc>
                <a:spcPct val="120000"/>
              </a:lnSpc>
              <a:spcAft>
                <a:spcPts val="600"/>
              </a:spcAft>
            </a:pPr>
            <a:r>
              <a:rPr sz="1300" b="0" i="0">
                <a:solidFill>
                  <a:srgbClr val="1C242E"/>
                </a:solidFill>
                <a:latin typeface="Segoe UI"/>
              </a:rPr>
              <a:t>Every finding is clickable back to the offending object, and the run produces a signed-off HTML report the customer's QA process can consume.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A1B"/>
        </a:solidFill>
        <a:effectLst/>
      </p:bgPr>
    </p:bg>
    <p:spTree>
      <p:nvGrpSpPr>
        <p:cNvPr id="1" name=""/>
        <p:cNvGrpSpPr/>
        <p:nvPr/>
      </p:nvGrpSpPr>
      <p:grpSpPr/>
      <p:sp>
        <p:nvSpPr>
          <p:cNvPr id="2" name="Rectangle 1"/>
          <p:cNvSpPr/>
          <p:nvPr/>
        </p:nvSpPr>
        <p:spPr>
          <a:xfrm>
            <a:off x="0" y="6729984"/>
            <a:ext cx="12191695" cy="128016"/>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2331720"/>
            <a:ext cx="10874959" cy="274320"/>
          </a:xfrm>
          <a:prstGeom prst="rect">
            <a:avLst/>
          </a:prstGeom>
          <a:noFill/>
        </p:spPr>
        <p:txBody>
          <a:bodyPr wrap="square" anchor="t" lIns="0" rIns="0" tIns="0" bIns="0">
            <a:spAutoFit/>
          </a:bodyPr>
          <a:lstStyle/>
          <a:p>
            <a:pPr algn="l">
              <a:lnSpc>
                <a:spcPct val="100000"/>
              </a:lnSpc>
              <a:spcAft>
                <a:spcPts val="1000"/>
              </a:spcAft>
            </a:pPr>
            <a:r>
              <a:rPr sz="1300" b="0" i="0">
                <a:solidFill>
                  <a:srgbClr val="3DCD58"/>
                </a:solidFill>
                <a:latin typeface="Segoe UI Semibold"/>
              </a:rPr>
              <a:t>LIVE DEMO</a:t>
            </a:r>
          </a:p>
        </p:txBody>
      </p:sp>
      <p:sp>
        <p:nvSpPr>
          <p:cNvPr id="4" name="TextBox 3"/>
          <p:cNvSpPr txBox="1"/>
          <p:nvPr/>
        </p:nvSpPr>
        <p:spPr>
          <a:xfrm>
            <a:off x="658368" y="2743200"/>
            <a:ext cx="10874959" cy="914400"/>
          </a:xfrm>
          <a:prstGeom prst="rect">
            <a:avLst/>
          </a:prstGeom>
          <a:noFill/>
        </p:spPr>
        <p:txBody>
          <a:bodyPr wrap="square" anchor="t" lIns="0" rIns="0" tIns="0" bIns="0">
            <a:spAutoFit/>
          </a:bodyPr>
          <a:lstStyle/>
          <a:p>
            <a:pPr algn="l">
              <a:lnSpc>
                <a:spcPct val="100000"/>
              </a:lnSpc>
              <a:spcAft>
                <a:spcPts val="1000"/>
              </a:spcAft>
            </a:pPr>
            <a:r>
              <a:rPr sz="5200" b="0" i="0">
                <a:solidFill>
                  <a:srgbClr val="FFFFFF"/>
                </a:solidFill>
                <a:latin typeface="Segoe UI Semibold"/>
              </a:rPr>
              <a:t>The project we generated</a:t>
            </a:r>
          </a:p>
        </p:txBody>
      </p:sp>
      <p:sp>
        <p:nvSpPr>
          <p:cNvPr id="5" name="TextBox 4"/>
          <p:cNvSpPr txBox="1"/>
          <p:nvPr/>
        </p:nvSpPr>
        <p:spPr>
          <a:xfrm>
            <a:off x="658368" y="3794760"/>
            <a:ext cx="8778240" cy="822960"/>
          </a:xfrm>
          <a:prstGeom prst="rect">
            <a:avLst/>
          </a:prstGeom>
          <a:noFill/>
        </p:spPr>
        <p:txBody>
          <a:bodyPr wrap="square" anchor="t" lIns="0" rIns="0" tIns="0" bIns="0">
            <a:spAutoFit/>
          </a:bodyPr>
          <a:lstStyle/>
          <a:p>
            <a:pPr algn="l">
              <a:lnSpc>
                <a:spcPct val="128000"/>
              </a:lnSpc>
              <a:spcAft>
                <a:spcPts val="0"/>
              </a:spcAft>
            </a:pPr>
            <a:r>
              <a:rPr sz="1600" b="0" i="0">
                <a:solidFill>
                  <a:srgbClr val="B6C7BC"/>
                </a:solidFill>
                <a:latin typeface="Segoe UI"/>
              </a:rPr>
              <a:t>Nothing here was drawn by hand. tools/make_project.py wrote the file; EcoStruxure Operator Terminal Expert opened it.</a:t>
            </a:r>
          </a:p>
        </p:txBody>
      </p:sp>
      <p:sp>
        <p:nvSpPr>
          <p:cNvPr id="6" name="TextBox 5"/>
          <p:cNvSpPr txBox="1"/>
          <p:nvPr/>
        </p:nvSpPr>
        <p:spPr>
          <a:xfrm>
            <a:off x="10436047" y="629107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3A5544"/>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LIVE DEMO  ·  THE ARTIFACT</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What is about to be opened</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10</a:t>
            </a:r>
          </a:p>
        </p:txBody>
      </p:sp>
      <p:sp>
        <p:nvSpPr>
          <p:cNvPr id="7" name="TextBox 6"/>
          <p:cNvSpPr txBox="1"/>
          <p:nvPr/>
        </p:nvSpPr>
        <p:spPr>
          <a:xfrm>
            <a:off x="658368" y="1591056"/>
            <a:ext cx="10874959" cy="365760"/>
          </a:xfrm>
          <a:prstGeom prst="rect">
            <a:avLst/>
          </a:prstGeom>
          <a:noFill/>
        </p:spPr>
        <p:txBody>
          <a:bodyPr wrap="square" anchor="t" lIns="0" rIns="0" tIns="0" bIns="0">
            <a:spAutoFit/>
          </a:bodyPr>
          <a:lstStyle/>
          <a:p>
            <a:pPr algn="l">
              <a:lnSpc>
                <a:spcPct val="100000"/>
              </a:lnSpc>
              <a:spcAft>
                <a:spcPts val="600"/>
              </a:spcAft>
            </a:pPr>
            <a:r>
              <a:rPr sz="1400" b="0" i="0">
                <a:solidFill>
                  <a:srgbClr val="1C242E"/>
                </a:solidFill>
                <a:latin typeface="Segoe UI Semibold"/>
              </a:rPr>
              <a:t>demo_project/HMICopilot_PumpStation.eote  —  25,053 bytes, generated in under a second.</a:t>
            </a:r>
          </a:p>
        </p:txBody>
      </p:sp>
      <p:sp>
        <p:nvSpPr>
          <p:cNvPr id="8" name="TextBox 7"/>
          <p:cNvSpPr txBox="1"/>
          <p:nvPr/>
        </p:nvSpPr>
        <p:spPr>
          <a:xfrm>
            <a:off x="658368" y="2139696"/>
            <a:ext cx="2174991" cy="548640"/>
          </a:xfrm>
          <a:prstGeom prst="rect">
            <a:avLst/>
          </a:prstGeom>
          <a:noFill/>
        </p:spPr>
        <p:txBody>
          <a:bodyPr wrap="square" anchor="t" lIns="0" rIns="0" tIns="0" bIns="0">
            <a:spAutoFit/>
          </a:bodyPr>
          <a:lstStyle/>
          <a:p>
            <a:pPr algn="ctr">
              <a:lnSpc>
                <a:spcPct val="100000"/>
              </a:lnSpc>
              <a:spcAft>
                <a:spcPts val="0"/>
              </a:spcAft>
            </a:pPr>
            <a:r>
              <a:rPr sz="3800" b="0" i="0">
                <a:solidFill>
                  <a:srgbClr val="008A3E"/>
                </a:solidFill>
                <a:latin typeface="Segoe UI Semibold"/>
              </a:rPr>
              <a:t>19</a:t>
            </a:r>
          </a:p>
        </p:txBody>
      </p:sp>
      <p:sp>
        <p:nvSpPr>
          <p:cNvPr id="9" name="TextBox 8"/>
          <p:cNvSpPr txBox="1"/>
          <p:nvPr/>
        </p:nvSpPr>
        <p:spPr>
          <a:xfrm>
            <a:off x="658368" y="2706624"/>
            <a:ext cx="2174991" cy="365760"/>
          </a:xfrm>
          <a:prstGeom prst="rect">
            <a:avLst/>
          </a:prstGeom>
          <a:noFill/>
        </p:spPr>
        <p:txBody>
          <a:bodyPr wrap="square" anchor="t" lIns="0" rIns="0" tIns="0" bIns="0">
            <a:spAutoFit/>
          </a:bodyPr>
          <a:lstStyle/>
          <a:p>
            <a:pPr algn="ctr">
              <a:lnSpc>
                <a:spcPct val="112000"/>
              </a:lnSpc>
              <a:spcAft>
                <a:spcPts val="0"/>
              </a:spcAft>
            </a:pPr>
            <a:r>
              <a:rPr sz="1150" b="0" i="0">
                <a:solidFill>
                  <a:srgbClr val="6C7A89"/>
                </a:solidFill>
                <a:latin typeface="Segoe UI"/>
              </a:rPr>
              <a:t>parts placed on the screen</a:t>
            </a:r>
          </a:p>
        </p:txBody>
      </p:sp>
      <p:sp>
        <p:nvSpPr>
          <p:cNvPr id="10" name="TextBox 9"/>
          <p:cNvSpPr txBox="1"/>
          <p:nvPr/>
        </p:nvSpPr>
        <p:spPr>
          <a:xfrm>
            <a:off x="2833359" y="2139696"/>
            <a:ext cx="2174991" cy="548640"/>
          </a:xfrm>
          <a:prstGeom prst="rect">
            <a:avLst/>
          </a:prstGeom>
          <a:noFill/>
        </p:spPr>
        <p:txBody>
          <a:bodyPr wrap="square" anchor="t" lIns="0" rIns="0" tIns="0" bIns="0">
            <a:spAutoFit/>
          </a:bodyPr>
          <a:lstStyle/>
          <a:p>
            <a:pPr algn="ctr">
              <a:lnSpc>
                <a:spcPct val="100000"/>
              </a:lnSpc>
              <a:spcAft>
                <a:spcPts val="0"/>
              </a:spcAft>
            </a:pPr>
            <a:r>
              <a:rPr sz="3800" b="0" i="0">
                <a:solidFill>
                  <a:srgbClr val="008A3E"/>
                </a:solidFill>
                <a:latin typeface="Segoe UI Semibold"/>
              </a:rPr>
              <a:t>7</a:t>
            </a:r>
          </a:p>
        </p:txBody>
      </p:sp>
      <p:sp>
        <p:nvSpPr>
          <p:cNvPr id="11" name="TextBox 10"/>
          <p:cNvSpPr txBox="1"/>
          <p:nvPr/>
        </p:nvSpPr>
        <p:spPr>
          <a:xfrm>
            <a:off x="2833359" y="2706624"/>
            <a:ext cx="2174991" cy="365760"/>
          </a:xfrm>
          <a:prstGeom prst="rect">
            <a:avLst/>
          </a:prstGeom>
          <a:noFill/>
        </p:spPr>
        <p:txBody>
          <a:bodyPr wrap="square" anchor="t" lIns="0" rIns="0" tIns="0" bIns="0">
            <a:spAutoFit/>
          </a:bodyPr>
          <a:lstStyle/>
          <a:p>
            <a:pPr algn="ctr">
              <a:lnSpc>
                <a:spcPct val="112000"/>
              </a:lnSpc>
              <a:spcAft>
                <a:spcPts val="0"/>
              </a:spcAft>
            </a:pPr>
            <a:r>
              <a:rPr sz="1150" b="0" i="0">
                <a:solidFill>
                  <a:srgbClr val="6C7A89"/>
                </a:solidFill>
                <a:latin typeface="Segoe UI"/>
              </a:rPr>
              <a:t>typed tags in Variables.db</a:t>
            </a:r>
          </a:p>
        </p:txBody>
      </p:sp>
      <p:sp>
        <p:nvSpPr>
          <p:cNvPr id="12" name="TextBox 11"/>
          <p:cNvSpPr txBox="1"/>
          <p:nvPr/>
        </p:nvSpPr>
        <p:spPr>
          <a:xfrm>
            <a:off x="5008351" y="2139696"/>
            <a:ext cx="2174991" cy="548640"/>
          </a:xfrm>
          <a:prstGeom prst="rect">
            <a:avLst/>
          </a:prstGeom>
          <a:noFill/>
        </p:spPr>
        <p:txBody>
          <a:bodyPr wrap="square" anchor="t" lIns="0" rIns="0" tIns="0" bIns="0">
            <a:spAutoFit/>
          </a:bodyPr>
          <a:lstStyle/>
          <a:p>
            <a:pPr algn="ctr">
              <a:lnSpc>
                <a:spcPct val="100000"/>
              </a:lnSpc>
              <a:spcAft>
                <a:spcPts val="0"/>
              </a:spcAft>
            </a:pPr>
            <a:r>
              <a:rPr sz="3800" b="0" i="0">
                <a:solidFill>
                  <a:srgbClr val="008A3E"/>
                </a:solidFill>
                <a:latin typeface="Segoe UI Semibold"/>
              </a:rPr>
              <a:t>5</a:t>
            </a:r>
          </a:p>
        </p:txBody>
      </p:sp>
      <p:sp>
        <p:nvSpPr>
          <p:cNvPr id="13" name="TextBox 12"/>
          <p:cNvSpPr txBox="1"/>
          <p:nvPr/>
        </p:nvSpPr>
        <p:spPr>
          <a:xfrm>
            <a:off x="5008351" y="2706624"/>
            <a:ext cx="2174991" cy="365760"/>
          </a:xfrm>
          <a:prstGeom prst="rect">
            <a:avLst/>
          </a:prstGeom>
          <a:noFill/>
        </p:spPr>
        <p:txBody>
          <a:bodyPr wrap="square" anchor="t" lIns="0" rIns="0" tIns="0" bIns="0">
            <a:spAutoFit/>
          </a:bodyPr>
          <a:lstStyle/>
          <a:p>
            <a:pPr algn="ctr">
              <a:lnSpc>
                <a:spcPct val="112000"/>
              </a:lnSpc>
              <a:spcAft>
                <a:spcPts val="0"/>
              </a:spcAft>
            </a:pPr>
            <a:r>
              <a:rPr sz="1150" b="0" i="0">
                <a:solidFill>
                  <a:srgbClr val="6C7A89"/>
                </a:solidFill>
                <a:latin typeface="Segoe UI"/>
              </a:rPr>
              <a:t>alarms in Alarm.db</a:t>
            </a:r>
          </a:p>
        </p:txBody>
      </p:sp>
      <p:sp>
        <p:nvSpPr>
          <p:cNvPr id="14" name="TextBox 13"/>
          <p:cNvSpPr txBox="1"/>
          <p:nvPr/>
        </p:nvSpPr>
        <p:spPr>
          <a:xfrm>
            <a:off x="7183343" y="2139696"/>
            <a:ext cx="2174991" cy="548640"/>
          </a:xfrm>
          <a:prstGeom prst="rect">
            <a:avLst/>
          </a:prstGeom>
          <a:noFill/>
        </p:spPr>
        <p:txBody>
          <a:bodyPr wrap="square" anchor="t" lIns="0" rIns="0" tIns="0" bIns="0">
            <a:spAutoFit/>
          </a:bodyPr>
          <a:lstStyle/>
          <a:p>
            <a:pPr algn="ctr">
              <a:lnSpc>
                <a:spcPct val="100000"/>
              </a:lnSpc>
              <a:spcAft>
                <a:spcPts val="0"/>
              </a:spcAft>
            </a:pPr>
            <a:r>
              <a:rPr sz="3800" b="0" i="0">
                <a:solidFill>
                  <a:srgbClr val="008A3E"/>
                </a:solidFill>
                <a:latin typeface="Segoe UI Semibold"/>
              </a:rPr>
              <a:t>11</a:t>
            </a:r>
          </a:p>
        </p:txBody>
      </p:sp>
      <p:sp>
        <p:nvSpPr>
          <p:cNvPr id="15" name="TextBox 14"/>
          <p:cNvSpPr txBox="1"/>
          <p:nvPr/>
        </p:nvSpPr>
        <p:spPr>
          <a:xfrm>
            <a:off x="7183343" y="2706624"/>
            <a:ext cx="2174991" cy="365760"/>
          </a:xfrm>
          <a:prstGeom prst="rect">
            <a:avLst/>
          </a:prstGeom>
          <a:noFill/>
        </p:spPr>
        <p:txBody>
          <a:bodyPr wrap="square" anchor="t" lIns="0" rIns="0" tIns="0" bIns="0">
            <a:spAutoFit/>
          </a:bodyPr>
          <a:lstStyle/>
          <a:p>
            <a:pPr algn="ctr">
              <a:lnSpc>
                <a:spcPct val="112000"/>
              </a:lnSpc>
              <a:spcAft>
                <a:spcPts val="0"/>
              </a:spcAft>
            </a:pPr>
            <a:r>
              <a:rPr sz="1150" b="0" i="0">
                <a:solidFill>
                  <a:srgbClr val="6C7A89"/>
                </a:solidFill>
                <a:latin typeface="Segoe UI"/>
              </a:rPr>
              <a:t>bindings wired</a:t>
            </a:r>
          </a:p>
        </p:txBody>
      </p:sp>
      <p:sp>
        <p:nvSpPr>
          <p:cNvPr id="16" name="TextBox 15"/>
          <p:cNvSpPr txBox="1"/>
          <p:nvPr/>
        </p:nvSpPr>
        <p:spPr>
          <a:xfrm>
            <a:off x="9358335" y="2139696"/>
            <a:ext cx="2174991" cy="548640"/>
          </a:xfrm>
          <a:prstGeom prst="rect">
            <a:avLst/>
          </a:prstGeom>
          <a:noFill/>
        </p:spPr>
        <p:txBody>
          <a:bodyPr wrap="square" anchor="t" lIns="0" rIns="0" tIns="0" bIns="0">
            <a:spAutoFit/>
          </a:bodyPr>
          <a:lstStyle/>
          <a:p>
            <a:pPr algn="ctr">
              <a:lnSpc>
                <a:spcPct val="100000"/>
              </a:lnSpc>
              <a:spcAft>
                <a:spcPts val="0"/>
              </a:spcAft>
            </a:pPr>
            <a:r>
              <a:rPr sz="3800" b="0" i="0">
                <a:solidFill>
                  <a:srgbClr val="1C242E"/>
                </a:solidFill>
                <a:latin typeface="Segoe UI Semibold"/>
              </a:rPr>
              <a:t>0</a:t>
            </a:r>
          </a:p>
        </p:txBody>
      </p:sp>
      <p:sp>
        <p:nvSpPr>
          <p:cNvPr id="17" name="TextBox 16"/>
          <p:cNvSpPr txBox="1"/>
          <p:nvPr/>
        </p:nvSpPr>
        <p:spPr>
          <a:xfrm>
            <a:off x="9358335" y="2706624"/>
            <a:ext cx="2174991" cy="365760"/>
          </a:xfrm>
          <a:prstGeom prst="rect">
            <a:avLst/>
          </a:prstGeom>
          <a:noFill/>
        </p:spPr>
        <p:txBody>
          <a:bodyPr wrap="square" anchor="t" lIns="0" rIns="0" tIns="0" bIns="0">
            <a:spAutoFit/>
          </a:bodyPr>
          <a:lstStyle/>
          <a:p>
            <a:pPr algn="ctr">
              <a:lnSpc>
                <a:spcPct val="112000"/>
              </a:lnSpc>
              <a:spcAft>
                <a:spcPts val="0"/>
              </a:spcAft>
            </a:pPr>
            <a:r>
              <a:rPr sz="1150" b="0" i="0">
                <a:solidFill>
                  <a:srgbClr val="6C7A89"/>
                </a:solidFill>
                <a:latin typeface="Segoe UI"/>
              </a:rPr>
              <a:t>objects placed by hand</a:t>
            </a:r>
          </a:p>
        </p:txBody>
      </p:sp>
      <p:sp>
        <p:nvSpPr>
          <p:cNvPr id="18" name="Rounded Rectangle 17"/>
          <p:cNvSpPr/>
          <p:nvPr/>
        </p:nvSpPr>
        <p:spPr>
          <a:xfrm>
            <a:off x="658368" y="3511296"/>
            <a:ext cx="10874959" cy="960120"/>
          </a:xfrm>
          <a:prstGeom prst="roundRect">
            <a:avLst>
              <a:gd name="adj" fmla="val 50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4400" y="3675888"/>
            <a:ext cx="10362895" cy="731520"/>
          </a:xfrm>
          <a:prstGeom prst="rect">
            <a:avLst/>
          </a:prstGeom>
          <a:noFill/>
        </p:spPr>
        <p:txBody>
          <a:bodyPr wrap="square" anchor="t" lIns="0" rIns="0" tIns="0" bIns="0">
            <a:spAutoFit/>
          </a:bodyPr>
          <a:lstStyle/>
          <a:p>
            <a:pPr algn="l">
              <a:lnSpc>
                <a:spcPct val="100000"/>
              </a:lnSpc>
              <a:spcAft>
                <a:spcPts val="600"/>
              </a:spcAft>
            </a:pPr>
            <a:r>
              <a:rPr sz="1150" b="0" i="0">
                <a:solidFill>
                  <a:srgbClr val="6C7A89"/>
                </a:solidFill>
                <a:latin typeface="Segoe UI Semibold"/>
              </a:rPr>
              <a:t>Object tree</a:t>
            </a:r>
          </a:p>
          <a:p>
            <a:pPr algn="l">
              <a:lnSpc>
                <a:spcPct val="100000"/>
              </a:lnSpc>
              <a:spcAft>
                <a:spcPts val="0"/>
              </a:spcAft>
            </a:pPr>
            <a:r>
              <a:rPr sz="1250" b="0" i="0">
                <a:solidFill>
                  <a:srgbClr val="1C242E"/>
                </a:solidFill>
                <a:latin typeface="Consolas"/>
              </a:rPr>
              <a:t>AlarmSummary ×1   Lamp ×4   NumericDisplay ×2   Rectangle ×3   TextBox ×9</a:t>
            </a:r>
          </a:p>
        </p:txBody>
      </p:sp>
      <p:sp>
        <p:nvSpPr>
          <p:cNvPr id="20" name="TextBox 19"/>
          <p:cNvSpPr txBox="1"/>
          <p:nvPr/>
        </p:nvSpPr>
        <p:spPr>
          <a:xfrm>
            <a:off x="658368" y="4745736"/>
            <a:ext cx="10874959" cy="822960"/>
          </a:xfrm>
          <a:prstGeom prst="rect">
            <a:avLst/>
          </a:prstGeom>
          <a:noFill/>
        </p:spPr>
        <p:txBody>
          <a:bodyPr wrap="square" anchor="t" lIns="0" rIns="0" tIns="0" bIns="0">
            <a:spAutoFit/>
          </a:bodyPr>
          <a:lstStyle/>
          <a:p>
            <a:pPr algn="l">
              <a:lnSpc>
                <a:spcPct val="100000"/>
              </a:lnSpc>
              <a:spcAft>
                <a:spcPts val="600"/>
              </a:spcAft>
            </a:pPr>
            <a:r>
              <a:rPr sz="1500" b="0" i="0">
                <a:solidFill>
                  <a:srgbClr val="008A3E"/>
                </a:solidFill>
                <a:latin typeface="Segoe UI Semibold"/>
              </a:rPr>
              <a:t>The one claim a mockup cannot make</a:t>
            </a:r>
          </a:p>
          <a:p>
            <a:pPr algn="l">
              <a:lnSpc>
                <a:spcPct val="125000"/>
              </a:lnSpc>
              <a:spcAft>
                <a:spcPts val="0"/>
              </a:spcAft>
            </a:pPr>
            <a:r>
              <a:rPr sz="1300" b="0" i="0">
                <a:solidFill>
                  <a:srgbClr val="1C242E"/>
                </a:solidFill>
                <a:latin typeface="Segoe UI"/>
              </a:rPr>
              <a:t>This file was never saved by EcoStruxure. It was written from scratch by our packager — and it opens. That is the difference between a design tool and a generator.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LIVE DEMO  ·  STEP 1</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Screen “PumpStation1”, as OTE opens it</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11</a:t>
            </a:r>
          </a:p>
        </p:txBody>
      </p:sp>
      <p:pic>
        <p:nvPicPr>
          <p:cNvPr id="7" name="Picture 6" descr="screen_design.png"/>
          <p:cNvPicPr>
            <a:picLocks noChangeAspect="1"/>
          </p:cNvPicPr>
          <p:nvPr/>
        </p:nvPicPr>
        <p:blipFill>
          <a:blip r:embed="rId2"/>
          <a:stretch>
            <a:fillRect/>
          </a:stretch>
        </p:blipFill>
        <p:spPr>
          <a:xfrm>
            <a:off x="658368" y="1591056"/>
            <a:ext cx="7818120" cy="4580930"/>
          </a:xfrm>
          <a:prstGeom prst="rect">
            <a:avLst/>
          </a:prstGeom>
        </p:spPr>
      </p:pic>
      <p:sp>
        <p:nvSpPr>
          <p:cNvPr id="8" name="Rectangle 7"/>
          <p:cNvSpPr/>
          <p:nvPr/>
        </p:nvSpPr>
        <p:spPr>
          <a:xfrm>
            <a:off x="658368" y="1591056"/>
            <a:ext cx="7818120" cy="4580930"/>
          </a:xfrm>
          <a:prstGeom prst="rect">
            <a:avLst/>
          </a:prstGeom>
          <a:no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842247" y="1591056"/>
            <a:ext cx="2691080" cy="4023360"/>
          </a:xfrm>
          <a:prstGeom prst="rect">
            <a:avLst/>
          </a:prstGeom>
          <a:noFill/>
        </p:spPr>
        <p:txBody>
          <a:bodyPr wrap="square" anchor="t" lIns="0" rIns="0" tIns="0" bIns="0">
            <a:spAutoFit/>
          </a:bodyPr>
          <a:lstStyle/>
          <a:p>
            <a:pPr algn="l">
              <a:lnSpc>
                <a:spcPct val="100000"/>
              </a:lnSpc>
              <a:spcAft>
                <a:spcPts val="1200"/>
              </a:spcAft>
            </a:pPr>
            <a:r>
              <a:rPr sz="1200" b="0" i="0">
                <a:solidFill>
                  <a:srgbClr val="008A3E"/>
                </a:solidFill>
                <a:latin typeface="Segoe UI Semibold"/>
              </a:rPr>
              <a:t>Rendered from the project's own Screen.dat.</a:t>
            </a:r>
          </a:p>
          <a:p>
            <a:pPr algn="l">
              <a:lnSpc>
                <a:spcPct val="122000"/>
              </a:lnSpc>
              <a:spcAft>
                <a:spcPts val="1200"/>
              </a:spcAft>
            </a:pPr>
            <a:r>
              <a:rPr sz="1150" b="0" i="0">
                <a:solidFill>
                  <a:srgbClr val="6C7A89"/>
                </a:solidFill>
                <a:latin typeface="Segoe UI"/>
              </a:rPr>
              <a:t>Banner, two status lamps and two fault lamps in a PUMPS panel, two numeric displays with units in a PROCESS panel, and an alarm summary across the bottom.</a:t>
            </a:r>
          </a:p>
          <a:p>
            <a:pPr algn="l">
              <a:lnSpc>
                <a:spcPct val="122000"/>
              </a:lnSpc>
              <a:spcAft>
                <a:spcPts val="1200"/>
              </a:spcAft>
            </a:pPr>
            <a:r>
              <a:rPr sz="1150" b="0" i="0">
                <a:solidFill>
                  <a:srgbClr val="6C7A89"/>
                </a:solidFill>
                <a:latin typeface="Segoe UI"/>
              </a:rPr>
              <a:t>Every object is absolutely positioned inside a 1024 × 600 ViewBox — the same model the browser canvas uses, which is why the preview and the file can never disagree.</a:t>
            </a:r>
          </a:p>
          <a:p>
            <a:pPr algn="l">
              <a:lnSpc>
                <a:spcPct val="122000"/>
              </a:lnSpc>
              <a:spcAft>
                <a:spcPts val="0"/>
              </a:spcAft>
            </a:pPr>
            <a:r>
              <a:rPr sz="1150" b="0" i="0">
                <a:solidFill>
                  <a:srgbClr val="6C7A89"/>
                </a:solidFill>
                <a:latin typeface="Segoe UI"/>
              </a:rPr>
              <a:t>Colours are palette indices into ColorSet 4, so the screen already matches the project's house style.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LIVE DEMO  ·  STEP 2</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Tags and alarms, already configured</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12</a:t>
            </a:r>
          </a:p>
        </p:txBody>
      </p:sp>
      <p:sp>
        <p:nvSpPr>
          <p:cNvPr id="7" name="TextBox 6"/>
          <p:cNvSpPr txBox="1"/>
          <p:nvPr/>
        </p:nvSpPr>
        <p:spPr>
          <a:xfrm>
            <a:off x="658368" y="1591056"/>
            <a:ext cx="5394960"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1C242E"/>
                </a:solidFill>
                <a:latin typeface="Segoe UI Semibold"/>
              </a:rPr>
              <a:t>Variables.db — 7 tags</a:t>
            </a:r>
          </a:p>
        </p:txBody>
      </p:sp>
      <p:graphicFrame>
        <p:nvGraphicFramePr>
          <p:cNvPr id="8" name="Table 7"/>
          <p:cNvGraphicFramePr>
            <a:graphicFrameLocks noGrp="1"/>
          </p:cNvGraphicFramePr>
          <p:nvPr/>
        </p:nvGraphicFramePr>
        <p:xfrm>
          <a:off x="658368" y="1956816"/>
          <a:ext cx="5394958" cy="2395728"/>
        </p:xfrm>
        <a:graphic>
          <a:graphicData uri="http://schemas.openxmlformats.org/drawingml/2006/table">
            <a:tbl>
              <a:tblPr firstRow="1" bandRow="1">
                <a:tableStyleId>{5C22544A-7EE6-4342-B048-85BDC9FD1C3A}</a:tableStyleId>
              </a:tblPr>
              <a:tblGrid>
                <a:gridCol w="1834286"/>
                <a:gridCol w="971092"/>
                <a:gridCol w="2589580"/>
              </a:tblGrid>
              <a:tr h="347472">
                <a:tc>
                  <a:txBody>
                    <a:bodyPr wrap="square"/>
                    <a:lstStyle/>
                    <a:p>
                      <a:r>
                        <a:rPr sz="1050" b="1">
                          <a:solidFill>
                            <a:srgbClr val="FFFFFF"/>
                          </a:solidFill>
                          <a:latin typeface="Segoe UI Semibold"/>
                        </a:rPr>
                        <a:t>Name</a:t>
                      </a:r>
                    </a:p>
                  </a:txBody>
                  <a:tcPr marL="91440" marR="91440" marT="27432" marB="27432" anchor="ctr">
                    <a:solidFill>
                      <a:srgbClr val="008A3E"/>
                    </a:solidFill>
                  </a:tcPr>
                </a:tc>
                <a:tc>
                  <a:txBody>
                    <a:bodyPr wrap="square"/>
                    <a:lstStyle/>
                    <a:p>
                      <a:r>
                        <a:rPr sz="1050" b="1">
                          <a:solidFill>
                            <a:srgbClr val="FFFFFF"/>
                          </a:solidFill>
                          <a:latin typeface="Segoe UI Semibold"/>
                        </a:rPr>
                        <a:t>Type</a:t>
                      </a:r>
                    </a:p>
                  </a:txBody>
                  <a:tcPr marL="91440" marR="91440" marT="27432" marB="27432" anchor="ctr">
                    <a:solidFill>
                      <a:srgbClr val="008A3E"/>
                    </a:solidFill>
                  </a:tcPr>
                </a:tc>
                <a:tc>
                  <a:txBody>
                    <a:bodyPr wrap="square"/>
                    <a:lstStyle/>
                    <a:p>
                      <a:r>
                        <a:rPr sz="1050" b="1">
                          <a:solidFill>
                            <a:srgbClr val="FFFFFF"/>
                          </a:solidFill>
                          <a:latin typeface="Segoe UI Semibold"/>
                        </a:rPr>
                        <a:t>Comment</a:t>
                      </a:r>
                    </a:p>
                  </a:txBody>
                  <a:tcPr marL="91440" marR="91440" marT="27432" marB="27432" anchor="ctr">
                    <a:solidFill>
                      <a:srgbClr val="008A3E"/>
                    </a:solidFill>
                  </a:tcPr>
                </a:tc>
              </a:tr>
              <a:tr h="292608">
                <a:tc>
                  <a:txBody>
                    <a:bodyPr wrap="square"/>
                    <a:lstStyle/>
                    <a:p>
                      <a:r>
                        <a:rPr sz="1100" b="0">
                          <a:solidFill>
                            <a:srgbClr val="1C242E"/>
                          </a:solidFill>
                          <a:latin typeface="Consolas"/>
                        </a:rPr>
                        <a:t>PMP_101_RUN</a:t>
                      </a:r>
                    </a:p>
                  </a:txBody>
                  <a:tcPr marL="91440" marR="91440" marT="27432" marB="27432" anchor="ctr">
                    <a:solidFill>
                      <a:srgbClr val="FFFFFF"/>
                    </a:solidFill>
                  </a:tcPr>
                </a:tc>
                <a:tc>
                  <a:txBody>
                    <a:bodyPr wrap="square"/>
                    <a:lstStyle/>
                    <a:p>
                      <a:r>
                        <a:rPr sz="1100" b="0">
                          <a:solidFill>
                            <a:srgbClr val="1C242E"/>
                          </a:solidFill>
                          <a:latin typeface="Segoe UI"/>
                        </a:rPr>
                        <a:t>BOOL</a:t>
                      </a:r>
                    </a:p>
                  </a:txBody>
                  <a:tcPr marL="91440" marR="91440" marT="27432" marB="27432" anchor="ctr">
                    <a:solidFill>
                      <a:srgbClr val="FFFFFF"/>
                    </a:solidFill>
                  </a:tcPr>
                </a:tc>
                <a:tc>
                  <a:txBody>
                    <a:bodyPr wrap="square"/>
                    <a:lstStyle/>
                    <a:p>
                      <a:r>
                        <a:rPr sz="1100" b="0">
                          <a:solidFill>
                            <a:srgbClr val="1C242E"/>
                          </a:solidFill>
                          <a:latin typeface="Segoe UI"/>
                        </a:rPr>
                        <a:t>Pump 1 running</a:t>
                      </a:r>
                    </a:p>
                  </a:txBody>
                  <a:tcPr marL="91440" marR="91440" marT="27432" marB="27432" anchor="ctr">
                    <a:solidFill>
                      <a:srgbClr val="FFFFFF"/>
                    </a:solidFill>
                  </a:tcPr>
                </a:tc>
              </a:tr>
              <a:tr h="292608">
                <a:tc>
                  <a:txBody>
                    <a:bodyPr wrap="square"/>
                    <a:lstStyle/>
                    <a:p>
                      <a:r>
                        <a:rPr sz="1100" b="0">
                          <a:solidFill>
                            <a:srgbClr val="1C242E"/>
                          </a:solidFill>
                          <a:latin typeface="Consolas"/>
                        </a:rPr>
                        <a:t>PMP_101_FLT</a:t>
                      </a:r>
                    </a:p>
                  </a:txBody>
                  <a:tcPr marL="91440" marR="91440" marT="27432" marB="27432" anchor="ctr">
                    <a:solidFill>
                      <a:srgbClr val="F4F8F5"/>
                    </a:solidFill>
                  </a:tcPr>
                </a:tc>
                <a:tc>
                  <a:txBody>
                    <a:bodyPr wrap="square"/>
                    <a:lstStyle/>
                    <a:p>
                      <a:r>
                        <a:rPr sz="1100" b="0">
                          <a:solidFill>
                            <a:srgbClr val="1C242E"/>
                          </a:solidFill>
                          <a:latin typeface="Segoe UI"/>
                        </a:rPr>
                        <a:t>BOOL</a:t>
                      </a:r>
                    </a:p>
                  </a:txBody>
                  <a:tcPr marL="91440" marR="91440" marT="27432" marB="27432" anchor="ctr">
                    <a:solidFill>
                      <a:srgbClr val="F4F8F5"/>
                    </a:solidFill>
                  </a:tcPr>
                </a:tc>
                <a:tc>
                  <a:txBody>
                    <a:bodyPr wrap="square"/>
                    <a:lstStyle/>
                    <a:p>
                      <a:r>
                        <a:rPr sz="1100" b="0">
                          <a:solidFill>
                            <a:srgbClr val="1C242E"/>
                          </a:solidFill>
                          <a:latin typeface="Segoe UI"/>
                        </a:rPr>
                        <a:t>Pump 1 fault</a:t>
                      </a:r>
                    </a:p>
                  </a:txBody>
                  <a:tcPr marL="91440" marR="91440" marT="27432" marB="27432" anchor="ctr">
                    <a:solidFill>
                      <a:srgbClr val="F4F8F5"/>
                    </a:solidFill>
                  </a:tcPr>
                </a:tc>
              </a:tr>
              <a:tr h="292608">
                <a:tc>
                  <a:txBody>
                    <a:bodyPr wrap="square"/>
                    <a:lstStyle/>
                    <a:p>
                      <a:r>
                        <a:rPr sz="1100" b="0">
                          <a:solidFill>
                            <a:srgbClr val="1C242E"/>
                          </a:solidFill>
                          <a:latin typeface="Consolas"/>
                        </a:rPr>
                        <a:t>PMP_102_RUN</a:t>
                      </a:r>
                    </a:p>
                  </a:txBody>
                  <a:tcPr marL="91440" marR="91440" marT="27432" marB="27432" anchor="ctr">
                    <a:solidFill>
                      <a:srgbClr val="FFFFFF"/>
                    </a:solidFill>
                  </a:tcPr>
                </a:tc>
                <a:tc>
                  <a:txBody>
                    <a:bodyPr wrap="square"/>
                    <a:lstStyle/>
                    <a:p>
                      <a:r>
                        <a:rPr sz="1100" b="0">
                          <a:solidFill>
                            <a:srgbClr val="1C242E"/>
                          </a:solidFill>
                          <a:latin typeface="Segoe UI"/>
                        </a:rPr>
                        <a:t>BOOL</a:t>
                      </a:r>
                    </a:p>
                  </a:txBody>
                  <a:tcPr marL="91440" marR="91440" marT="27432" marB="27432" anchor="ctr">
                    <a:solidFill>
                      <a:srgbClr val="FFFFFF"/>
                    </a:solidFill>
                  </a:tcPr>
                </a:tc>
                <a:tc>
                  <a:txBody>
                    <a:bodyPr wrap="square"/>
                    <a:lstStyle/>
                    <a:p>
                      <a:r>
                        <a:rPr sz="1100" b="0">
                          <a:solidFill>
                            <a:srgbClr val="1C242E"/>
                          </a:solidFill>
                          <a:latin typeface="Segoe UI"/>
                        </a:rPr>
                        <a:t>Pump 2 running</a:t>
                      </a:r>
                    </a:p>
                  </a:txBody>
                  <a:tcPr marL="91440" marR="91440" marT="27432" marB="27432" anchor="ctr">
                    <a:solidFill>
                      <a:srgbClr val="FFFFFF"/>
                    </a:solidFill>
                  </a:tcPr>
                </a:tc>
              </a:tr>
              <a:tr h="292608">
                <a:tc>
                  <a:txBody>
                    <a:bodyPr wrap="square"/>
                    <a:lstStyle/>
                    <a:p>
                      <a:r>
                        <a:rPr sz="1100" b="0">
                          <a:solidFill>
                            <a:srgbClr val="1C242E"/>
                          </a:solidFill>
                          <a:latin typeface="Consolas"/>
                        </a:rPr>
                        <a:t>PMP_102_FLT</a:t>
                      </a:r>
                    </a:p>
                  </a:txBody>
                  <a:tcPr marL="91440" marR="91440" marT="27432" marB="27432" anchor="ctr">
                    <a:solidFill>
                      <a:srgbClr val="F4F8F5"/>
                    </a:solidFill>
                  </a:tcPr>
                </a:tc>
                <a:tc>
                  <a:txBody>
                    <a:bodyPr wrap="square"/>
                    <a:lstStyle/>
                    <a:p>
                      <a:r>
                        <a:rPr sz="1100" b="0">
                          <a:solidFill>
                            <a:srgbClr val="1C242E"/>
                          </a:solidFill>
                          <a:latin typeface="Segoe UI"/>
                        </a:rPr>
                        <a:t>BOOL</a:t>
                      </a:r>
                    </a:p>
                  </a:txBody>
                  <a:tcPr marL="91440" marR="91440" marT="27432" marB="27432" anchor="ctr">
                    <a:solidFill>
                      <a:srgbClr val="F4F8F5"/>
                    </a:solidFill>
                  </a:tcPr>
                </a:tc>
                <a:tc>
                  <a:txBody>
                    <a:bodyPr wrap="square"/>
                    <a:lstStyle/>
                    <a:p>
                      <a:r>
                        <a:rPr sz="1100" b="0">
                          <a:solidFill>
                            <a:srgbClr val="1C242E"/>
                          </a:solidFill>
                          <a:latin typeface="Segoe UI"/>
                        </a:rPr>
                        <a:t>Pump 2 fault</a:t>
                      </a:r>
                    </a:p>
                  </a:txBody>
                  <a:tcPr marL="91440" marR="91440" marT="27432" marB="27432" anchor="ctr">
                    <a:solidFill>
                      <a:srgbClr val="F4F8F5"/>
                    </a:solidFill>
                  </a:tcPr>
                </a:tc>
              </a:tr>
              <a:tr h="292608">
                <a:tc>
                  <a:txBody>
                    <a:bodyPr wrap="square"/>
                    <a:lstStyle/>
                    <a:p>
                      <a:r>
                        <a:rPr sz="1100" b="0">
                          <a:solidFill>
                            <a:srgbClr val="1C242E"/>
                          </a:solidFill>
                          <a:latin typeface="Consolas"/>
                        </a:rPr>
                        <a:t>FT_101_PV</a:t>
                      </a:r>
                    </a:p>
                  </a:txBody>
                  <a:tcPr marL="91440" marR="91440" marT="27432" marB="27432" anchor="ctr">
                    <a:solidFill>
                      <a:srgbClr val="FFFFFF"/>
                    </a:solidFill>
                  </a:tcPr>
                </a:tc>
                <a:tc>
                  <a:txBody>
                    <a:bodyPr wrap="square"/>
                    <a:lstStyle/>
                    <a:p>
                      <a:r>
                        <a:rPr sz="1100" b="0">
                          <a:solidFill>
                            <a:srgbClr val="1C242E"/>
                          </a:solidFill>
                          <a:latin typeface="Segoe UI"/>
                        </a:rPr>
                        <a:t>REAL</a:t>
                      </a:r>
                    </a:p>
                  </a:txBody>
                  <a:tcPr marL="91440" marR="91440" marT="27432" marB="27432" anchor="ctr">
                    <a:solidFill>
                      <a:srgbClr val="FFFFFF"/>
                    </a:solidFill>
                  </a:tcPr>
                </a:tc>
                <a:tc>
                  <a:txBody>
                    <a:bodyPr wrap="square"/>
                    <a:lstStyle/>
                    <a:p>
                      <a:r>
                        <a:rPr sz="1100" b="0">
                          <a:solidFill>
                            <a:srgbClr val="1C242E"/>
                          </a:solidFill>
                          <a:latin typeface="Segoe UI"/>
                        </a:rPr>
                        <a:t>Flow, LPM</a:t>
                      </a:r>
                    </a:p>
                  </a:txBody>
                  <a:tcPr marL="91440" marR="91440" marT="27432" marB="27432" anchor="ctr">
                    <a:solidFill>
                      <a:srgbClr val="FFFFFF"/>
                    </a:solidFill>
                  </a:tcPr>
                </a:tc>
              </a:tr>
              <a:tr h="292608">
                <a:tc>
                  <a:txBody>
                    <a:bodyPr wrap="square"/>
                    <a:lstStyle/>
                    <a:p>
                      <a:r>
                        <a:rPr sz="1100" b="0">
                          <a:solidFill>
                            <a:srgbClr val="1C242E"/>
                          </a:solidFill>
                          <a:latin typeface="Consolas"/>
                        </a:rPr>
                        <a:t>LT_101_PV</a:t>
                      </a:r>
                    </a:p>
                  </a:txBody>
                  <a:tcPr marL="91440" marR="91440" marT="27432" marB="27432" anchor="ctr">
                    <a:solidFill>
                      <a:srgbClr val="F4F8F5"/>
                    </a:solidFill>
                  </a:tcPr>
                </a:tc>
                <a:tc>
                  <a:txBody>
                    <a:bodyPr wrap="square"/>
                    <a:lstStyle/>
                    <a:p>
                      <a:r>
                        <a:rPr sz="1100" b="0">
                          <a:solidFill>
                            <a:srgbClr val="1C242E"/>
                          </a:solidFill>
                          <a:latin typeface="Segoe UI"/>
                        </a:rPr>
                        <a:t>REAL</a:t>
                      </a:r>
                    </a:p>
                  </a:txBody>
                  <a:tcPr marL="91440" marR="91440" marT="27432" marB="27432" anchor="ctr">
                    <a:solidFill>
                      <a:srgbClr val="F4F8F5"/>
                    </a:solidFill>
                  </a:tcPr>
                </a:tc>
                <a:tc>
                  <a:txBody>
                    <a:bodyPr wrap="square"/>
                    <a:lstStyle/>
                    <a:p>
                      <a:r>
                        <a:rPr sz="1100" b="0">
                          <a:solidFill>
                            <a:srgbClr val="1C242E"/>
                          </a:solidFill>
                          <a:latin typeface="Segoe UI"/>
                        </a:rPr>
                        <a:t>Tank level, percent</a:t>
                      </a:r>
                    </a:p>
                  </a:txBody>
                  <a:tcPr marL="91440" marR="91440" marT="27432" marB="27432" anchor="ctr">
                    <a:solidFill>
                      <a:srgbClr val="F4F8F5"/>
                    </a:solidFill>
                  </a:tcPr>
                </a:tc>
              </a:tr>
              <a:tr h="292608">
                <a:tc>
                  <a:txBody>
                    <a:bodyPr wrap="square"/>
                    <a:lstStyle/>
                    <a:p>
                      <a:r>
                        <a:rPr sz="1100" b="0">
                          <a:solidFill>
                            <a:srgbClr val="1C242E"/>
                          </a:solidFill>
                          <a:latin typeface="Consolas"/>
                        </a:rPr>
                        <a:t>LT_101_HI</a:t>
                      </a:r>
                    </a:p>
                  </a:txBody>
                  <a:tcPr marL="91440" marR="91440" marT="27432" marB="27432" anchor="ctr">
                    <a:solidFill>
                      <a:srgbClr val="FFFFFF"/>
                    </a:solidFill>
                  </a:tcPr>
                </a:tc>
                <a:tc>
                  <a:txBody>
                    <a:bodyPr wrap="square"/>
                    <a:lstStyle/>
                    <a:p>
                      <a:r>
                        <a:rPr sz="1100" b="0">
                          <a:solidFill>
                            <a:srgbClr val="1C242E"/>
                          </a:solidFill>
                          <a:latin typeface="Segoe UI"/>
                        </a:rPr>
                        <a:t>BOOL</a:t>
                      </a:r>
                    </a:p>
                  </a:txBody>
                  <a:tcPr marL="91440" marR="91440" marT="27432" marB="27432" anchor="ctr">
                    <a:solidFill>
                      <a:srgbClr val="FFFFFF"/>
                    </a:solidFill>
                  </a:tcPr>
                </a:tc>
                <a:tc>
                  <a:txBody>
                    <a:bodyPr wrap="square"/>
                    <a:lstStyle/>
                    <a:p>
                      <a:r>
                        <a:rPr sz="1100" b="0">
                          <a:solidFill>
                            <a:srgbClr val="1C242E"/>
                          </a:solidFill>
                          <a:latin typeface="Segoe UI"/>
                        </a:rPr>
                        <a:t>Tank high level</a:t>
                      </a:r>
                    </a:p>
                  </a:txBody>
                  <a:tcPr marL="91440" marR="91440" marT="27432" marB="27432" anchor="ctr">
                    <a:solidFill>
                      <a:srgbClr val="FFFFFF"/>
                    </a:solidFill>
                  </a:tcPr>
                </a:tc>
              </a:tr>
            </a:tbl>
          </a:graphicData>
        </a:graphic>
      </p:graphicFrame>
      <p:sp>
        <p:nvSpPr>
          <p:cNvPr id="9" name="TextBox 8"/>
          <p:cNvSpPr txBox="1"/>
          <p:nvPr/>
        </p:nvSpPr>
        <p:spPr>
          <a:xfrm>
            <a:off x="6464808" y="1591056"/>
            <a:ext cx="5068519"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1C242E"/>
                </a:solidFill>
                <a:latin typeface="Segoe UI Semibold"/>
              </a:rPr>
              <a:t>Alarm.db — 5 alarms</a:t>
            </a:r>
          </a:p>
        </p:txBody>
      </p:sp>
      <p:graphicFrame>
        <p:nvGraphicFramePr>
          <p:cNvPr id="10" name="Table 9"/>
          <p:cNvGraphicFramePr>
            <a:graphicFrameLocks noGrp="1"/>
          </p:cNvGraphicFramePr>
          <p:nvPr/>
        </p:nvGraphicFramePr>
        <p:xfrm>
          <a:off x="6464808" y="1956816"/>
          <a:ext cx="5068516" cy="1810512"/>
        </p:xfrm>
        <a:graphic>
          <a:graphicData uri="http://schemas.openxmlformats.org/drawingml/2006/table">
            <a:tbl>
              <a:tblPr firstRow="1" bandRow="1">
                <a:tableStyleId>{5C22544A-7EE6-4342-B048-85BDC9FD1C3A}</a:tableStyleId>
              </a:tblPr>
              <a:tblGrid>
                <a:gridCol w="2230148"/>
                <a:gridCol w="709592"/>
                <a:gridCol w="760277"/>
                <a:gridCol w="709592"/>
                <a:gridCol w="658907"/>
              </a:tblGrid>
              <a:tr h="347472">
                <a:tc>
                  <a:txBody>
                    <a:bodyPr wrap="square"/>
                    <a:lstStyle/>
                    <a:p>
                      <a:r>
                        <a:rPr sz="1050" b="1">
                          <a:solidFill>
                            <a:srgbClr val="FFFFFF"/>
                          </a:solidFill>
                          <a:latin typeface="Segoe UI Semibold"/>
                        </a:rPr>
                        <a:t>Message</a:t>
                      </a:r>
                    </a:p>
                  </a:txBody>
                  <a:tcPr marL="91440" marR="91440" marT="27432" marB="27432" anchor="ctr">
                    <a:solidFill>
                      <a:srgbClr val="008A3E"/>
                    </a:solidFill>
                  </a:tcPr>
                </a:tc>
                <a:tc>
                  <a:txBody>
                    <a:bodyPr wrap="square"/>
                    <a:lstStyle/>
                    <a:p>
                      <a:r>
                        <a:rPr sz="1050" b="1">
                          <a:solidFill>
                            <a:srgbClr val="FFFFFF"/>
                          </a:solidFill>
                          <a:latin typeface="Segoe UI Semibold"/>
                        </a:rPr>
                        <a:t>Kind</a:t>
                      </a:r>
                    </a:p>
                  </a:txBody>
                  <a:tcPr marL="91440" marR="91440" marT="27432" marB="27432" anchor="ctr">
                    <a:solidFill>
                      <a:srgbClr val="008A3E"/>
                    </a:solidFill>
                  </a:tcPr>
                </a:tc>
                <a:tc>
                  <a:txBody>
                    <a:bodyPr wrap="square"/>
                    <a:lstStyle/>
                    <a:p>
                      <a:r>
                        <a:rPr sz="1050" b="1">
                          <a:solidFill>
                            <a:srgbClr val="FFFFFF"/>
                          </a:solidFill>
                          <a:latin typeface="Segoe UI Semibold"/>
                        </a:rPr>
                        <a:t>Level</a:t>
                      </a:r>
                    </a:p>
                  </a:txBody>
                  <a:tcPr marL="91440" marR="91440" marT="27432" marB="27432" anchor="ctr">
                    <a:solidFill>
                      <a:srgbClr val="008A3E"/>
                    </a:solidFill>
                  </a:tcPr>
                </a:tc>
                <a:tc>
                  <a:txBody>
                    <a:bodyPr wrap="square"/>
                    <a:lstStyle/>
                    <a:p>
                      <a:r>
                        <a:rPr sz="1050" b="1">
                          <a:solidFill>
                            <a:srgbClr val="FFFFFF"/>
                          </a:solidFill>
                          <a:latin typeface="Segoe UI Semibold"/>
                        </a:rPr>
                        <a:t>Setpoint</a:t>
                      </a:r>
                    </a:p>
                  </a:txBody>
                  <a:tcPr marL="91440" marR="91440" marT="27432" marB="27432" anchor="ctr">
                    <a:solidFill>
                      <a:srgbClr val="008A3E"/>
                    </a:solidFill>
                  </a:tcPr>
                </a:tc>
                <a:tc>
                  <a:txBody>
                    <a:bodyPr wrap="square"/>
                    <a:lstStyle/>
                    <a:p>
                      <a:r>
                        <a:rPr sz="1050" b="1">
                          <a:solidFill>
                            <a:srgbClr val="FFFFFF"/>
                          </a:solidFill>
                          <a:latin typeface="Segoe UI Semibold"/>
                        </a:rPr>
                        <a:t>Sev</a:t>
                      </a:r>
                    </a:p>
                  </a:txBody>
                  <a:tcPr marL="91440" marR="91440" marT="27432" marB="27432" anchor="ctr">
                    <a:solidFill>
                      <a:srgbClr val="008A3E"/>
                    </a:solidFill>
                  </a:tcPr>
                </a:tc>
              </a:tr>
              <a:tr h="292608">
                <a:tc>
                  <a:txBody>
                    <a:bodyPr wrap="square"/>
                    <a:lstStyle/>
                    <a:p>
                      <a:r>
                        <a:rPr sz="1100" b="0">
                          <a:solidFill>
                            <a:srgbClr val="1C242E"/>
                          </a:solidFill>
                          <a:latin typeface="Segoe UI"/>
                        </a:rPr>
                        <a:t>Pump 1 fault</a:t>
                      </a:r>
                    </a:p>
                  </a:txBody>
                  <a:tcPr marL="91440" marR="91440" marT="27432" marB="27432" anchor="ctr">
                    <a:solidFill>
                      <a:srgbClr val="FFFFFF"/>
                    </a:solidFill>
                  </a:tcPr>
                </a:tc>
                <a:tc>
                  <a:txBody>
                    <a:bodyPr wrap="square"/>
                    <a:lstStyle/>
                    <a:p>
                      <a:r>
                        <a:rPr sz="1100" b="0">
                          <a:solidFill>
                            <a:srgbClr val="1C242E"/>
                          </a:solidFill>
                          <a:latin typeface="Segoe UI"/>
                        </a:rPr>
                        <a:t>bit</a:t>
                      </a:r>
                    </a:p>
                  </a:txBody>
                  <a:tcPr marL="91440" marR="91440" marT="27432" marB="27432" anchor="ctr">
                    <a:solidFill>
                      <a:srgbClr val="FFFFFF"/>
                    </a:solidFill>
                  </a:tcPr>
                </a:tc>
                <a:tc>
                  <a:txBody>
                    <a:bodyPr wrap="square"/>
                    <a:lstStyle/>
                    <a:p>
                      <a:r>
                        <a:rPr sz="1100" b="0">
                          <a:solidFill>
                            <a:srgbClr val="1C242E"/>
                          </a:solidFill>
                          <a:latin typeface="Segoe UI"/>
                        </a:rPr>
                        <a:t>HiHi</a:t>
                      </a:r>
                    </a:p>
                  </a:txBody>
                  <a:tcPr marL="91440" marR="91440" marT="27432" marB="27432" anchor="ctr">
                    <a:solidFill>
                      <a:srgbClr val="FFFFFF"/>
                    </a:solidFill>
                  </a:tcPr>
                </a:tc>
                <a:tc>
                  <a:txBody>
                    <a:bodyPr wrap="square"/>
                    <a:lstStyle/>
                    <a:p>
                      <a:r>
                        <a:rPr sz="1100" b="0">
                          <a:solidFill>
                            <a:srgbClr val="1C242E"/>
                          </a:solidFill>
                          <a:latin typeface="Segoe UI"/>
                        </a:rPr>
                        <a:t>—</a:t>
                      </a:r>
                    </a:p>
                  </a:txBody>
                  <a:tcPr marL="91440" marR="91440" marT="27432" marB="27432" anchor="ctr">
                    <a:solidFill>
                      <a:srgbClr val="FFFFFF"/>
                    </a:solidFill>
                  </a:tcPr>
                </a:tc>
                <a:tc>
                  <a:txBody>
                    <a:bodyPr wrap="square"/>
                    <a:lstStyle/>
                    <a:p>
                      <a:r>
                        <a:rPr sz="1100" b="0">
                          <a:solidFill>
                            <a:srgbClr val="1C242E"/>
                          </a:solidFill>
                          <a:latin typeface="Segoe UI"/>
                        </a:rPr>
                        <a:t>5</a:t>
                      </a:r>
                    </a:p>
                  </a:txBody>
                  <a:tcPr marL="91440" marR="91440" marT="27432" marB="27432" anchor="ctr">
                    <a:solidFill>
                      <a:srgbClr val="FFFFFF"/>
                    </a:solidFill>
                  </a:tcPr>
                </a:tc>
              </a:tr>
              <a:tr h="292608">
                <a:tc>
                  <a:txBody>
                    <a:bodyPr wrap="square"/>
                    <a:lstStyle/>
                    <a:p>
                      <a:r>
                        <a:rPr sz="1100" b="0">
                          <a:solidFill>
                            <a:srgbClr val="1C242E"/>
                          </a:solidFill>
                          <a:latin typeface="Segoe UI"/>
                        </a:rPr>
                        <a:t>Pump 2 fault</a:t>
                      </a:r>
                    </a:p>
                  </a:txBody>
                  <a:tcPr marL="91440" marR="91440" marT="27432" marB="27432" anchor="ctr">
                    <a:solidFill>
                      <a:srgbClr val="F4F8F5"/>
                    </a:solidFill>
                  </a:tcPr>
                </a:tc>
                <a:tc>
                  <a:txBody>
                    <a:bodyPr wrap="square"/>
                    <a:lstStyle/>
                    <a:p>
                      <a:r>
                        <a:rPr sz="1100" b="0">
                          <a:solidFill>
                            <a:srgbClr val="1C242E"/>
                          </a:solidFill>
                          <a:latin typeface="Segoe UI"/>
                        </a:rPr>
                        <a:t>bit</a:t>
                      </a:r>
                    </a:p>
                  </a:txBody>
                  <a:tcPr marL="91440" marR="91440" marT="27432" marB="27432" anchor="ctr">
                    <a:solidFill>
                      <a:srgbClr val="F4F8F5"/>
                    </a:solidFill>
                  </a:tcPr>
                </a:tc>
                <a:tc>
                  <a:txBody>
                    <a:bodyPr wrap="square"/>
                    <a:lstStyle/>
                    <a:p>
                      <a:r>
                        <a:rPr sz="1100" b="0">
                          <a:solidFill>
                            <a:srgbClr val="1C242E"/>
                          </a:solidFill>
                          <a:latin typeface="Segoe UI"/>
                        </a:rPr>
                        <a:t>HiHi</a:t>
                      </a:r>
                    </a:p>
                  </a:txBody>
                  <a:tcPr marL="91440" marR="91440" marT="27432" marB="27432" anchor="ctr">
                    <a:solidFill>
                      <a:srgbClr val="F4F8F5"/>
                    </a:solidFill>
                  </a:tcPr>
                </a:tc>
                <a:tc>
                  <a:txBody>
                    <a:bodyPr wrap="square"/>
                    <a:lstStyle/>
                    <a:p>
                      <a:r>
                        <a:rPr sz="1100" b="0">
                          <a:solidFill>
                            <a:srgbClr val="1C242E"/>
                          </a:solidFill>
                          <a:latin typeface="Segoe UI"/>
                        </a:rPr>
                        <a:t>—</a:t>
                      </a:r>
                    </a:p>
                  </a:txBody>
                  <a:tcPr marL="91440" marR="91440" marT="27432" marB="27432" anchor="ctr">
                    <a:solidFill>
                      <a:srgbClr val="F4F8F5"/>
                    </a:solidFill>
                  </a:tcPr>
                </a:tc>
                <a:tc>
                  <a:txBody>
                    <a:bodyPr wrap="square"/>
                    <a:lstStyle/>
                    <a:p>
                      <a:r>
                        <a:rPr sz="1100" b="0">
                          <a:solidFill>
                            <a:srgbClr val="1C242E"/>
                          </a:solidFill>
                          <a:latin typeface="Segoe UI"/>
                        </a:rPr>
                        <a:t>5</a:t>
                      </a:r>
                    </a:p>
                  </a:txBody>
                  <a:tcPr marL="91440" marR="91440" marT="27432" marB="27432" anchor="ctr">
                    <a:solidFill>
                      <a:srgbClr val="F4F8F5"/>
                    </a:solidFill>
                  </a:tcPr>
                </a:tc>
              </a:tr>
              <a:tr h="292608">
                <a:tc>
                  <a:txBody>
                    <a:bodyPr wrap="square"/>
                    <a:lstStyle/>
                    <a:p>
                      <a:r>
                        <a:rPr sz="1100" b="0">
                          <a:solidFill>
                            <a:srgbClr val="1C242E"/>
                          </a:solidFill>
                          <a:latin typeface="Segoe UI"/>
                        </a:rPr>
                        <a:t>Tank high level</a:t>
                      </a:r>
                    </a:p>
                  </a:txBody>
                  <a:tcPr marL="91440" marR="91440" marT="27432" marB="27432" anchor="ctr">
                    <a:solidFill>
                      <a:srgbClr val="FFFFFF"/>
                    </a:solidFill>
                  </a:tcPr>
                </a:tc>
                <a:tc>
                  <a:txBody>
                    <a:bodyPr wrap="square"/>
                    <a:lstStyle/>
                    <a:p>
                      <a:r>
                        <a:rPr sz="1100" b="0">
                          <a:solidFill>
                            <a:srgbClr val="1C242E"/>
                          </a:solidFill>
                          <a:latin typeface="Segoe UI"/>
                        </a:rPr>
                        <a:t>bit</a:t>
                      </a:r>
                    </a:p>
                  </a:txBody>
                  <a:tcPr marL="91440" marR="91440" marT="27432" marB="27432" anchor="ctr">
                    <a:solidFill>
                      <a:srgbClr val="FFFFFF"/>
                    </a:solidFill>
                  </a:tcPr>
                </a:tc>
                <a:tc>
                  <a:txBody>
                    <a:bodyPr wrap="square"/>
                    <a:lstStyle/>
                    <a:p>
                      <a:r>
                        <a:rPr sz="1100" b="0">
                          <a:solidFill>
                            <a:srgbClr val="1C242E"/>
                          </a:solidFill>
                          <a:latin typeface="Segoe UI"/>
                        </a:rPr>
                        <a:t>HiHi</a:t>
                      </a:r>
                    </a:p>
                  </a:txBody>
                  <a:tcPr marL="91440" marR="91440" marT="27432" marB="27432" anchor="ctr">
                    <a:solidFill>
                      <a:srgbClr val="FFFFFF"/>
                    </a:solidFill>
                  </a:tcPr>
                </a:tc>
                <a:tc>
                  <a:txBody>
                    <a:bodyPr wrap="square"/>
                    <a:lstStyle/>
                    <a:p>
                      <a:r>
                        <a:rPr sz="1100" b="0">
                          <a:solidFill>
                            <a:srgbClr val="1C242E"/>
                          </a:solidFill>
                          <a:latin typeface="Segoe UI"/>
                        </a:rPr>
                        <a:t>—</a:t>
                      </a:r>
                    </a:p>
                  </a:txBody>
                  <a:tcPr marL="91440" marR="91440" marT="27432" marB="27432" anchor="ctr">
                    <a:solidFill>
                      <a:srgbClr val="FFFFFF"/>
                    </a:solidFill>
                  </a:tcPr>
                </a:tc>
                <a:tc>
                  <a:txBody>
                    <a:bodyPr wrap="square"/>
                    <a:lstStyle/>
                    <a:p>
                      <a:r>
                        <a:rPr sz="1100" b="0">
                          <a:solidFill>
                            <a:srgbClr val="1C242E"/>
                          </a:solidFill>
                          <a:latin typeface="Segoe UI"/>
                        </a:rPr>
                        <a:t>3</a:t>
                      </a:r>
                    </a:p>
                  </a:txBody>
                  <a:tcPr marL="91440" marR="91440" marT="27432" marB="27432" anchor="ctr">
                    <a:solidFill>
                      <a:srgbClr val="FFFFFF"/>
                    </a:solidFill>
                  </a:tcPr>
                </a:tc>
              </a:tr>
              <a:tr h="292608">
                <a:tc>
                  <a:txBody>
                    <a:bodyPr wrap="square"/>
                    <a:lstStyle/>
                    <a:p>
                      <a:r>
                        <a:rPr sz="1100" b="0">
                          <a:solidFill>
                            <a:srgbClr val="1C242E"/>
                          </a:solidFill>
                          <a:latin typeface="Segoe UI"/>
                        </a:rPr>
                        <a:t>Tank level high</a:t>
                      </a:r>
                    </a:p>
                  </a:txBody>
                  <a:tcPr marL="91440" marR="91440" marT="27432" marB="27432" anchor="ctr">
                    <a:solidFill>
                      <a:srgbClr val="F4F8F5"/>
                    </a:solidFill>
                  </a:tcPr>
                </a:tc>
                <a:tc>
                  <a:txBody>
                    <a:bodyPr wrap="square"/>
                    <a:lstStyle/>
                    <a:p>
                      <a:r>
                        <a:rPr sz="1100" b="0">
                          <a:solidFill>
                            <a:srgbClr val="1C242E"/>
                          </a:solidFill>
                          <a:latin typeface="Segoe UI"/>
                        </a:rPr>
                        <a:t>level</a:t>
                      </a:r>
                    </a:p>
                  </a:txBody>
                  <a:tcPr marL="91440" marR="91440" marT="27432" marB="27432" anchor="ctr">
                    <a:solidFill>
                      <a:srgbClr val="F4F8F5"/>
                    </a:solidFill>
                  </a:tcPr>
                </a:tc>
                <a:tc>
                  <a:txBody>
                    <a:bodyPr wrap="square"/>
                    <a:lstStyle/>
                    <a:p>
                      <a:r>
                        <a:rPr sz="1100" b="0">
                          <a:solidFill>
                            <a:srgbClr val="1C242E"/>
                          </a:solidFill>
                          <a:latin typeface="Segoe UI"/>
                        </a:rPr>
                        <a:t>Hi</a:t>
                      </a:r>
                    </a:p>
                  </a:txBody>
                  <a:tcPr marL="91440" marR="91440" marT="27432" marB="27432" anchor="ctr">
                    <a:solidFill>
                      <a:srgbClr val="F4F8F5"/>
                    </a:solidFill>
                  </a:tcPr>
                </a:tc>
                <a:tc>
                  <a:txBody>
                    <a:bodyPr wrap="square"/>
                    <a:lstStyle/>
                    <a:p>
                      <a:r>
                        <a:rPr sz="1100" b="0">
                          <a:solidFill>
                            <a:srgbClr val="1C242E"/>
                          </a:solidFill>
                          <a:latin typeface="Segoe UI"/>
                        </a:rPr>
                        <a:t>85</a:t>
                      </a:r>
                    </a:p>
                  </a:txBody>
                  <a:tcPr marL="91440" marR="91440" marT="27432" marB="27432" anchor="ctr">
                    <a:solidFill>
                      <a:srgbClr val="F4F8F5"/>
                    </a:solidFill>
                  </a:tcPr>
                </a:tc>
                <a:tc>
                  <a:txBody>
                    <a:bodyPr wrap="square"/>
                    <a:lstStyle/>
                    <a:p>
                      <a:r>
                        <a:rPr sz="1100" b="0">
                          <a:solidFill>
                            <a:srgbClr val="1C242E"/>
                          </a:solidFill>
                          <a:latin typeface="Segoe UI"/>
                        </a:rPr>
                        <a:t>3</a:t>
                      </a:r>
                    </a:p>
                  </a:txBody>
                  <a:tcPr marL="91440" marR="91440" marT="27432" marB="27432" anchor="ctr">
                    <a:solidFill>
                      <a:srgbClr val="F4F8F5"/>
                    </a:solidFill>
                  </a:tcPr>
                </a:tc>
              </a:tr>
              <a:tr h="292608">
                <a:tc>
                  <a:txBody>
                    <a:bodyPr wrap="square"/>
                    <a:lstStyle/>
                    <a:p>
                      <a:r>
                        <a:rPr sz="1100" b="0">
                          <a:solidFill>
                            <a:srgbClr val="1C242E"/>
                          </a:solidFill>
                          <a:latin typeface="Segoe UI"/>
                        </a:rPr>
                        <a:t>Tank level critically high</a:t>
                      </a:r>
                    </a:p>
                  </a:txBody>
                  <a:tcPr marL="91440" marR="91440" marT="27432" marB="27432" anchor="ctr">
                    <a:solidFill>
                      <a:srgbClr val="FFFFFF"/>
                    </a:solidFill>
                  </a:tcPr>
                </a:tc>
                <a:tc>
                  <a:txBody>
                    <a:bodyPr wrap="square"/>
                    <a:lstStyle/>
                    <a:p>
                      <a:r>
                        <a:rPr sz="1100" b="0">
                          <a:solidFill>
                            <a:srgbClr val="1C242E"/>
                          </a:solidFill>
                          <a:latin typeface="Segoe UI"/>
                        </a:rPr>
                        <a:t>level</a:t>
                      </a:r>
                    </a:p>
                  </a:txBody>
                  <a:tcPr marL="91440" marR="91440" marT="27432" marB="27432" anchor="ctr">
                    <a:solidFill>
                      <a:srgbClr val="FFFFFF"/>
                    </a:solidFill>
                  </a:tcPr>
                </a:tc>
                <a:tc>
                  <a:txBody>
                    <a:bodyPr wrap="square"/>
                    <a:lstStyle/>
                    <a:p>
                      <a:r>
                        <a:rPr sz="1100" b="0">
                          <a:solidFill>
                            <a:srgbClr val="1C242E"/>
                          </a:solidFill>
                          <a:latin typeface="Segoe UI"/>
                        </a:rPr>
                        <a:t>HiHi</a:t>
                      </a:r>
                    </a:p>
                  </a:txBody>
                  <a:tcPr marL="91440" marR="91440" marT="27432" marB="27432" anchor="ctr">
                    <a:solidFill>
                      <a:srgbClr val="FFFFFF"/>
                    </a:solidFill>
                  </a:tcPr>
                </a:tc>
                <a:tc>
                  <a:txBody>
                    <a:bodyPr wrap="square"/>
                    <a:lstStyle/>
                    <a:p>
                      <a:r>
                        <a:rPr sz="1100" b="0">
                          <a:solidFill>
                            <a:srgbClr val="1C242E"/>
                          </a:solidFill>
                          <a:latin typeface="Segoe UI"/>
                        </a:rPr>
                        <a:t>95</a:t>
                      </a:r>
                    </a:p>
                  </a:txBody>
                  <a:tcPr marL="91440" marR="91440" marT="27432" marB="27432" anchor="ctr">
                    <a:solidFill>
                      <a:srgbClr val="FFFFFF"/>
                    </a:solidFill>
                  </a:tcPr>
                </a:tc>
                <a:tc>
                  <a:txBody>
                    <a:bodyPr wrap="square"/>
                    <a:lstStyle/>
                    <a:p>
                      <a:r>
                        <a:rPr sz="1100" b="0">
                          <a:solidFill>
                            <a:srgbClr val="1C242E"/>
                          </a:solidFill>
                          <a:latin typeface="Segoe UI"/>
                        </a:rPr>
                        <a:t>5</a:t>
                      </a:r>
                    </a:p>
                  </a:txBody>
                  <a:tcPr marL="91440" marR="91440" marT="27432" marB="27432" anchor="ctr">
                    <a:solidFill>
                      <a:srgbClr val="FFFFFF"/>
                    </a:solidFill>
                  </a:tcPr>
                </a:tc>
              </a:tr>
            </a:tbl>
          </a:graphicData>
        </a:graphic>
      </p:graphicFrame>
      <p:sp>
        <p:nvSpPr>
          <p:cNvPr id="11" name="TextBox 10"/>
          <p:cNvSpPr txBox="1"/>
          <p:nvPr/>
        </p:nvSpPr>
        <p:spPr>
          <a:xfrm>
            <a:off x="658368" y="4700016"/>
            <a:ext cx="10874959" cy="640080"/>
          </a:xfrm>
          <a:prstGeom prst="rect">
            <a:avLst/>
          </a:prstGeom>
          <a:noFill/>
        </p:spPr>
        <p:txBody>
          <a:bodyPr wrap="square" anchor="t" lIns="0" rIns="0" tIns="0" bIns="0">
            <a:spAutoFit/>
          </a:bodyPr>
          <a:lstStyle/>
          <a:p>
            <a:pPr algn="l">
              <a:lnSpc>
                <a:spcPct val="125000"/>
              </a:lnSpc>
              <a:spcAft>
                <a:spcPts val="600"/>
              </a:spcAft>
            </a:pPr>
            <a:r>
              <a:rPr sz="1300" b="0" i="0">
                <a:solidFill>
                  <a:srgbClr val="1C242E"/>
                </a:solidFill>
                <a:latin typeface="Segoe UI"/>
              </a:rPr>
              <a:t>Open the Variables editor and the Alarm editor in OTE — this is what is in them. Nobody typed any of it. Two of the five alarms are level alarms with real setpoints, inferred from the tag being a tank level.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LIVE DEMO  ·  STEP 3</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Every tag wired to the object it drives</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13</a:t>
            </a:r>
          </a:p>
        </p:txBody>
      </p:sp>
      <p:pic>
        <p:nvPicPr>
          <p:cNvPr id="7" name="Picture 6" descr="binding_map.png"/>
          <p:cNvPicPr>
            <a:picLocks noChangeAspect="1"/>
          </p:cNvPicPr>
          <p:nvPr/>
        </p:nvPicPr>
        <p:blipFill>
          <a:blip r:embed="rId2"/>
          <a:stretch>
            <a:fillRect/>
          </a:stretch>
        </p:blipFill>
        <p:spPr>
          <a:xfrm>
            <a:off x="932688" y="1591056"/>
            <a:ext cx="7223760" cy="4554771"/>
          </a:xfrm>
          <a:prstGeom prst="rect">
            <a:avLst/>
          </a:prstGeom>
        </p:spPr>
      </p:pic>
      <p:sp>
        <p:nvSpPr>
          <p:cNvPr id="8" name="Rectangle 7"/>
          <p:cNvSpPr/>
          <p:nvPr/>
        </p:nvSpPr>
        <p:spPr>
          <a:xfrm>
            <a:off x="932688" y="1591056"/>
            <a:ext cx="7223760" cy="4554771"/>
          </a:xfrm>
          <a:prstGeom prst="rect">
            <a:avLst/>
          </a:prstGeom>
          <a:no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30768" y="1591056"/>
            <a:ext cx="3102559" cy="4023360"/>
          </a:xfrm>
          <a:prstGeom prst="rect">
            <a:avLst/>
          </a:prstGeom>
          <a:noFill/>
        </p:spPr>
        <p:txBody>
          <a:bodyPr wrap="square" anchor="t" lIns="0" rIns="0" tIns="0" bIns="0">
            <a:spAutoFit/>
          </a:bodyPr>
          <a:lstStyle/>
          <a:p>
            <a:pPr algn="l">
              <a:lnSpc>
                <a:spcPct val="100000"/>
              </a:lnSpc>
              <a:spcAft>
                <a:spcPts val="1200"/>
              </a:spcAft>
            </a:pPr>
            <a:r>
              <a:rPr sz="1300" b="0" i="0">
                <a:solidFill>
                  <a:srgbClr val="008A3E"/>
                </a:solidFill>
                <a:latin typeface="Segoe UI Semibold"/>
              </a:rPr>
              <a:t>This is the pain point, made visible.</a:t>
            </a:r>
          </a:p>
          <a:p>
            <a:pPr algn="l">
              <a:lnSpc>
                <a:spcPct val="125000"/>
              </a:lnSpc>
              <a:spcAft>
                <a:spcPts val="1200"/>
              </a:spcAft>
            </a:pPr>
            <a:r>
              <a:rPr sz="1200" b="0" i="0">
                <a:solidFill>
                  <a:srgbClr val="1C242E"/>
                </a:solidFill>
                <a:latin typeface="Segoe UI"/>
              </a:rPr>
              <a:t>11 bindings from 7 tags — 6 driving display properties, 5 driving alarm triggers.</a:t>
            </a:r>
          </a:p>
          <a:p>
            <a:pPr algn="l">
              <a:lnSpc>
                <a:spcPct val="122000"/>
              </a:lnSpc>
              <a:spcAft>
                <a:spcPts val="1200"/>
              </a:spcAft>
            </a:pPr>
            <a:r>
              <a:rPr sz="1150" b="0" i="0">
                <a:solidFill>
                  <a:srgbClr val="6C7A89"/>
                </a:solidFill>
                <a:latin typeface="Segoe UI"/>
              </a:rPr>
              <a:t>Drawn from the real Sources → Bindings → Targets graph in Bindings.dat, not from a diagram we authored.</a:t>
            </a:r>
          </a:p>
          <a:p>
            <a:pPr algn="l">
              <a:lnSpc>
                <a:spcPct val="122000"/>
              </a:lnSpc>
              <a:spcAft>
                <a:spcPts val="1200"/>
              </a:spcAft>
            </a:pPr>
            <a:r>
              <a:rPr sz="1150" b="0" i="0">
                <a:solidFill>
                  <a:srgbClr val="6C7A89"/>
                </a:solidFill>
                <a:latin typeface="Segoe UI"/>
              </a:rPr>
              <a:t>Note LT_101_PV drives three things at once: the level display, a Hi alarm and a HiHi alarm. Getting that wrong by hand is a commissioning bug.</a:t>
            </a:r>
          </a:p>
          <a:p>
            <a:pPr algn="l">
              <a:lnSpc>
                <a:spcPct val="122000"/>
              </a:lnSpc>
              <a:spcAft>
                <a:spcPts val="0"/>
              </a:spcAft>
            </a:pPr>
            <a:r>
              <a:rPr sz="1150" b="0" i="0">
                <a:solidFill>
                  <a:srgbClr val="6C7A89"/>
                </a:solidFill>
                <a:latin typeface="Segoe UI"/>
              </a:rPr>
              <a:t>In the product, unbound tags glow amber and type mismatches 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LIVE DEMO  ·  STEP 4</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The same screen, driven by values</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14</a:t>
            </a:r>
          </a:p>
        </p:txBody>
      </p:sp>
      <p:pic>
        <p:nvPicPr>
          <p:cNvPr id="7" name="Picture 6" descr="screen_live.png"/>
          <p:cNvPicPr>
            <a:picLocks noChangeAspect="1"/>
          </p:cNvPicPr>
          <p:nvPr/>
        </p:nvPicPr>
        <p:blipFill>
          <a:blip r:embed="rId2"/>
          <a:stretch>
            <a:fillRect/>
          </a:stretch>
        </p:blipFill>
        <p:spPr>
          <a:xfrm>
            <a:off x="658368" y="1591056"/>
            <a:ext cx="7818120" cy="4580930"/>
          </a:xfrm>
          <a:prstGeom prst="rect">
            <a:avLst/>
          </a:prstGeom>
        </p:spPr>
      </p:pic>
      <p:sp>
        <p:nvSpPr>
          <p:cNvPr id="8" name="Rectangle 7"/>
          <p:cNvSpPr/>
          <p:nvPr/>
        </p:nvSpPr>
        <p:spPr>
          <a:xfrm>
            <a:off x="658368" y="1591056"/>
            <a:ext cx="7818120" cy="4580930"/>
          </a:xfrm>
          <a:prstGeom prst="rect">
            <a:avLst/>
          </a:prstGeom>
          <a:no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842247" y="1591056"/>
            <a:ext cx="2691080" cy="4023360"/>
          </a:xfrm>
          <a:prstGeom prst="rect">
            <a:avLst/>
          </a:prstGeom>
          <a:noFill/>
        </p:spPr>
        <p:txBody>
          <a:bodyPr wrap="square" anchor="t" lIns="0" rIns="0" tIns="0" bIns="0">
            <a:spAutoFit/>
          </a:bodyPr>
          <a:lstStyle/>
          <a:p>
            <a:pPr algn="l">
              <a:lnSpc>
                <a:spcPct val="100000"/>
              </a:lnSpc>
              <a:spcAft>
                <a:spcPts val="1200"/>
              </a:spcAft>
            </a:pPr>
            <a:r>
              <a:rPr sz="1250" b="0" i="0">
                <a:solidFill>
                  <a:srgbClr val="008A3E"/>
                </a:solidFill>
                <a:latin typeface="Segoe UI Semibold"/>
              </a:rPr>
              <a:t>Behaviour validated before hardware exists.</a:t>
            </a:r>
          </a:p>
          <a:p>
            <a:pPr algn="l">
              <a:lnSpc>
                <a:spcPct val="122000"/>
              </a:lnSpc>
              <a:spcAft>
                <a:spcPts val="1200"/>
              </a:spcAft>
            </a:pPr>
            <a:r>
              <a:rPr sz="1150" b="0" i="0">
                <a:solidFill>
                  <a:srgbClr val="6C7A89"/>
                </a:solidFill>
                <a:latin typeface="Segoe UI"/>
              </a:rPr>
              <a:t>Pump 1 runs, pump 2 faults, flow and level move, and the two alarms whose conditions are met appear in the summary.</a:t>
            </a:r>
          </a:p>
          <a:p>
            <a:pPr algn="l">
              <a:lnSpc>
                <a:spcPct val="122000"/>
              </a:lnSpc>
              <a:spcAft>
                <a:spcPts val="1200"/>
              </a:spcAft>
            </a:pPr>
            <a:r>
              <a:rPr sz="1150" b="0" i="0">
                <a:solidFill>
                  <a:srgbClr val="6C7A89"/>
                </a:solidFill>
                <a:latin typeface="Segoe UI"/>
              </a:rPr>
              <a:t>The lamp swap is not an animation we drew — Lamp objects carry an Off and an On state in the JSON, and the bound tag chooses between them. The renderer just reads the value.</a:t>
            </a:r>
          </a:p>
          <a:p>
            <a:pPr algn="l">
              <a:lnSpc>
                <a:spcPct val="120000"/>
              </a:lnSpc>
              <a:spcAft>
                <a:spcPts val="0"/>
              </a:spcAft>
            </a:pPr>
            <a:r>
              <a:rPr sz="1100" b="0" i="1">
                <a:solidFill>
                  <a:srgbClr val="6C7A89"/>
                </a:solidFill>
                <a:latin typeface="Segoe UI"/>
              </a:rPr>
              <a:t>Values here come from the simulator. The same path accepts Modbus or OPC-UA.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LIVE DEMO  ·  THE SCRIPT</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Run it yourself in ninety seconds</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15</a:t>
            </a:r>
          </a:p>
        </p:txBody>
      </p:sp>
      <p:sp>
        <p:nvSpPr>
          <p:cNvPr id="7" name="TextBox 6"/>
          <p:cNvSpPr txBox="1"/>
          <p:nvPr/>
        </p:nvSpPr>
        <p:spPr>
          <a:xfrm>
            <a:off x="658368" y="1591056"/>
            <a:ext cx="5208879" cy="274320"/>
          </a:xfrm>
          <a:prstGeom prst="rect">
            <a:avLst/>
          </a:prstGeom>
          <a:noFill/>
        </p:spPr>
        <p:txBody>
          <a:bodyPr wrap="square" anchor="t" lIns="0" rIns="0" tIns="0" bIns="0">
            <a:spAutoFit/>
          </a:bodyPr>
          <a:lstStyle/>
          <a:p>
            <a:pPr algn="l">
              <a:lnSpc>
                <a:spcPct val="100000"/>
              </a:lnSpc>
              <a:spcAft>
                <a:spcPts val="1000"/>
              </a:spcAft>
            </a:pPr>
            <a:r>
              <a:rPr sz="1350" b="0" i="0">
                <a:solidFill>
                  <a:srgbClr val="008A3E"/>
                </a:solidFill>
                <a:latin typeface="Segoe UI Semibold"/>
              </a:rPr>
              <a:t>On the machine</a:t>
            </a:r>
          </a:p>
        </p:txBody>
      </p:sp>
      <p:sp>
        <p:nvSpPr>
          <p:cNvPr id="8" name="Rounded Rectangle 7"/>
          <p:cNvSpPr/>
          <p:nvPr/>
        </p:nvSpPr>
        <p:spPr>
          <a:xfrm>
            <a:off x="658368" y="2048256"/>
            <a:ext cx="310896" cy="310896"/>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2098548"/>
            <a:ext cx="310896" cy="237744"/>
          </a:xfrm>
          <a:prstGeom prst="rect">
            <a:avLst/>
          </a:prstGeom>
          <a:noFill/>
        </p:spPr>
        <p:txBody>
          <a:bodyPr wrap="square" anchor="t" lIns="0" rIns="0" tIns="0" bIns="0">
            <a:spAutoFit/>
          </a:bodyPr>
          <a:lstStyle/>
          <a:p>
            <a:pPr algn="ctr">
              <a:lnSpc>
                <a:spcPct val="100000"/>
              </a:lnSpc>
              <a:spcAft>
                <a:spcPts val="0"/>
              </a:spcAft>
            </a:pPr>
            <a:r>
              <a:rPr sz="1100" b="0" i="0">
                <a:solidFill>
                  <a:srgbClr val="FFFFFF"/>
                </a:solidFill>
                <a:latin typeface="Segoe UI Semibold"/>
              </a:rPr>
              <a:t>1</a:t>
            </a:r>
          </a:p>
        </p:txBody>
      </p:sp>
      <p:sp>
        <p:nvSpPr>
          <p:cNvPr id="10" name="TextBox 9"/>
          <p:cNvSpPr txBox="1"/>
          <p:nvPr/>
        </p:nvSpPr>
        <p:spPr>
          <a:xfrm>
            <a:off x="1097280" y="2093976"/>
            <a:ext cx="4769967" cy="457200"/>
          </a:xfrm>
          <a:prstGeom prst="rect">
            <a:avLst/>
          </a:prstGeom>
          <a:noFill/>
        </p:spPr>
        <p:txBody>
          <a:bodyPr wrap="square" anchor="t" lIns="0" rIns="0" tIns="0" bIns="0">
            <a:spAutoFit/>
          </a:bodyPr>
          <a:lstStyle/>
          <a:p>
            <a:pPr algn="l">
              <a:lnSpc>
                <a:spcPct val="115000"/>
              </a:lnSpc>
              <a:spcAft>
                <a:spcPts val="0"/>
              </a:spcAft>
            </a:pPr>
            <a:r>
              <a:rPr sz="1100" b="0" i="0">
                <a:solidFill>
                  <a:srgbClr val="1C242E"/>
                </a:solidFill>
                <a:latin typeface="Consolas"/>
              </a:rPr>
              <a:t>python tools/make_project.py demo_project</a:t>
            </a:r>
          </a:p>
        </p:txBody>
      </p:sp>
      <p:sp>
        <p:nvSpPr>
          <p:cNvPr id="11" name="Rounded Rectangle 10"/>
          <p:cNvSpPr/>
          <p:nvPr/>
        </p:nvSpPr>
        <p:spPr>
          <a:xfrm>
            <a:off x="658368" y="2706624"/>
            <a:ext cx="310896" cy="310896"/>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2756916"/>
            <a:ext cx="310896" cy="237744"/>
          </a:xfrm>
          <a:prstGeom prst="rect">
            <a:avLst/>
          </a:prstGeom>
          <a:noFill/>
        </p:spPr>
        <p:txBody>
          <a:bodyPr wrap="square" anchor="t" lIns="0" rIns="0" tIns="0" bIns="0">
            <a:spAutoFit/>
          </a:bodyPr>
          <a:lstStyle/>
          <a:p>
            <a:pPr algn="ctr">
              <a:lnSpc>
                <a:spcPct val="100000"/>
              </a:lnSpc>
              <a:spcAft>
                <a:spcPts val="0"/>
              </a:spcAft>
            </a:pPr>
            <a:r>
              <a:rPr sz="1100" b="0" i="0">
                <a:solidFill>
                  <a:srgbClr val="FFFFFF"/>
                </a:solidFill>
                <a:latin typeface="Segoe UI Semibold"/>
              </a:rPr>
              <a:t>2</a:t>
            </a:r>
          </a:p>
        </p:txBody>
      </p:sp>
      <p:sp>
        <p:nvSpPr>
          <p:cNvPr id="13" name="TextBox 12"/>
          <p:cNvSpPr txBox="1"/>
          <p:nvPr/>
        </p:nvSpPr>
        <p:spPr>
          <a:xfrm>
            <a:off x="1097280" y="2752344"/>
            <a:ext cx="4769967" cy="457200"/>
          </a:xfrm>
          <a:prstGeom prst="rect">
            <a:avLst/>
          </a:prstGeom>
          <a:noFill/>
        </p:spPr>
        <p:txBody>
          <a:bodyPr wrap="square" anchor="t" lIns="0" rIns="0" tIns="0" bIns="0">
            <a:spAutoFit/>
          </a:bodyPr>
          <a:lstStyle/>
          <a:p>
            <a:pPr algn="l">
              <a:lnSpc>
                <a:spcPct val="115000"/>
              </a:lnSpc>
              <a:spcAft>
                <a:spcPts val="0"/>
              </a:spcAft>
            </a:pPr>
            <a:r>
              <a:rPr sz="1150" b="0" i="0">
                <a:solidFill>
                  <a:srgbClr val="6C7A89"/>
                </a:solidFill>
                <a:latin typeface="Segoe UI"/>
              </a:rPr>
              <a:t>Fresh GUIDs, fresh file — nothing cached.</a:t>
            </a:r>
          </a:p>
        </p:txBody>
      </p:sp>
      <p:sp>
        <p:nvSpPr>
          <p:cNvPr id="14" name="Rounded Rectangle 13"/>
          <p:cNvSpPr/>
          <p:nvPr/>
        </p:nvSpPr>
        <p:spPr>
          <a:xfrm>
            <a:off x="658368" y="3364992"/>
            <a:ext cx="310896" cy="310896"/>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3415284"/>
            <a:ext cx="310896" cy="237744"/>
          </a:xfrm>
          <a:prstGeom prst="rect">
            <a:avLst/>
          </a:prstGeom>
          <a:noFill/>
        </p:spPr>
        <p:txBody>
          <a:bodyPr wrap="square" anchor="t" lIns="0" rIns="0" tIns="0" bIns="0">
            <a:spAutoFit/>
          </a:bodyPr>
          <a:lstStyle/>
          <a:p>
            <a:pPr algn="ctr">
              <a:lnSpc>
                <a:spcPct val="100000"/>
              </a:lnSpc>
              <a:spcAft>
                <a:spcPts val="0"/>
              </a:spcAft>
            </a:pPr>
            <a:r>
              <a:rPr sz="1100" b="0" i="0">
                <a:solidFill>
                  <a:srgbClr val="FFFFFF"/>
                </a:solidFill>
                <a:latin typeface="Segoe UI Semibold"/>
              </a:rPr>
              <a:t>3</a:t>
            </a:r>
          </a:p>
        </p:txBody>
      </p:sp>
      <p:sp>
        <p:nvSpPr>
          <p:cNvPr id="16" name="TextBox 15"/>
          <p:cNvSpPr txBox="1"/>
          <p:nvPr/>
        </p:nvSpPr>
        <p:spPr>
          <a:xfrm>
            <a:off x="1097280" y="3410712"/>
            <a:ext cx="4769967" cy="457200"/>
          </a:xfrm>
          <a:prstGeom prst="rect">
            <a:avLst/>
          </a:prstGeom>
          <a:noFill/>
        </p:spPr>
        <p:txBody>
          <a:bodyPr wrap="square" anchor="t" lIns="0" rIns="0" tIns="0" bIns="0">
            <a:spAutoFit/>
          </a:bodyPr>
          <a:lstStyle/>
          <a:p>
            <a:pPr algn="l">
              <a:lnSpc>
                <a:spcPct val="115000"/>
              </a:lnSpc>
              <a:spcAft>
                <a:spcPts val="0"/>
              </a:spcAft>
            </a:pPr>
            <a:r>
              <a:rPr sz="1100" b="0" i="0">
                <a:solidFill>
                  <a:srgbClr val="1C242E"/>
                </a:solidFill>
                <a:latin typeface="Consolas"/>
              </a:rPr>
              <a:t>HMICopilot_PumpStation.eote</a:t>
            </a:r>
          </a:p>
        </p:txBody>
      </p:sp>
      <p:sp>
        <p:nvSpPr>
          <p:cNvPr id="17" name="Rounded Rectangle 16"/>
          <p:cNvSpPr/>
          <p:nvPr/>
        </p:nvSpPr>
        <p:spPr>
          <a:xfrm>
            <a:off x="658368" y="4023360"/>
            <a:ext cx="310896" cy="310896"/>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8368" y="4073652"/>
            <a:ext cx="310896" cy="237744"/>
          </a:xfrm>
          <a:prstGeom prst="rect">
            <a:avLst/>
          </a:prstGeom>
          <a:noFill/>
        </p:spPr>
        <p:txBody>
          <a:bodyPr wrap="square" anchor="t" lIns="0" rIns="0" tIns="0" bIns="0">
            <a:spAutoFit/>
          </a:bodyPr>
          <a:lstStyle/>
          <a:p>
            <a:pPr algn="ctr">
              <a:lnSpc>
                <a:spcPct val="100000"/>
              </a:lnSpc>
              <a:spcAft>
                <a:spcPts val="0"/>
              </a:spcAft>
            </a:pPr>
            <a:r>
              <a:rPr sz="1100" b="0" i="0">
                <a:solidFill>
                  <a:srgbClr val="FFFFFF"/>
                </a:solidFill>
                <a:latin typeface="Segoe UI Semibold"/>
              </a:rPr>
              <a:t>4</a:t>
            </a:r>
          </a:p>
        </p:txBody>
      </p:sp>
      <p:sp>
        <p:nvSpPr>
          <p:cNvPr id="19" name="TextBox 18"/>
          <p:cNvSpPr txBox="1"/>
          <p:nvPr/>
        </p:nvSpPr>
        <p:spPr>
          <a:xfrm>
            <a:off x="1097280" y="4069080"/>
            <a:ext cx="4769967" cy="457200"/>
          </a:xfrm>
          <a:prstGeom prst="rect">
            <a:avLst/>
          </a:prstGeom>
          <a:noFill/>
        </p:spPr>
        <p:txBody>
          <a:bodyPr wrap="square" anchor="t" lIns="0" rIns="0" tIns="0" bIns="0">
            <a:spAutoFit/>
          </a:bodyPr>
          <a:lstStyle/>
          <a:p>
            <a:pPr algn="l">
              <a:lnSpc>
                <a:spcPct val="115000"/>
              </a:lnSpc>
              <a:spcAft>
                <a:spcPts val="0"/>
              </a:spcAft>
            </a:pPr>
            <a:r>
              <a:rPr sz="1150" b="0" i="0">
                <a:solidFill>
                  <a:srgbClr val="6C7A89"/>
                </a:solidFill>
                <a:latin typeface="Segoe UI"/>
              </a:rPr>
              <a:t>Double-click it, or File ▸ Open Project inside OTE.</a:t>
            </a:r>
          </a:p>
        </p:txBody>
      </p:sp>
      <p:sp>
        <p:nvSpPr>
          <p:cNvPr id="20" name="TextBox 19"/>
          <p:cNvSpPr txBox="1"/>
          <p:nvPr/>
        </p:nvSpPr>
        <p:spPr>
          <a:xfrm>
            <a:off x="6324447" y="1591056"/>
            <a:ext cx="5208879" cy="274320"/>
          </a:xfrm>
          <a:prstGeom prst="rect">
            <a:avLst/>
          </a:prstGeom>
          <a:noFill/>
        </p:spPr>
        <p:txBody>
          <a:bodyPr wrap="square" anchor="t" lIns="0" rIns="0" tIns="0" bIns="0">
            <a:spAutoFit/>
          </a:bodyPr>
          <a:lstStyle/>
          <a:p>
            <a:pPr algn="l">
              <a:lnSpc>
                <a:spcPct val="100000"/>
              </a:lnSpc>
              <a:spcAft>
                <a:spcPts val="1000"/>
              </a:spcAft>
            </a:pPr>
            <a:r>
              <a:rPr sz="1350" b="0" i="0">
                <a:solidFill>
                  <a:srgbClr val="008A3E"/>
                </a:solidFill>
                <a:latin typeface="Segoe UI Semibold"/>
              </a:rPr>
              <a:t>Inside EcoStruxure</a:t>
            </a:r>
          </a:p>
        </p:txBody>
      </p:sp>
      <p:sp>
        <p:nvSpPr>
          <p:cNvPr id="21" name="Rounded Rectangle 20"/>
          <p:cNvSpPr/>
          <p:nvPr/>
        </p:nvSpPr>
        <p:spPr>
          <a:xfrm>
            <a:off x="6324447" y="2048256"/>
            <a:ext cx="310896" cy="310896"/>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324447" y="2098548"/>
            <a:ext cx="310896" cy="237744"/>
          </a:xfrm>
          <a:prstGeom prst="rect">
            <a:avLst/>
          </a:prstGeom>
          <a:noFill/>
        </p:spPr>
        <p:txBody>
          <a:bodyPr wrap="square" anchor="t" lIns="0" rIns="0" tIns="0" bIns="0">
            <a:spAutoFit/>
          </a:bodyPr>
          <a:lstStyle/>
          <a:p>
            <a:pPr algn="ctr">
              <a:lnSpc>
                <a:spcPct val="100000"/>
              </a:lnSpc>
              <a:spcAft>
                <a:spcPts val="0"/>
              </a:spcAft>
            </a:pPr>
            <a:r>
              <a:rPr sz="1100" b="0" i="0">
                <a:solidFill>
                  <a:srgbClr val="FFFFFF"/>
                </a:solidFill>
                <a:latin typeface="Segoe UI Semibold"/>
              </a:rPr>
              <a:t>5</a:t>
            </a:r>
          </a:p>
        </p:txBody>
      </p:sp>
      <p:sp>
        <p:nvSpPr>
          <p:cNvPr id="23" name="TextBox 22"/>
          <p:cNvSpPr txBox="1"/>
          <p:nvPr/>
        </p:nvSpPr>
        <p:spPr>
          <a:xfrm>
            <a:off x="6763359" y="2093976"/>
            <a:ext cx="4769967" cy="457200"/>
          </a:xfrm>
          <a:prstGeom prst="rect">
            <a:avLst/>
          </a:prstGeom>
          <a:noFill/>
        </p:spPr>
        <p:txBody>
          <a:bodyPr wrap="square" anchor="t" lIns="0" rIns="0" tIns="0" bIns="0">
            <a:spAutoFit/>
          </a:bodyPr>
          <a:lstStyle/>
          <a:p>
            <a:pPr algn="l">
              <a:lnSpc>
                <a:spcPct val="115000"/>
              </a:lnSpc>
              <a:spcAft>
                <a:spcPts val="0"/>
              </a:spcAft>
            </a:pPr>
            <a:r>
              <a:rPr sz="1150" b="0" i="0">
                <a:solidFill>
                  <a:srgbClr val="6C7A89"/>
                </a:solidFill>
                <a:latin typeface="Segoe UI"/>
              </a:rPr>
              <a:t>Screens ▸ PumpStation1 — the laid-out screen</a:t>
            </a:r>
          </a:p>
        </p:txBody>
      </p:sp>
      <p:sp>
        <p:nvSpPr>
          <p:cNvPr id="24" name="Rounded Rectangle 23"/>
          <p:cNvSpPr/>
          <p:nvPr/>
        </p:nvSpPr>
        <p:spPr>
          <a:xfrm>
            <a:off x="6324447" y="2706624"/>
            <a:ext cx="310896" cy="310896"/>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324447" y="2756916"/>
            <a:ext cx="310896" cy="237744"/>
          </a:xfrm>
          <a:prstGeom prst="rect">
            <a:avLst/>
          </a:prstGeom>
          <a:noFill/>
        </p:spPr>
        <p:txBody>
          <a:bodyPr wrap="square" anchor="t" lIns="0" rIns="0" tIns="0" bIns="0">
            <a:spAutoFit/>
          </a:bodyPr>
          <a:lstStyle/>
          <a:p>
            <a:pPr algn="ctr">
              <a:lnSpc>
                <a:spcPct val="100000"/>
              </a:lnSpc>
              <a:spcAft>
                <a:spcPts val="0"/>
              </a:spcAft>
            </a:pPr>
            <a:r>
              <a:rPr sz="1100" b="0" i="0">
                <a:solidFill>
                  <a:srgbClr val="FFFFFF"/>
                </a:solidFill>
                <a:latin typeface="Segoe UI Semibold"/>
              </a:rPr>
              <a:t>6</a:t>
            </a:r>
          </a:p>
        </p:txBody>
      </p:sp>
      <p:sp>
        <p:nvSpPr>
          <p:cNvPr id="26" name="TextBox 25"/>
          <p:cNvSpPr txBox="1"/>
          <p:nvPr/>
        </p:nvSpPr>
        <p:spPr>
          <a:xfrm>
            <a:off x="6763359" y="2752344"/>
            <a:ext cx="4769967" cy="457200"/>
          </a:xfrm>
          <a:prstGeom prst="rect">
            <a:avLst/>
          </a:prstGeom>
          <a:noFill/>
        </p:spPr>
        <p:txBody>
          <a:bodyPr wrap="square" anchor="t" lIns="0" rIns="0" tIns="0" bIns="0">
            <a:spAutoFit/>
          </a:bodyPr>
          <a:lstStyle/>
          <a:p>
            <a:pPr algn="l">
              <a:lnSpc>
                <a:spcPct val="115000"/>
              </a:lnSpc>
              <a:spcAft>
                <a:spcPts val="0"/>
              </a:spcAft>
            </a:pPr>
            <a:r>
              <a:rPr sz="1150" b="0" i="0">
                <a:solidFill>
                  <a:srgbClr val="6C7A89"/>
                </a:solidFill>
                <a:latin typeface="Segoe UI"/>
              </a:rPr>
              <a:t>Variables — seven typed tags with comments</a:t>
            </a:r>
          </a:p>
        </p:txBody>
      </p:sp>
      <p:sp>
        <p:nvSpPr>
          <p:cNvPr id="27" name="Rounded Rectangle 26"/>
          <p:cNvSpPr/>
          <p:nvPr/>
        </p:nvSpPr>
        <p:spPr>
          <a:xfrm>
            <a:off x="6324447" y="3364992"/>
            <a:ext cx="310896" cy="310896"/>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24447" y="3415284"/>
            <a:ext cx="310896" cy="237744"/>
          </a:xfrm>
          <a:prstGeom prst="rect">
            <a:avLst/>
          </a:prstGeom>
          <a:noFill/>
        </p:spPr>
        <p:txBody>
          <a:bodyPr wrap="square" anchor="t" lIns="0" rIns="0" tIns="0" bIns="0">
            <a:spAutoFit/>
          </a:bodyPr>
          <a:lstStyle/>
          <a:p>
            <a:pPr algn="ctr">
              <a:lnSpc>
                <a:spcPct val="100000"/>
              </a:lnSpc>
              <a:spcAft>
                <a:spcPts val="0"/>
              </a:spcAft>
            </a:pPr>
            <a:r>
              <a:rPr sz="1100" b="0" i="0">
                <a:solidFill>
                  <a:srgbClr val="FFFFFF"/>
                </a:solidFill>
                <a:latin typeface="Segoe UI Semibold"/>
              </a:rPr>
              <a:t>7</a:t>
            </a:r>
          </a:p>
        </p:txBody>
      </p:sp>
      <p:sp>
        <p:nvSpPr>
          <p:cNvPr id="29" name="TextBox 28"/>
          <p:cNvSpPr txBox="1"/>
          <p:nvPr/>
        </p:nvSpPr>
        <p:spPr>
          <a:xfrm>
            <a:off x="6763359" y="3410712"/>
            <a:ext cx="4769967" cy="457200"/>
          </a:xfrm>
          <a:prstGeom prst="rect">
            <a:avLst/>
          </a:prstGeom>
          <a:noFill/>
        </p:spPr>
        <p:txBody>
          <a:bodyPr wrap="square" anchor="t" lIns="0" rIns="0" tIns="0" bIns="0">
            <a:spAutoFit/>
          </a:bodyPr>
          <a:lstStyle/>
          <a:p>
            <a:pPr algn="l">
              <a:lnSpc>
                <a:spcPct val="115000"/>
              </a:lnSpc>
              <a:spcAft>
                <a:spcPts val="0"/>
              </a:spcAft>
            </a:pPr>
            <a:r>
              <a:rPr sz="1150" b="0" i="0">
                <a:solidFill>
                  <a:srgbClr val="6C7A89"/>
                </a:solidFill>
                <a:latin typeface="Segoe UI"/>
              </a:rPr>
              <a:t>Alarms — five alarms, two with setpoints</a:t>
            </a:r>
          </a:p>
        </p:txBody>
      </p:sp>
      <p:sp>
        <p:nvSpPr>
          <p:cNvPr id="30" name="Rounded Rectangle 29"/>
          <p:cNvSpPr/>
          <p:nvPr/>
        </p:nvSpPr>
        <p:spPr>
          <a:xfrm>
            <a:off x="6324447" y="4023360"/>
            <a:ext cx="310896" cy="310896"/>
          </a:xfrm>
          <a:prstGeom prst="roundRect">
            <a:avLst>
              <a:gd name="adj" fmla="val 50000"/>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24447" y="4073652"/>
            <a:ext cx="310896" cy="237744"/>
          </a:xfrm>
          <a:prstGeom prst="rect">
            <a:avLst/>
          </a:prstGeom>
          <a:noFill/>
        </p:spPr>
        <p:txBody>
          <a:bodyPr wrap="square" anchor="t" lIns="0" rIns="0" tIns="0" bIns="0">
            <a:spAutoFit/>
          </a:bodyPr>
          <a:lstStyle/>
          <a:p>
            <a:pPr algn="ctr">
              <a:lnSpc>
                <a:spcPct val="100000"/>
              </a:lnSpc>
              <a:spcAft>
                <a:spcPts val="0"/>
              </a:spcAft>
            </a:pPr>
            <a:r>
              <a:rPr sz="1100" b="0" i="0">
                <a:solidFill>
                  <a:srgbClr val="FFFFFF"/>
                </a:solidFill>
                <a:latin typeface="Segoe UI Semibold"/>
              </a:rPr>
              <a:t>8</a:t>
            </a:r>
          </a:p>
        </p:txBody>
      </p:sp>
      <p:sp>
        <p:nvSpPr>
          <p:cNvPr id="32" name="TextBox 31"/>
          <p:cNvSpPr txBox="1"/>
          <p:nvPr/>
        </p:nvSpPr>
        <p:spPr>
          <a:xfrm>
            <a:off x="6763359" y="4069080"/>
            <a:ext cx="4769967" cy="457200"/>
          </a:xfrm>
          <a:prstGeom prst="rect">
            <a:avLst/>
          </a:prstGeom>
          <a:noFill/>
        </p:spPr>
        <p:txBody>
          <a:bodyPr wrap="square" anchor="t" lIns="0" rIns="0" tIns="0" bIns="0">
            <a:spAutoFit/>
          </a:bodyPr>
          <a:lstStyle/>
          <a:p>
            <a:pPr algn="l">
              <a:lnSpc>
                <a:spcPct val="115000"/>
              </a:lnSpc>
              <a:spcAft>
                <a:spcPts val="0"/>
              </a:spcAft>
            </a:pPr>
            <a:r>
              <a:rPr sz="1150" b="0" i="0">
                <a:solidFill>
                  <a:srgbClr val="6C7A89"/>
                </a:solidFill>
                <a:latin typeface="Segoe UI"/>
              </a:rPr>
              <a:t>Click Lamp_PUMP1_RUN → CurrentValue is already bound to PMP_101_RUN</a:t>
            </a:r>
          </a:p>
        </p:txBody>
      </p:sp>
      <p:sp>
        <p:nvSpPr>
          <p:cNvPr id="33" name="Rounded Rectangle 32"/>
          <p:cNvSpPr/>
          <p:nvPr/>
        </p:nvSpPr>
        <p:spPr>
          <a:xfrm>
            <a:off x="658368" y="4745736"/>
            <a:ext cx="10874959" cy="914400"/>
          </a:xfrm>
          <a:prstGeom prst="roundRect">
            <a:avLst>
              <a:gd name="adj" fmla="val 60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32688" y="4910328"/>
            <a:ext cx="10326319" cy="685800"/>
          </a:xfrm>
          <a:prstGeom prst="rect">
            <a:avLst/>
          </a:prstGeom>
          <a:noFill/>
        </p:spPr>
        <p:txBody>
          <a:bodyPr wrap="square" anchor="t" lIns="0" rIns="0" tIns="0" bIns="0">
            <a:spAutoFit/>
          </a:bodyPr>
          <a:lstStyle/>
          <a:p>
            <a:pPr algn="l">
              <a:lnSpc>
                <a:spcPct val="100000"/>
              </a:lnSpc>
              <a:spcAft>
                <a:spcPts val="500"/>
              </a:spcAft>
            </a:pPr>
            <a:r>
              <a:rPr sz="1250" b="0" i="0">
                <a:solidFill>
                  <a:srgbClr val="1C242E"/>
                </a:solidFill>
                <a:latin typeface="Segoe UI Semibold"/>
              </a:rPr>
              <a:t>If a part ever misbehaves, the fallback is already built.</a:t>
            </a:r>
          </a:p>
          <a:p>
            <a:pPr algn="l">
              <a:lnSpc>
                <a:spcPct val="120000"/>
              </a:lnSpc>
              <a:spcAft>
                <a:spcPts val="0"/>
              </a:spcAft>
            </a:pPr>
            <a:r>
              <a:rPr sz="1150" b="0" i="0">
                <a:solidFill>
                  <a:srgbClr val="6C7A89"/>
                </a:solidFill>
                <a:latin typeface="Segoe UI"/>
              </a:rPr>
              <a:t>HMICopilot_Minimal.eote is the same layout using only TextBox and Rectangle. If it opens and the full one does not, the project skeleton is proven correct and only a part needs adjusting — so the demo degrades instead of dying.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A1B"/>
        </a:solidFill>
        <a:effectLst/>
      </p:bgPr>
    </p:bg>
    <p:spTree>
      <p:nvGrpSpPr>
        <p:cNvPr id="1" name=""/>
        <p:cNvGrpSpPr/>
        <p:nvPr/>
      </p:nvGrpSpPr>
      <p:grpSpPr/>
      <p:sp>
        <p:nvSpPr>
          <p:cNvPr id="2" name="Rectangle 1"/>
          <p:cNvSpPr/>
          <p:nvPr/>
        </p:nvSpPr>
        <p:spPr>
          <a:xfrm>
            <a:off x="0" y="6729984"/>
            <a:ext cx="12191695" cy="128016"/>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2331720"/>
            <a:ext cx="10874959" cy="274320"/>
          </a:xfrm>
          <a:prstGeom prst="rect">
            <a:avLst/>
          </a:prstGeom>
          <a:noFill/>
        </p:spPr>
        <p:txBody>
          <a:bodyPr wrap="square" anchor="t" lIns="0" rIns="0" tIns="0" bIns="0">
            <a:spAutoFit/>
          </a:bodyPr>
          <a:lstStyle/>
          <a:p>
            <a:pPr algn="l">
              <a:lnSpc>
                <a:spcPct val="100000"/>
              </a:lnSpc>
              <a:spcAft>
                <a:spcPts val="1000"/>
              </a:spcAft>
            </a:pPr>
            <a:r>
              <a:rPr sz="1300" b="0" i="0">
                <a:solidFill>
                  <a:srgbClr val="3DCD58"/>
                </a:solidFill>
                <a:latin typeface="Segoe UI Semibold"/>
              </a:rPr>
              <a:t>HOW IT IS POSSIBLE</a:t>
            </a:r>
          </a:p>
        </p:txBody>
      </p:sp>
      <p:sp>
        <p:nvSpPr>
          <p:cNvPr id="4" name="TextBox 3"/>
          <p:cNvSpPr txBox="1"/>
          <p:nvPr/>
        </p:nvSpPr>
        <p:spPr>
          <a:xfrm>
            <a:off x="658368" y="2743200"/>
            <a:ext cx="10874959" cy="914400"/>
          </a:xfrm>
          <a:prstGeom prst="rect">
            <a:avLst/>
          </a:prstGeom>
          <a:noFill/>
        </p:spPr>
        <p:txBody>
          <a:bodyPr wrap="square" anchor="t" lIns="0" rIns="0" tIns="0" bIns="0">
            <a:spAutoFit/>
          </a:bodyPr>
          <a:lstStyle/>
          <a:p>
            <a:pPr algn="l">
              <a:lnSpc>
                <a:spcPct val="100000"/>
              </a:lnSpc>
              <a:spcAft>
                <a:spcPts val="1000"/>
              </a:spcAft>
            </a:pPr>
            <a:r>
              <a:rPr sz="5200" b="0" i="0">
                <a:solidFill>
                  <a:srgbClr val="FFFFFF"/>
                </a:solidFill>
                <a:latin typeface="Segoe UI Semibold"/>
              </a:rPr>
              <a:t>The project format is legible</a:t>
            </a:r>
          </a:p>
        </p:txBody>
      </p:sp>
      <p:sp>
        <p:nvSpPr>
          <p:cNvPr id="5" name="TextBox 4"/>
          <p:cNvSpPr txBox="1"/>
          <p:nvPr/>
        </p:nvSpPr>
        <p:spPr>
          <a:xfrm>
            <a:off x="658368" y="3794760"/>
            <a:ext cx="8778240" cy="822960"/>
          </a:xfrm>
          <a:prstGeom prst="rect">
            <a:avLst/>
          </a:prstGeom>
          <a:noFill/>
        </p:spPr>
        <p:txBody>
          <a:bodyPr wrap="square" anchor="t" lIns="0" rIns="0" tIns="0" bIns="0">
            <a:spAutoFit/>
          </a:bodyPr>
          <a:lstStyle/>
          <a:p>
            <a:pPr algn="l">
              <a:lnSpc>
                <a:spcPct val="128000"/>
              </a:lnSpc>
              <a:spcAft>
                <a:spcPts val="0"/>
              </a:spcAft>
            </a:pPr>
            <a:r>
              <a:rPr sz="1600" b="0" i="0">
                <a:solidFill>
                  <a:srgbClr val="B6C7BC"/>
                </a:solidFill>
                <a:latin typeface="Segoe UI"/>
              </a:rPr>
              <a:t>Established from the templates the product itself ships at Buildtime\BuildtimeData\ProjectTemplates — no binary reverse-engineering, no licence bypass.</a:t>
            </a:r>
          </a:p>
        </p:txBody>
      </p:sp>
      <p:sp>
        <p:nvSpPr>
          <p:cNvPr id="6" name="TextBox 5"/>
          <p:cNvSpPr txBox="1"/>
          <p:nvPr/>
        </p:nvSpPr>
        <p:spPr>
          <a:xfrm>
            <a:off x="10436047" y="629107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3A5544"/>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THE FORMAT</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Inside a .eote</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17</a:t>
            </a:r>
          </a:p>
        </p:txBody>
      </p:sp>
      <p:sp>
        <p:nvSpPr>
          <p:cNvPr id="7" name="Rounded Rectangle 6"/>
          <p:cNvSpPr/>
          <p:nvPr/>
        </p:nvSpPr>
        <p:spPr>
          <a:xfrm>
            <a:off x="658368" y="1591056"/>
            <a:ext cx="6400800" cy="2377440"/>
          </a:xfrm>
          <a:prstGeom prst="roundRect">
            <a:avLst>
              <a:gd name="adj" fmla="val 4000"/>
            </a:avLst>
          </a:prstGeom>
          <a:solidFill>
            <a:srgbClr val="F7F9FA"/>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86968" y="1792224"/>
            <a:ext cx="6035040" cy="2011680"/>
          </a:xfrm>
          <a:prstGeom prst="rect">
            <a:avLst/>
          </a:prstGeom>
          <a:noFill/>
        </p:spPr>
        <p:txBody>
          <a:bodyPr wrap="square" anchor="t" lIns="0" rIns="0" tIns="0" bIns="0">
            <a:spAutoFit/>
          </a:bodyPr>
          <a:lstStyle/>
          <a:p>
            <a:pPr algn="l">
              <a:lnSpc>
                <a:spcPct val="130000"/>
              </a:lnSpc>
              <a:spcAft>
                <a:spcPts val="600"/>
              </a:spcAft>
            </a:pPr>
            <a:r>
              <a:rPr sz="1050" b="0" i="0">
                <a:solidFill>
                  <a:srgbClr val="1C242E"/>
                </a:solidFill>
                <a:latin typeface="Consolas"/>
              </a:rPr>
              <a:t>&lt;project&gt;.eote                 ZIP  (entries use BACKSLASH separators)
 ├─ Project.dat, Target.dat      JSON   identity, panel model, resolution
 ├─ Variables.db                SQLite the tags
 ├─ Alarm.db                    SQLite alarm groups and alarms
 ├─ Recipe.db, Security.db …    SQLite other subsystems
 ├─ Bindings.dat                JSON   Sources → Bindings → Targets
 ├─ Screens\Hierarchy.dat       JSON   screen order
 └─ Screens\&lt;guid&gt;\Screen.dat   JSON   the object tree</a:t>
            </a:r>
          </a:p>
        </p:txBody>
      </p:sp>
      <p:sp>
        <p:nvSpPr>
          <p:cNvPr id="9" name="TextBox 8"/>
          <p:cNvSpPr txBox="1"/>
          <p:nvPr/>
        </p:nvSpPr>
        <p:spPr>
          <a:xfrm>
            <a:off x="7379208" y="1591056"/>
            <a:ext cx="4154119" cy="256032"/>
          </a:xfrm>
          <a:prstGeom prst="rect">
            <a:avLst/>
          </a:prstGeom>
          <a:noFill/>
        </p:spPr>
        <p:txBody>
          <a:bodyPr wrap="square" anchor="t" lIns="0" rIns="0" tIns="0" bIns="0">
            <a:spAutoFit/>
          </a:bodyPr>
          <a:lstStyle/>
          <a:p>
            <a:pPr algn="l">
              <a:lnSpc>
                <a:spcPct val="100000"/>
              </a:lnSpc>
              <a:spcAft>
                <a:spcPts val="300"/>
              </a:spcAft>
            </a:pPr>
            <a:r>
              <a:rPr sz="1200" b="0" i="0">
                <a:solidFill>
                  <a:srgbClr val="008A3E"/>
                </a:solidFill>
                <a:latin typeface="Segoe UI Semibold"/>
              </a:rPr>
              <a:t>Plain JSON and plain SQLite</a:t>
            </a:r>
          </a:p>
        </p:txBody>
      </p:sp>
      <p:sp>
        <p:nvSpPr>
          <p:cNvPr id="10" name="TextBox 9"/>
          <p:cNvSpPr txBox="1"/>
          <p:nvPr/>
        </p:nvSpPr>
        <p:spPr>
          <a:xfrm>
            <a:off x="7379208" y="1828800"/>
            <a:ext cx="4154119" cy="548640"/>
          </a:xfrm>
          <a:prstGeom prst="rect">
            <a:avLst/>
          </a:prstGeom>
          <a:noFill/>
        </p:spPr>
        <p:txBody>
          <a:bodyPr wrap="square" anchor="t" lIns="0" rIns="0" tIns="0" bIns="0">
            <a:spAutoFit/>
          </a:bodyPr>
          <a:lstStyle/>
          <a:p>
            <a:pPr algn="l">
              <a:lnSpc>
                <a:spcPct val="118000"/>
              </a:lnSpc>
              <a:spcAft>
                <a:spcPts val="0"/>
              </a:spcAft>
            </a:pPr>
            <a:r>
              <a:rPr sz="1050" b="0" i="0">
                <a:solidFill>
                  <a:srgbClr val="6C7A89"/>
                </a:solidFill>
                <a:latin typeface="Segoe UI"/>
              </a:rPr>
              <a:t>Screen.dat is a tree of Type / Children / Location / Width / Height. It generates and diffs like any other document.</a:t>
            </a:r>
          </a:p>
        </p:txBody>
      </p:sp>
      <p:sp>
        <p:nvSpPr>
          <p:cNvPr id="11" name="TextBox 10"/>
          <p:cNvSpPr txBox="1"/>
          <p:nvPr/>
        </p:nvSpPr>
        <p:spPr>
          <a:xfrm>
            <a:off x="7379208" y="2487168"/>
            <a:ext cx="4154119" cy="256032"/>
          </a:xfrm>
          <a:prstGeom prst="rect">
            <a:avLst/>
          </a:prstGeom>
          <a:noFill/>
        </p:spPr>
        <p:txBody>
          <a:bodyPr wrap="square" anchor="t" lIns="0" rIns="0" tIns="0" bIns="0">
            <a:spAutoFit/>
          </a:bodyPr>
          <a:lstStyle/>
          <a:p>
            <a:pPr algn="l">
              <a:lnSpc>
                <a:spcPct val="100000"/>
              </a:lnSpc>
              <a:spcAft>
                <a:spcPts val="300"/>
              </a:spcAft>
            </a:pPr>
            <a:r>
              <a:rPr sz="1200" b="0" i="0">
                <a:solidFill>
                  <a:srgbClr val="008A3E"/>
                </a:solidFill>
                <a:latin typeface="Segoe UI Semibold"/>
              </a:rPr>
              <a:t>No signature, no encryption</a:t>
            </a:r>
          </a:p>
        </p:txBody>
      </p:sp>
      <p:sp>
        <p:nvSpPr>
          <p:cNvPr id="12" name="TextBox 11"/>
          <p:cNvSpPr txBox="1"/>
          <p:nvPr/>
        </p:nvSpPr>
        <p:spPr>
          <a:xfrm>
            <a:off x="7379208" y="2724912"/>
            <a:ext cx="4154119" cy="548640"/>
          </a:xfrm>
          <a:prstGeom prst="rect">
            <a:avLst/>
          </a:prstGeom>
          <a:noFill/>
        </p:spPr>
        <p:txBody>
          <a:bodyPr wrap="square" anchor="t" lIns="0" rIns="0" tIns="0" bIns="0">
            <a:spAutoFit/>
          </a:bodyPr>
          <a:lstStyle/>
          <a:p>
            <a:pPr algn="l">
              <a:lnSpc>
                <a:spcPct val="118000"/>
              </a:lnSpc>
              <a:spcAft>
                <a:spcPts val="0"/>
              </a:spcAft>
            </a:pPr>
            <a:r>
              <a:rPr sz="1050" b="0" i="0">
                <a:solidFill>
                  <a:srgbClr val="6C7A89"/>
                </a:solidFill>
                <a:latin typeface="Segoe UI"/>
              </a:rPr>
              <a:t>Every project carries _metadata with EncryptionInfo: null and SignatureInfo: null.</a:t>
            </a:r>
          </a:p>
        </p:txBody>
      </p:sp>
      <p:sp>
        <p:nvSpPr>
          <p:cNvPr id="13" name="TextBox 12"/>
          <p:cNvSpPr txBox="1"/>
          <p:nvPr/>
        </p:nvSpPr>
        <p:spPr>
          <a:xfrm>
            <a:off x="7379208" y="3383280"/>
            <a:ext cx="4154119" cy="256032"/>
          </a:xfrm>
          <a:prstGeom prst="rect">
            <a:avLst/>
          </a:prstGeom>
          <a:noFill/>
        </p:spPr>
        <p:txBody>
          <a:bodyPr wrap="square" anchor="t" lIns="0" rIns="0" tIns="0" bIns="0">
            <a:spAutoFit/>
          </a:bodyPr>
          <a:lstStyle/>
          <a:p>
            <a:pPr algn="l">
              <a:lnSpc>
                <a:spcPct val="100000"/>
              </a:lnSpc>
              <a:spcAft>
                <a:spcPts val="300"/>
              </a:spcAft>
            </a:pPr>
            <a:r>
              <a:rPr sz="1200" b="0" i="0">
                <a:solidFill>
                  <a:srgbClr val="008A3E"/>
                </a:solidFill>
                <a:latin typeface="Segoe UI Semibold"/>
              </a:rPr>
              <a:t>Bindings are declarative</a:t>
            </a:r>
          </a:p>
        </p:txBody>
      </p:sp>
      <p:sp>
        <p:nvSpPr>
          <p:cNvPr id="14" name="TextBox 13"/>
          <p:cNvSpPr txBox="1"/>
          <p:nvPr/>
        </p:nvSpPr>
        <p:spPr>
          <a:xfrm>
            <a:off x="7379208" y="3621024"/>
            <a:ext cx="4154119" cy="548640"/>
          </a:xfrm>
          <a:prstGeom prst="rect">
            <a:avLst/>
          </a:prstGeom>
          <a:noFill/>
        </p:spPr>
        <p:txBody>
          <a:bodyPr wrap="square" anchor="t" lIns="0" rIns="0" tIns="0" bIns="0">
            <a:spAutoFit/>
          </a:bodyPr>
          <a:lstStyle/>
          <a:p>
            <a:pPr algn="l">
              <a:lnSpc>
                <a:spcPct val="118000"/>
              </a:lnSpc>
              <a:spcAft>
                <a:spcPts val="0"/>
              </a:spcAft>
            </a:pPr>
            <a:r>
              <a:rPr sz="1050" b="0" i="0">
                <a:solidFill>
                  <a:srgbClr val="6C7A89"/>
                </a:solidFill>
                <a:latin typeface="Segoe UI"/>
              </a:rPr>
              <a:t>Tag to property is one JSON object. Alarms bind the same way, through VariableName.</a:t>
            </a:r>
          </a:p>
        </p:txBody>
      </p:sp>
      <p:sp>
        <p:nvSpPr>
          <p:cNvPr id="15" name="TextBox 14"/>
          <p:cNvSpPr txBox="1"/>
          <p:nvPr/>
        </p:nvSpPr>
        <p:spPr>
          <a:xfrm>
            <a:off x="7379208" y="4279392"/>
            <a:ext cx="4154119" cy="256032"/>
          </a:xfrm>
          <a:prstGeom prst="rect">
            <a:avLst/>
          </a:prstGeom>
          <a:noFill/>
        </p:spPr>
        <p:txBody>
          <a:bodyPr wrap="square" anchor="t" lIns="0" rIns="0" tIns="0" bIns="0">
            <a:spAutoFit/>
          </a:bodyPr>
          <a:lstStyle/>
          <a:p>
            <a:pPr algn="l">
              <a:lnSpc>
                <a:spcPct val="100000"/>
              </a:lnSpc>
              <a:spcAft>
                <a:spcPts val="300"/>
              </a:spcAft>
            </a:pPr>
            <a:r>
              <a:rPr sz="1200" b="0" i="0">
                <a:solidFill>
                  <a:srgbClr val="008A3E"/>
                </a:solidFill>
                <a:latin typeface="Segoe UI Semibold"/>
              </a:rPr>
              <a:t>The geometry maps onto the browser</a:t>
            </a:r>
          </a:p>
        </p:txBody>
      </p:sp>
      <p:sp>
        <p:nvSpPr>
          <p:cNvPr id="16" name="TextBox 15"/>
          <p:cNvSpPr txBox="1"/>
          <p:nvPr/>
        </p:nvSpPr>
        <p:spPr>
          <a:xfrm>
            <a:off x="7379208" y="4517136"/>
            <a:ext cx="4154119" cy="548640"/>
          </a:xfrm>
          <a:prstGeom prst="rect">
            <a:avLst/>
          </a:prstGeom>
          <a:noFill/>
        </p:spPr>
        <p:txBody>
          <a:bodyPr wrap="square" anchor="t" lIns="0" rIns="0" tIns="0" bIns="0">
            <a:spAutoFit/>
          </a:bodyPr>
          <a:lstStyle/>
          <a:p>
            <a:pPr algn="l">
              <a:lnSpc>
                <a:spcPct val="118000"/>
              </a:lnSpc>
              <a:spcAft>
                <a:spcPts val="0"/>
              </a:spcAft>
            </a:pPr>
            <a:r>
              <a:rPr sz="1050" b="0" i="0">
                <a:solidFill>
                  <a:srgbClr val="6C7A89"/>
                </a:solidFill>
                <a:latin typeface="Segoe UI"/>
              </a:rPr>
              <a:t>Absolute Location plus Width/Height inside a ViewBox is a direct match for absolutely-positioned SVG.</a:t>
            </a:r>
          </a:p>
        </p:txBody>
      </p:sp>
      <p:sp>
        <p:nvSpPr>
          <p:cNvPr id="17" name="TextBox 16"/>
          <p:cNvSpPr txBox="1"/>
          <p:nvPr/>
        </p:nvSpPr>
        <p:spPr>
          <a:xfrm>
            <a:off x="658368" y="4242816"/>
            <a:ext cx="6400800" cy="1005840"/>
          </a:xfrm>
          <a:prstGeom prst="rect">
            <a:avLst/>
          </a:prstGeom>
          <a:noFill/>
        </p:spPr>
        <p:txBody>
          <a:bodyPr wrap="square" anchor="t" lIns="0" rIns="0" tIns="0" bIns="0">
            <a:spAutoFit/>
          </a:bodyPr>
          <a:lstStyle/>
          <a:p>
            <a:pPr algn="l">
              <a:lnSpc>
                <a:spcPct val="100000"/>
              </a:lnSpc>
              <a:spcAft>
                <a:spcPts val="500"/>
              </a:spcAft>
            </a:pPr>
            <a:r>
              <a:rPr sz="1200" b="0" i="0">
                <a:solidFill>
                  <a:srgbClr val="1C242E"/>
                </a:solidFill>
                <a:latin typeface="Segoe UI Semibold"/>
              </a:rPr>
              <a:t>One trap worth knowing</a:t>
            </a:r>
          </a:p>
          <a:p>
            <a:pPr algn="l">
              <a:lnSpc>
                <a:spcPct val="120000"/>
              </a:lnSpc>
              <a:spcAft>
                <a:spcPts val="0"/>
              </a:spcAft>
            </a:pPr>
            <a:r>
              <a:rPr sz="1100" b="0" i="0">
                <a:solidFill>
                  <a:srgbClr val="6C7A89"/>
                </a:solidFill>
                <a:latin typeface="Segoe UI"/>
              </a:rPr>
              <a:t>ZIP entry names must use backslash separators, the way the product writes them. Python's zipfile normalises them to forward slashes on construction — the filename has to be assigned afterwards, and verified against the raw bytes.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INTEGRATION</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We meet the product at the artifact boundary</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18</a:t>
            </a:r>
          </a:p>
        </p:txBody>
      </p:sp>
      <p:sp>
        <p:nvSpPr>
          <p:cNvPr id="7" name="TextBox 6"/>
          <p:cNvSpPr txBox="1"/>
          <p:nvPr/>
        </p:nvSpPr>
        <p:spPr>
          <a:xfrm>
            <a:off x="658368" y="1591056"/>
            <a:ext cx="10874959" cy="548640"/>
          </a:xfrm>
          <a:prstGeom prst="rect">
            <a:avLst/>
          </a:prstGeom>
          <a:noFill/>
        </p:spPr>
        <p:txBody>
          <a:bodyPr wrap="square" anchor="t" lIns="0" rIns="0" tIns="0" bIns="0">
            <a:spAutoFit/>
          </a:bodyPr>
          <a:lstStyle/>
          <a:p>
            <a:pPr algn="l">
              <a:lnSpc>
                <a:spcPct val="125000"/>
              </a:lnSpc>
              <a:spcAft>
                <a:spcPts val="600"/>
              </a:spcAft>
            </a:pPr>
            <a:r>
              <a:rPr sz="1350" b="0" i="0">
                <a:solidFill>
                  <a:srgbClr val="1C242E"/>
                </a:solidFill>
                <a:latin typeface="Segoe UI"/>
              </a:rPr>
              <a:t>EcoStruxure Operator Terminal Expert is a hybrid stack — a .NET/C# Buildtime shell with native Qt5/C++ modules, and a pure C++/Qt5 runtime with embedded Lua. We do not merge into that codebase, by design.</a:t>
            </a:r>
          </a:p>
        </p:txBody>
      </p:sp>
      <p:sp>
        <p:nvSpPr>
          <p:cNvPr id="8" name="Rounded Rectangle 7"/>
          <p:cNvSpPr/>
          <p:nvPr/>
        </p:nvSpPr>
        <p:spPr>
          <a:xfrm>
            <a:off x="658368" y="2249424"/>
            <a:ext cx="10874959" cy="868680"/>
          </a:xfrm>
          <a:prstGeom prst="roundRect">
            <a:avLst>
              <a:gd name="adj" fmla="val 60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2414016"/>
            <a:ext cx="3200400" cy="274320"/>
          </a:xfrm>
          <a:prstGeom prst="rect">
            <a:avLst/>
          </a:prstGeom>
          <a:noFill/>
        </p:spPr>
        <p:txBody>
          <a:bodyPr wrap="square" anchor="t" lIns="0" rIns="0" tIns="0" bIns="0">
            <a:spAutoFit/>
          </a:bodyPr>
          <a:lstStyle/>
          <a:p>
            <a:pPr algn="l">
              <a:lnSpc>
                <a:spcPct val="100000"/>
              </a:lnSpc>
              <a:spcAft>
                <a:spcPts val="200"/>
              </a:spcAft>
            </a:pPr>
            <a:r>
              <a:rPr sz="1350" b="0" i="0">
                <a:solidFill>
                  <a:srgbClr val="1C242E"/>
                </a:solidFill>
                <a:latin typeface="Segoe UI Semibold"/>
              </a:rPr>
              <a:t>HMI Copilot</a:t>
            </a:r>
          </a:p>
        </p:txBody>
      </p:sp>
      <p:sp>
        <p:nvSpPr>
          <p:cNvPr id="10" name="TextBox 9"/>
          <p:cNvSpPr txBox="1"/>
          <p:nvPr/>
        </p:nvSpPr>
        <p:spPr>
          <a:xfrm>
            <a:off x="932688" y="2724912"/>
            <a:ext cx="3200400" cy="274320"/>
          </a:xfrm>
          <a:prstGeom prst="rect">
            <a:avLst/>
          </a:prstGeom>
          <a:noFill/>
        </p:spPr>
        <p:txBody>
          <a:bodyPr wrap="square" anchor="t" lIns="0" rIns="0" tIns="0" bIns="0">
            <a:spAutoFit/>
          </a:bodyPr>
          <a:lstStyle/>
          <a:p>
            <a:pPr algn="l">
              <a:lnSpc>
                <a:spcPct val="100000"/>
              </a:lnSpc>
              <a:spcAft>
                <a:spcPts val="0"/>
              </a:spcAft>
            </a:pPr>
            <a:r>
              <a:rPr sz="1100" b="0" i="0">
                <a:solidFill>
                  <a:srgbClr val="6C7A89"/>
                </a:solidFill>
                <a:latin typeface="Segoe UI"/>
              </a:rPr>
              <a:t>Next.js / TypeScript</a:t>
            </a:r>
          </a:p>
        </p:txBody>
      </p:sp>
      <p:sp>
        <p:nvSpPr>
          <p:cNvPr id="11" name="TextBox 10"/>
          <p:cNvSpPr txBox="1"/>
          <p:nvPr/>
        </p:nvSpPr>
        <p:spPr>
          <a:xfrm>
            <a:off x="4818888" y="2414016"/>
            <a:ext cx="3200400" cy="274320"/>
          </a:xfrm>
          <a:prstGeom prst="rect">
            <a:avLst/>
          </a:prstGeom>
          <a:noFill/>
        </p:spPr>
        <p:txBody>
          <a:bodyPr wrap="square" anchor="t" lIns="0" rIns="0" tIns="0" bIns="0">
            <a:spAutoFit/>
          </a:bodyPr>
          <a:lstStyle/>
          <a:p>
            <a:pPr algn="l">
              <a:lnSpc>
                <a:spcPct val="100000"/>
              </a:lnSpc>
              <a:spcAft>
                <a:spcPts val="200"/>
              </a:spcAft>
            </a:pPr>
            <a:r>
              <a:rPr sz="1350" b="0" i="0">
                <a:solidFill>
                  <a:srgbClr val="008A3E"/>
                </a:solidFill>
                <a:latin typeface="Segoe UI Semibold"/>
              </a:rPr>
              <a:t>project.eote</a:t>
            </a:r>
          </a:p>
        </p:txBody>
      </p:sp>
      <p:sp>
        <p:nvSpPr>
          <p:cNvPr id="12" name="TextBox 11"/>
          <p:cNvSpPr txBox="1"/>
          <p:nvPr/>
        </p:nvSpPr>
        <p:spPr>
          <a:xfrm>
            <a:off x="4818888" y="2724912"/>
            <a:ext cx="3200400" cy="274320"/>
          </a:xfrm>
          <a:prstGeom prst="rect">
            <a:avLst/>
          </a:prstGeom>
          <a:noFill/>
        </p:spPr>
        <p:txBody>
          <a:bodyPr wrap="square" anchor="t" lIns="0" rIns="0" tIns="0" bIns="0">
            <a:spAutoFit/>
          </a:bodyPr>
          <a:lstStyle/>
          <a:p>
            <a:pPr algn="l">
              <a:lnSpc>
                <a:spcPct val="100000"/>
              </a:lnSpc>
              <a:spcAft>
                <a:spcPts val="0"/>
              </a:spcAft>
            </a:pPr>
            <a:r>
              <a:rPr sz="1100" b="0" i="0">
                <a:solidFill>
                  <a:srgbClr val="6C7A89"/>
                </a:solidFill>
                <a:latin typeface="Consolas"/>
              </a:rPr>
              <a:t>files — language-agnostic</a:t>
            </a:r>
          </a:p>
        </p:txBody>
      </p:sp>
      <p:sp>
        <p:nvSpPr>
          <p:cNvPr id="13" name="TextBox 12"/>
          <p:cNvSpPr txBox="1"/>
          <p:nvPr/>
        </p:nvSpPr>
        <p:spPr>
          <a:xfrm>
            <a:off x="8522208" y="2414016"/>
            <a:ext cx="3200400" cy="274320"/>
          </a:xfrm>
          <a:prstGeom prst="rect">
            <a:avLst/>
          </a:prstGeom>
          <a:noFill/>
        </p:spPr>
        <p:txBody>
          <a:bodyPr wrap="square" anchor="t" lIns="0" rIns="0" tIns="0" bIns="0">
            <a:spAutoFit/>
          </a:bodyPr>
          <a:lstStyle/>
          <a:p>
            <a:pPr algn="l">
              <a:lnSpc>
                <a:spcPct val="100000"/>
              </a:lnSpc>
              <a:spcAft>
                <a:spcPts val="200"/>
              </a:spcAft>
            </a:pPr>
            <a:r>
              <a:rPr sz="1350" b="0" i="0">
                <a:solidFill>
                  <a:srgbClr val="1C242E"/>
                </a:solidFill>
                <a:latin typeface="Segoe UI Semibold"/>
              </a:rPr>
              <a:t>EcoStruxure OTE</a:t>
            </a:r>
          </a:p>
        </p:txBody>
      </p:sp>
      <p:sp>
        <p:nvSpPr>
          <p:cNvPr id="14" name="TextBox 13"/>
          <p:cNvSpPr txBox="1"/>
          <p:nvPr/>
        </p:nvSpPr>
        <p:spPr>
          <a:xfrm>
            <a:off x="8522208" y="2724912"/>
            <a:ext cx="3200400" cy="274320"/>
          </a:xfrm>
          <a:prstGeom prst="rect">
            <a:avLst/>
          </a:prstGeom>
          <a:noFill/>
        </p:spPr>
        <p:txBody>
          <a:bodyPr wrap="square" anchor="t" lIns="0" rIns="0" tIns="0" bIns="0">
            <a:spAutoFit/>
          </a:bodyPr>
          <a:lstStyle/>
          <a:p>
            <a:pPr algn="l">
              <a:lnSpc>
                <a:spcPct val="100000"/>
              </a:lnSpc>
              <a:spcAft>
                <a:spcPts val="0"/>
              </a:spcAft>
            </a:pPr>
            <a:r>
              <a:rPr sz="1100" b="0" i="0">
                <a:solidFill>
                  <a:srgbClr val="6C7A89"/>
                </a:solidFill>
                <a:latin typeface="Segoe UI"/>
              </a:rPr>
              <a:t>C# / C++ / Qt / Lua</a:t>
            </a:r>
          </a:p>
        </p:txBody>
      </p:sp>
      <p:sp>
        <p:nvSpPr>
          <p:cNvPr id="15" name="TextBox 14"/>
          <p:cNvSpPr txBox="1"/>
          <p:nvPr/>
        </p:nvSpPr>
        <p:spPr>
          <a:xfrm>
            <a:off x="4315968" y="2487168"/>
            <a:ext cx="457200" cy="292608"/>
          </a:xfrm>
          <a:prstGeom prst="rect">
            <a:avLst/>
          </a:prstGeom>
          <a:noFill/>
        </p:spPr>
        <p:txBody>
          <a:bodyPr wrap="square" anchor="t" lIns="0" rIns="0" tIns="0" bIns="0">
            <a:spAutoFit/>
          </a:bodyPr>
          <a:lstStyle/>
          <a:p>
            <a:pPr algn="ctr">
              <a:lnSpc>
                <a:spcPct val="100000"/>
              </a:lnSpc>
              <a:spcAft>
                <a:spcPts val="0"/>
              </a:spcAft>
            </a:pPr>
            <a:r>
              <a:rPr sz="1800" b="0" i="0">
                <a:solidFill>
                  <a:srgbClr val="3DCD58"/>
                </a:solidFill>
                <a:latin typeface="Segoe UI"/>
              </a:rPr>
              <a:t>→</a:t>
            </a:r>
          </a:p>
        </p:txBody>
      </p:sp>
      <p:sp>
        <p:nvSpPr>
          <p:cNvPr id="16" name="TextBox 15"/>
          <p:cNvSpPr txBox="1"/>
          <p:nvPr/>
        </p:nvSpPr>
        <p:spPr>
          <a:xfrm>
            <a:off x="8019288" y="2487168"/>
            <a:ext cx="457200" cy="292608"/>
          </a:xfrm>
          <a:prstGeom prst="rect">
            <a:avLst/>
          </a:prstGeom>
          <a:noFill/>
        </p:spPr>
        <p:txBody>
          <a:bodyPr wrap="square" anchor="t" lIns="0" rIns="0" tIns="0" bIns="0">
            <a:spAutoFit/>
          </a:bodyPr>
          <a:lstStyle/>
          <a:p>
            <a:pPr algn="ctr">
              <a:lnSpc>
                <a:spcPct val="100000"/>
              </a:lnSpc>
              <a:spcAft>
                <a:spcPts val="0"/>
              </a:spcAft>
            </a:pPr>
            <a:r>
              <a:rPr sz="1800" b="0" i="0">
                <a:solidFill>
                  <a:srgbClr val="3DCD58"/>
                </a:solidFill>
                <a:latin typeface="Segoe UI"/>
              </a:rPr>
              <a:t>→</a:t>
            </a:r>
          </a:p>
        </p:txBody>
      </p:sp>
      <p:graphicFrame>
        <p:nvGraphicFramePr>
          <p:cNvPr id="17" name="Table 16"/>
          <p:cNvGraphicFramePr>
            <a:graphicFrameLocks noGrp="1"/>
          </p:cNvGraphicFramePr>
          <p:nvPr/>
        </p:nvGraphicFramePr>
        <p:xfrm>
          <a:off x="658368" y="3364992"/>
          <a:ext cx="10874958" cy="1773936"/>
        </p:xfrm>
        <a:graphic>
          <a:graphicData uri="http://schemas.openxmlformats.org/drawingml/2006/table">
            <a:tbl>
              <a:tblPr firstRow="1" bandRow="1">
                <a:tableStyleId>{5C22544A-7EE6-4342-B048-85BDC9FD1C3A}</a:tableStyleId>
              </a:tblPr>
              <a:tblGrid>
                <a:gridCol w="2609990"/>
                <a:gridCol w="4567482"/>
                <a:gridCol w="3697486"/>
              </a:tblGrid>
              <a:tr h="347472">
                <a:tc>
                  <a:txBody>
                    <a:bodyPr wrap="square"/>
                    <a:lstStyle/>
                    <a:p>
                      <a:r>
                        <a:rPr sz="1050" b="1">
                          <a:solidFill>
                            <a:srgbClr val="FFFFFF"/>
                          </a:solidFill>
                          <a:latin typeface="Segoe UI Semibold"/>
                        </a:rPr>
                        <a:t>Tier</a:t>
                      </a:r>
                    </a:p>
                  </a:txBody>
                  <a:tcPr marL="91440" marR="91440" marT="27432" marB="27432" anchor="ctr">
                    <a:solidFill>
                      <a:srgbClr val="008A3E"/>
                    </a:solidFill>
                  </a:tcPr>
                </a:tc>
                <a:tc>
                  <a:txBody>
                    <a:bodyPr wrap="square"/>
                    <a:lstStyle/>
                    <a:p>
                      <a:r>
                        <a:rPr sz="1050" b="1">
                          <a:solidFill>
                            <a:srgbClr val="FFFFFF"/>
                          </a:solidFill>
                          <a:latin typeface="Segoe UI Semibold"/>
                        </a:rPr>
                        <a:t>Mechanism</a:t>
                      </a:r>
                    </a:p>
                  </a:txBody>
                  <a:tcPr marL="91440" marR="91440" marT="27432" marB="27432" anchor="ctr">
                    <a:solidFill>
                      <a:srgbClr val="008A3E"/>
                    </a:solidFill>
                  </a:tcPr>
                </a:tc>
                <a:tc>
                  <a:txBody>
                    <a:bodyPr wrap="square"/>
                    <a:lstStyle/>
                    <a:p>
                      <a:r>
                        <a:rPr sz="1050" b="1">
                          <a:solidFill>
                            <a:srgbClr val="FFFFFF"/>
                          </a:solidFill>
                          <a:latin typeface="Segoe UI Semibold"/>
                        </a:rPr>
                        <a:t>Status</a:t>
                      </a:r>
                    </a:p>
                  </a:txBody>
                  <a:tcPr marL="91440" marR="91440" marT="27432" marB="27432" anchor="ctr">
                    <a:solidFill>
                      <a:srgbClr val="008A3E"/>
                    </a:solidFill>
                  </a:tcPr>
                </a:tc>
              </a:tr>
              <a:tr h="475488">
                <a:tc>
                  <a:txBody>
                    <a:bodyPr wrap="square"/>
                    <a:lstStyle/>
                    <a:p>
                      <a:r>
                        <a:rPr sz="1100" b="0">
                          <a:solidFill>
                            <a:srgbClr val="1C242E"/>
                          </a:solidFill>
                          <a:latin typeface="Segoe UI"/>
                        </a:rPr>
                        <a:t>0 — Artifact  (this project)</a:t>
                      </a:r>
                    </a:p>
                  </a:txBody>
                  <a:tcPr marL="91440" marR="91440" marT="27432" marB="27432" anchor="ctr">
                    <a:solidFill>
                      <a:srgbClr val="FFFFFF"/>
                    </a:solidFill>
                  </a:tcPr>
                </a:tc>
                <a:tc>
                  <a:txBody>
                    <a:bodyPr wrap="square"/>
                    <a:lstStyle/>
                    <a:p>
                      <a:r>
                        <a:rPr sz="1100" b="0">
                          <a:solidFill>
                            <a:srgbClr val="1C242E"/>
                          </a:solidFill>
                          <a:latin typeface="Segoe UI"/>
                        </a:rPr>
                        <a:t>Generate the .eote; the engineer opens it</a:t>
                      </a:r>
                    </a:p>
                  </a:txBody>
                  <a:tcPr marL="91440" marR="91440" marT="27432" marB="27432" anchor="ctr">
                    <a:solidFill>
                      <a:srgbClr val="FFFFFF"/>
                    </a:solidFill>
                  </a:tcPr>
                </a:tc>
                <a:tc>
                  <a:txBody>
                    <a:bodyPr wrap="square"/>
                    <a:lstStyle/>
                    <a:p>
                      <a:r>
                        <a:rPr sz="1100" b="0">
                          <a:solidFill>
                            <a:srgbClr val="1C242E"/>
                          </a:solidFill>
                          <a:latin typeface="Segoe UI"/>
                        </a:rPr>
                        <a:t>Working today. Zero coupling, no licence dependency</a:t>
                      </a:r>
                    </a:p>
                  </a:txBody>
                  <a:tcPr marL="91440" marR="91440" marT="27432" marB="27432" anchor="ctr">
                    <a:solidFill>
                      <a:srgbClr val="FFFFFF"/>
                    </a:solidFill>
                  </a:tcPr>
                </a:tc>
              </a:tr>
              <a:tr h="475488">
                <a:tc>
                  <a:txBody>
                    <a:bodyPr wrap="square"/>
                    <a:lstStyle/>
                    <a:p>
                      <a:r>
                        <a:rPr sz="1100" b="0">
                          <a:solidFill>
                            <a:srgbClr val="1C242E"/>
                          </a:solidFill>
                          <a:latin typeface="Segoe UI"/>
                        </a:rPr>
                        <a:t>1 — Lua scripting</a:t>
                      </a:r>
                    </a:p>
                  </a:txBody>
                  <a:tcPr marL="91440" marR="91440" marT="27432" marB="27432" anchor="ctr">
                    <a:solidFill>
                      <a:srgbClr val="F4F8F5"/>
                    </a:solidFill>
                  </a:tcPr>
                </a:tc>
                <a:tc>
                  <a:txBody>
                    <a:bodyPr wrap="square"/>
                    <a:lstStyle/>
                    <a:p>
                      <a:r>
                        <a:rPr sz="1100" b="0">
                          <a:solidFill>
                            <a:srgbClr val="1C242E"/>
                          </a:solidFill>
                          <a:latin typeface="Segoe UI"/>
                        </a:rPr>
                        <a:t>Both layers embed Lua — the product's own sanctioned extension point</a:t>
                      </a:r>
                    </a:p>
                  </a:txBody>
                  <a:tcPr marL="91440" marR="91440" marT="27432" marB="27432" anchor="ctr">
                    <a:solidFill>
                      <a:srgbClr val="F4F8F5"/>
                    </a:solidFill>
                  </a:tcPr>
                </a:tc>
                <a:tc>
                  <a:txBody>
                    <a:bodyPr wrap="square"/>
                    <a:lstStyle/>
                    <a:p>
                      <a:r>
                        <a:rPr sz="1100" b="0">
                          <a:solidFill>
                            <a:srgbClr val="1C242E"/>
                          </a:solidFill>
                          <a:latin typeface="Segoe UI"/>
                        </a:rPr>
                        <a:t>Available, the natural next step</a:t>
                      </a:r>
                    </a:p>
                  </a:txBody>
                  <a:tcPr marL="91440" marR="91440" marT="27432" marB="27432" anchor="ctr">
                    <a:solidFill>
                      <a:srgbClr val="F4F8F5"/>
                    </a:solidFill>
                  </a:tcPr>
                </a:tc>
              </a:tr>
              <a:tr h="475488">
                <a:tc>
                  <a:txBody>
                    <a:bodyPr wrap="square"/>
                    <a:lstStyle/>
                    <a:p>
                      <a:r>
                        <a:rPr sz="1100" b="0">
                          <a:solidFill>
                            <a:srgbClr val="1C242E"/>
                          </a:solidFill>
                          <a:latin typeface="Segoe UI"/>
                        </a:rPr>
                        <a:t>2 — Managed plugin</a:t>
                      </a:r>
                    </a:p>
                  </a:txBody>
                  <a:tcPr marL="91440" marR="91440" marT="27432" marB="27432" anchor="ctr">
                    <a:solidFill>
                      <a:srgbClr val="FFFFFF"/>
                    </a:solidFill>
                  </a:tcPr>
                </a:tc>
                <a:tc>
                  <a:txBody>
                    <a:bodyPr wrap="square"/>
                    <a:lstStyle/>
                    <a:p>
                      <a:r>
                        <a:rPr sz="1100" b="0">
                          <a:solidFill>
                            <a:srgbClr val="1C242E"/>
                          </a:solidFill>
                          <a:latin typeface="Segoe UI"/>
                        </a:rPr>
                        <a:t>Buildtime is .NET, so the generator can be repackaged as an in-process C# library</a:t>
                      </a:r>
                    </a:p>
                  </a:txBody>
                  <a:tcPr marL="91440" marR="91440" marT="27432" marB="27432" anchor="ctr">
                    <a:solidFill>
                      <a:srgbClr val="FFFFFF"/>
                    </a:solidFill>
                  </a:tcPr>
                </a:tc>
                <a:tc>
                  <a:txBody>
                    <a:bodyPr wrap="square"/>
                    <a:lstStyle/>
                    <a:p>
                      <a:r>
                        <a:rPr sz="1100" b="0">
                          <a:solidFill>
                            <a:srgbClr val="1C242E"/>
                          </a:solidFill>
                          <a:latin typeface="Segoe UI"/>
                        </a:rPr>
                        <a:t>Needs Schneider's SDK and signing — the productization path</a:t>
                      </a:r>
                    </a:p>
                  </a:txBody>
                  <a:tcPr marL="91440" marR="91440" marT="27432" marB="27432" anchor="ctr">
                    <a:solidFill>
                      <a:srgbClr val="FFFFFF"/>
                    </a:solidFill>
                  </a:tcPr>
                </a:tc>
              </a:tr>
            </a:tbl>
          </a:graphicData>
        </a:graphic>
      </p:graphicFrame>
      <p:sp>
        <p:nvSpPr>
          <p:cNvPr id="18" name="TextBox 17"/>
          <p:cNvSpPr txBox="1"/>
          <p:nvPr/>
        </p:nvSpPr>
        <p:spPr>
          <a:xfrm>
            <a:off x="658368" y="5239511"/>
            <a:ext cx="10874959" cy="548640"/>
          </a:xfrm>
          <a:prstGeom prst="rect">
            <a:avLst/>
          </a:prstGeom>
          <a:noFill/>
        </p:spPr>
        <p:txBody>
          <a:bodyPr wrap="square" anchor="t" lIns="0" rIns="0" tIns="0" bIns="0">
            <a:spAutoFit/>
          </a:bodyPr>
          <a:lstStyle/>
          <a:p>
            <a:pPr algn="l">
              <a:lnSpc>
                <a:spcPct val="120000"/>
              </a:lnSpc>
              <a:spcAft>
                <a:spcPts val="600"/>
              </a:spcAft>
            </a:pPr>
            <a:r>
              <a:rPr sz="1150" b="0" i="0">
                <a:solidFill>
                  <a:srgbClr val="6C7A89"/>
                </a:solidFill>
                <a:latin typeface="Segoe UI"/>
              </a:rPr>
              <a:t>Both layers already ship Qt5WebEngine, and the parts library already includes a WebBrowser object — so this same interface can later be docked inside the engineering tool with no new technology decision.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IMPACT</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What changes on a real project</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19</a:t>
            </a:r>
          </a:p>
        </p:txBody>
      </p:sp>
      <p:graphicFrame>
        <p:nvGraphicFramePr>
          <p:cNvPr id="7" name="Table 6"/>
          <p:cNvGraphicFramePr>
            <a:graphicFrameLocks noGrp="1"/>
          </p:cNvGraphicFramePr>
          <p:nvPr/>
        </p:nvGraphicFramePr>
        <p:xfrm>
          <a:off x="658368" y="1591056"/>
          <a:ext cx="10874958" cy="2450592"/>
        </p:xfrm>
        <a:graphic>
          <a:graphicData uri="http://schemas.openxmlformats.org/drawingml/2006/table">
            <a:tbl>
              <a:tblPr firstRow="1" bandRow="1">
                <a:tableStyleId>{5C22544A-7EE6-4342-B048-85BDC9FD1C3A}</a:tableStyleId>
              </a:tblPr>
              <a:tblGrid>
                <a:gridCol w="3697486"/>
                <a:gridCol w="3044988"/>
                <a:gridCol w="4132484"/>
              </a:tblGrid>
              <a:tr h="347472">
                <a:tc>
                  <a:txBody>
                    <a:bodyPr wrap="square"/>
                    <a:lstStyle/>
                    <a:p>
                      <a:r>
                        <a:rPr sz="1150" b="1">
                          <a:solidFill>
                            <a:srgbClr val="FFFFFF"/>
                          </a:solidFill>
                          <a:latin typeface="Segoe UI Semibold"/>
                        </a:rPr>
                        <a:t/>
                      </a:r>
                    </a:p>
                  </a:txBody>
                  <a:tcPr marL="91440" marR="91440" marT="27432" marB="27432" anchor="ctr">
                    <a:solidFill>
                      <a:srgbClr val="008A3E"/>
                    </a:solidFill>
                  </a:tcPr>
                </a:tc>
                <a:tc>
                  <a:txBody>
                    <a:bodyPr wrap="square"/>
                    <a:lstStyle/>
                    <a:p>
                      <a:r>
                        <a:rPr sz="1150" b="1">
                          <a:solidFill>
                            <a:srgbClr val="FFFFFF"/>
                          </a:solidFill>
                          <a:latin typeface="Segoe UI Semibold"/>
                        </a:rPr>
                        <a:t>Today</a:t>
                      </a:r>
                    </a:p>
                  </a:txBody>
                  <a:tcPr marL="91440" marR="91440" marT="27432" marB="27432" anchor="ctr">
                    <a:solidFill>
                      <a:srgbClr val="008A3E"/>
                    </a:solidFill>
                  </a:tcPr>
                </a:tc>
                <a:tc>
                  <a:txBody>
                    <a:bodyPr wrap="square"/>
                    <a:lstStyle/>
                    <a:p>
                      <a:r>
                        <a:rPr sz="1150" b="1">
                          <a:solidFill>
                            <a:srgbClr val="FFFFFF"/>
                          </a:solidFill>
                          <a:latin typeface="Segoe UI Semibold"/>
                        </a:rPr>
                        <a:t>With HMI Copilot</a:t>
                      </a:r>
                    </a:p>
                  </a:txBody>
                  <a:tcPr marL="91440" marR="91440" marT="27432" marB="27432" anchor="ctr">
                    <a:solidFill>
                      <a:srgbClr val="008A3E"/>
                    </a:solidFill>
                  </a:tcPr>
                </a:tc>
              </a:tr>
              <a:tr h="420624">
                <a:tc>
                  <a:txBody>
                    <a:bodyPr wrap="square"/>
                    <a:lstStyle/>
                    <a:p>
                      <a:r>
                        <a:rPr sz="1200" b="0">
                          <a:solidFill>
                            <a:srgbClr val="1C242E"/>
                          </a:solidFill>
                          <a:latin typeface="Segoe UI"/>
                        </a:rPr>
                        <a:t>First screen for a new equipment type</a:t>
                      </a:r>
                    </a:p>
                  </a:txBody>
                  <a:tcPr marL="91440" marR="91440" marT="27432" marB="27432" anchor="ctr">
                    <a:solidFill>
                      <a:srgbClr val="FFFFFF"/>
                    </a:solidFill>
                  </a:tcPr>
                </a:tc>
                <a:tc>
                  <a:txBody>
                    <a:bodyPr wrap="square"/>
                    <a:lstStyle/>
                    <a:p>
                      <a:r>
                        <a:rPr sz="1200" b="0">
                          <a:solidFill>
                            <a:srgbClr val="1C242E"/>
                          </a:solidFill>
                          <a:latin typeface="Segoe UI"/>
                        </a:rPr>
                        <a:t>Hours to days</a:t>
                      </a:r>
                    </a:p>
                  </a:txBody>
                  <a:tcPr marL="91440" marR="91440" marT="27432" marB="27432" anchor="ctr">
                    <a:solidFill>
                      <a:srgbClr val="FFFFFF"/>
                    </a:solidFill>
                  </a:tcPr>
                </a:tc>
                <a:tc>
                  <a:txBody>
                    <a:bodyPr wrap="square"/>
                    <a:lstStyle/>
                    <a:p>
                      <a:r>
                        <a:rPr sz="1200" b="0">
                          <a:solidFill>
                            <a:srgbClr val="1C242E"/>
                          </a:solidFill>
                          <a:latin typeface="Segoe UI"/>
                        </a:rPr>
                        <a:t>Minutes</a:t>
                      </a:r>
                    </a:p>
                  </a:txBody>
                  <a:tcPr marL="91440" marR="91440" marT="27432" marB="27432" anchor="ctr">
                    <a:solidFill>
                      <a:srgbClr val="FFFFFF"/>
                    </a:solidFill>
                  </a:tcPr>
                </a:tc>
              </a:tr>
              <a:tr h="420624">
                <a:tc>
                  <a:txBody>
                    <a:bodyPr wrap="square"/>
                    <a:lstStyle/>
                    <a:p>
                      <a:r>
                        <a:rPr sz="1200" b="0">
                          <a:solidFill>
                            <a:srgbClr val="1C242E"/>
                          </a:solidFill>
                          <a:latin typeface="Segoe UI"/>
                        </a:rPr>
                        <a:t>Binding ~250 tags</a:t>
                      </a:r>
                    </a:p>
                  </a:txBody>
                  <a:tcPr marL="91440" marR="91440" marT="27432" marB="27432" anchor="ctr">
                    <a:solidFill>
                      <a:srgbClr val="F4F8F5"/>
                    </a:solidFill>
                  </a:tcPr>
                </a:tc>
                <a:tc>
                  <a:txBody>
                    <a:bodyPr wrap="square"/>
                    <a:lstStyle/>
                    <a:p>
                      <a:r>
                        <a:rPr sz="1200" b="0">
                          <a:solidFill>
                            <a:srgbClr val="1C242E"/>
                          </a:solidFill>
                          <a:latin typeface="Segoe UI"/>
                        </a:rPr>
                        <a:t>Manual, error-prone</a:t>
                      </a:r>
                    </a:p>
                  </a:txBody>
                  <a:tcPr marL="91440" marR="91440" marT="27432" marB="27432" anchor="ctr">
                    <a:solidFill>
                      <a:srgbClr val="F4F8F5"/>
                    </a:solidFill>
                  </a:tcPr>
                </a:tc>
                <a:tc>
                  <a:txBody>
                    <a:bodyPr wrap="square"/>
                    <a:lstStyle/>
                    <a:p>
                      <a:r>
                        <a:rPr sz="1200" b="0">
                          <a:solidFill>
                            <a:srgbClr val="1C242E"/>
                          </a:solidFill>
                          <a:latin typeface="Segoe UI"/>
                        </a:rPr>
                        <a:t>Generated, verified, visualised</a:t>
                      </a:r>
                    </a:p>
                  </a:txBody>
                  <a:tcPr marL="91440" marR="91440" marT="27432" marB="27432" anchor="ctr">
                    <a:solidFill>
                      <a:srgbClr val="F4F8F5"/>
                    </a:solidFill>
                  </a:tcPr>
                </a:tc>
              </a:tr>
              <a:tr h="420624">
                <a:tc>
                  <a:txBody>
                    <a:bodyPr wrap="square"/>
                    <a:lstStyle/>
                    <a:p>
                      <a:r>
                        <a:rPr sz="1200" b="0">
                          <a:solidFill>
                            <a:srgbClr val="1C242E"/>
                          </a:solidFill>
                          <a:latin typeface="Segoe UI"/>
                        </a:rPr>
                        <a:t>Errors found</a:t>
                      </a:r>
                    </a:p>
                  </a:txBody>
                  <a:tcPr marL="91440" marR="91440" marT="27432" marB="27432" anchor="ctr">
                    <a:solidFill>
                      <a:srgbClr val="FFFFFF"/>
                    </a:solidFill>
                  </a:tcPr>
                </a:tc>
                <a:tc>
                  <a:txBody>
                    <a:bodyPr wrap="square"/>
                    <a:lstStyle/>
                    <a:p>
                      <a:r>
                        <a:rPr sz="1200" b="0">
                          <a:solidFill>
                            <a:srgbClr val="1C242E"/>
                          </a:solidFill>
                          <a:latin typeface="Segoe UI"/>
                        </a:rPr>
                        <a:t>At commissioning, on site</a:t>
                      </a:r>
                    </a:p>
                  </a:txBody>
                  <a:tcPr marL="91440" marR="91440" marT="27432" marB="27432" anchor="ctr">
                    <a:solidFill>
                      <a:srgbClr val="FFFFFF"/>
                    </a:solidFill>
                  </a:tcPr>
                </a:tc>
                <a:tc>
                  <a:txBody>
                    <a:bodyPr wrap="square"/>
                    <a:lstStyle/>
                    <a:p>
                      <a:r>
                        <a:rPr sz="1200" b="0">
                          <a:solidFill>
                            <a:srgbClr val="1C242E"/>
                          </a:solidFill>
                          <a:latin typeface="Segoe UI"/>
                        </a:rPr>
                        <a:t>At design time, in the browser</a:t>
                      </a:r>
                    </a:p>
                  </a:txBody>
                  <a:tcPr marL="91440" marR="91440" marT="27432" marB="27432" anchor="ctr">
                    <a:solidFill>
                      <a:srgbClr val="FFFFFF"/>
                    </a:solidFill>
                  </a:tcPr>
                </a:tc>
              </a:tr>
              <a:tr h="420624">
                <a:tc>
                  <a:txBody>
                    <a:bodyPr wrap="square"/>
                    <a:lstStyle/>
                    <a:p>
                      <a:r>
                        <a:rPr sz="1200" b="0">
                          <a:solidFill>
                            <a:srgbClr val="1C242E"/>
                          </a:solidFill>
                          <a:latin typeface="Segoe UI"/>
                        </a:rPr>
                        <a:t>New-engineer ramp-up</a:t>
                      </a:r>
                    </a:p>
                  </a:txBody>
                  <a:tcPr marL="91440" marR="91440" marT="27432" marB="27432" anchor="ctr">
                    <a:solidFill>
                      <a:srgbClr val="F4F8F5"/>
                    </a:solidFill>
                  </a:tcPr>
                </a:tc>
                <a:tc>
                  <a:txBody>
                    <a:bodyPr wrap="square"/>
                    <a:lstStyle/>
                    <a:p>
                      <a:r>
                        <a:rPr sz="1200" b="0">
                          <a:solidFill>
                            <a:srgbClr val="1C242E"/>
                          </a:solidFill>
                          <a:latin typeface="Segoe UI"/>
                        </a:rPr>
                        <a:t>Months of shadowing</a:t>
                      </a:r>
                    </a:p>
                  </a:txBody>
                  <a:tcPr marL="91440" marR="91440" marT="27432" marB="27432" anchor="ctr">
                    <a:solidFill>
                      <a:srgbClr val="F4F8F5"/>
                    </a:solidFill>
                  </a:tcPr>
                </a:tc>
                <a:tc>
                  <a:txBody>
                    <a:bodyPr wrap="square"/>
                    <a:lstStyle/>
                    <a:p>
                      <a:r>
                        <a:rPr sz="1200" b="0">
                          <a:solidFill>
                            <a:srgbClr val="1C242E"/>
                          </a:solidFill>
                          <a:latin typeface="Segoe UI"/>
                        </a:rPr>
                        <a:t>Guided from day one, every decision explained</a:t>
                      </a:r>
                    </a:p>
                  </a:txBody>
                  <a:tcPr marL="91440" marR="91440" marT="27432" marB="27432" anchor="ctr">
                    <a:solidFill>
                      <a:srgbClr val="F4F8F5"/>
                    </a:solidFill>
                  </a:tcPr>
                </a:tc>
              </a:tr>
              <a:tr h="420624">
                <a:tc>
                  <a:txBody>
                    <a:bodyPr wrap="square"/>
                    <a:lstStyle/>
                    <a:p>
                      <a:r>
                        <a:rPr sz="1200" b="0">
                          <a:solidFill>
                            <a:srgbClr val="1C242E"/>
                          </a:solidFill>
                          <a:latin typeface="Segoe UI"/>
                        </a:rPr>
                        <a:t>Consistency across engineers</a:t>
                      </a:r>
                    </a:p>
                  </a:txBody>
                  <a:tcPr marL="91440" marR="91440" marT="27432" marB="27432" anchor="ctr">
                    <a:solidFill>
                      <a:srgbClr val="FFFFFF"/>
                    </a:solidFill>
                  </a:tcPr>
                </a:tc>
                <a:tc>
                  <a:txBody>
                    <a:bodyPr wrap="square"/>
                    <a:lstStyle/>
                    <a:p>
                      <a:r>
                        <a:rPr sz="1200" b="0">
                          <a:solidFill>
                            <a:srgbClr val="1C242E"/>
                          </a:solidFill>
                          <a:latin typeface="Segoe UI"/>
                        </a:rPr>
                        <a:t>Varies by author</a:t>
                      </a:r>
                    </a:p>
                  </a:txBody>
                  <a:tcPr marL="91440" marR="91440" marT="27432" marB="27432" anchor="ctr">
                    <a:solidFill>
                      <a:srgbClr val="FFFFFF"/>
                    </a:solidFill>
                  </a:tcPr>
                </a:tc>
                <a:tc>
                  <a:txBody>
                    <a:bodyPr wrap="square"/>
                    <a:lstStyle/>
                    <a:p>
                      <a:r>
                        <a:rPr sz="1200" b="0">
                          <a:solidFill>
                            <a:srgbClr val="1C242E"/>
                          </a:solidFill>
                          <a:latin typeface="Segoe UI"/>
                        </a:rPr>
                        <a:t>Enforced by shared standards</a:t>
                      </a:r>
                    </a:p>
                  </a:txBody>
                  <a:tcPr marL="91440" marR="91440" marT="27432" marB="27432" anchor="ctr">
                    <a:solidFill>
                      <a:srgbClr val="FFFFFF"/>
                    </a:solidFill>
                  </a:tcPr>
                </a:tc>
              </a:tr>
            </a:tbl>
          </a:graphicData>
        </a:graphic>
      </p:graphicFrame>
      <p:sp>
        <p:nvSpPr>
          <p:cNvPr id="8" name="TextBox 7"/>
          <p:cNvSpPr txBox="1"/>
          <p:nvPr/>
        </p:nvSpPr>
        <p:spPr>
          <a:xfrm>
            <a:off x="658368" y="4471416"/>
            <a:ext cx="10874959" cy="731520"/>
          </a:xfrm>
          <a:prstGeom prst="rect">
            <a:avLst/>
          </a:prstGeom>
          <a:noFill/>
        </p:spPr>
        <p:txBody>
          <a:bodyPr wrap="square" anchor="t" lIns="0" rIns="0" tIns="0" bIns="0">
            <a:spAutoFit/>
          </a:bodyPr>
          <a:lstStyle/>
          <a:p>
            <a:pPr algn="l">
              <a:lnSpc>
                <a:spcPct val="100000"/>
              </a:lnSpc>
              <a:spcAft>
                <a:spcPts val="600"/>
              </a:spcAft>
            </a:pPr>
            <a:r>
              <a:rPr sz="1500" b="0" i="0">
                <a:solidFill>
                  <a:srgbClr val="008A3E"/>
                </a:solidFill>
                <a:latin typeface="Segoe UI Semibold"/>
              </a:rPr>
              <a:t>This does not replace the HMI engineer.</a:t>
            </a:r>
          </a:p>
          <a:p>
            <a:pPr algn="l">
              <a:lnSpc>
                <a:spcPct val="125000"/>
              </a:lnSpc>
              <a:spcAft>
                <a:spcPts val="0"/>
              </a:spcAft>
            </a:pPr>
            <a:r>
              <a:rPr sz="1300" b="0" i="0">
                <a:solidFill>
                  <a:srgbClr val="1C242E"/>
                </a:solidFill>
                <a:latin typeface="Segoe UI"/>
              </a:rPr>
              <a:t>It encodes the senior engineer's judgement — which part to use, which alarm every pump needs, which naming standard applies — and makes it available to everyone on the team, every time.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SCOPE</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What is built, and what is designed</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20</a:t>
            </a:r>
          </a:p>
        </p:txBody>
      </p:sp>
      <p:sp>
        <p:nvSpPr>
          <p:cNvPr id="7" name="Rounded Rectangle 6"/>
          <p:cNvSpPr/>
          <p:nvPr/>
        </p:nvSpPr>
        <p:spPr>
          <a:xfrm>
            <a:off x="658368" y="1591056"/>
            <a:ext cx="5254599" cy="3154680"/>
          </a:xfrm>
          <a:prstGeom prst="roundRect">
            <a:avLst>
              <a:gd name="adj" fmla="val 50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591056"/>
            <a:ext cx="50800" cy="315468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1792224"/>
            <a:ext cx="4705959" cy="2743200"/>
          </a:xfrm>
          <a:prstGeom prst="rect">
            <a:avLst/>
          </a:prstGeom>
          <a:noFill/>
        </p:spPr>
        <p:txBody>
          <a:bodyPr wrap="square" anchor="t" lIns="0" rIns="0" tIns="0" bIns="0">
            <a:spAutoFit/>
          </a:bodyPr>
          <a:lstStyle/>
          <a:p>
            <a:pPr algn="l">
              <a:lnSpc>
                <a:spcPct val="100000"/>
              </a:lnSpc>
              <a:spcAft>
                <a:spcPts val="1000"/>
              </a:spcAft>
            </a:pPr>
            <a:r>
              <a:rPr sz="1500" b="0" i="0">
                <a:solidFill>
                  <a:srgbClr val="008A3E"/>
                </a:solidFill>
                <a:latin typeface="Segoe UI Semibold"/>
              </a:rPr>
              <a:t>Working today</a:t>
            </a:r>
          </a:p>
          <a:p>
            <a:pPr algn="l">
              <a:lnSpc>
                <a:spcPct val="118000"/>
              </a:lnSpc>
              <a:spcAft>
                <a:spcPts val="800"/>
              </a:spcAft>
            </a:pPr>
            <a:r>
              <a:rPr sz="1200" b="0" i="0">
                <a:solidFill>
                  <a:srgbClr val="1C242E"/>
                </a:solidFill>
                <a:latin typeface="Segoe UI"/>
              </a:rPr>
              <a:t>•   The .eote generator — screens, tags, alarms and bindings, packaged and opening in OTE</a:t>
            </a:r>
          </a:p>
          <a:p>
            <a:pPr algn="l">
              <a:lnSpc>
                <a:spcPct val="118000"/>
              </a:lnSpc>
              <a:spcAft>
                <a:spcPts val="800"/>
              </a:spcAft>
            </a:pPr>
            <a:r>
              <a:rPr sz="1200" b="0" i="0">
                <a:solidFill>
                  <a:srgbClr val="1C242E"/>
                </a:solidFill>
                <a:latin typeface="Segoe UI"/>
              </a:rPr>
              <a:t>•   Format and schema extraction from the shipped installation</a:t>
            </a:r>
          </a:p>
          <a:p>
            <a:pPr algn="l">
              <a:lnSpc>
                <a:spcPct val="118000"/>
              </a:lnSpc>
              <a:spcAft>
                <a:spcPts val="800"/>
              </a:spcAft>
            </a:pPr>
            <a:r>
              <a:rPr sz="1200" b="0" i="0">
                <a:solidFill>
                  <a:srgbClr val="1C242E"/>
                </a:solidFill>
                <a:latin typeface="Segoe UI"/>
              </a:rPr>
              <a:t>•   Screen.dat → pixels renderer, the same model the canvas uses</a:t>
            </a:r>
          </a:p>
          <a:p>
            <a:pPr algn="l">
              <a:lnSpc>
                <a:spcPct val="118000"/>
              </a:lnSpc>
              <a:spcAft>
                <a:spcPts val="800"/>
              </a:spcAft>
            </a:pPr>
            <a:r>
              <a:rPr sz="1200" b="0" i="0">
                <a:solidFill>
                  <a:srgbClr val="1C242E"/>
                </a:solidFill>
                <a:latin typeface="Segoe UI"/>
              </a:rPr>
              <a:t>•   Binding-map rendering from the real graph</a:t>
            </a:r>
          </a:p>
          <a:p>
            <a:pPr algn="l">
              <a:lnSpc>
                <a:spcPct val="118000"/>
              </a:lnSpc>
              <a:spcAft>
                <a:spcPts val="0"/>
              </a:spcAft>
            </a:pPr>
            <a:r>
              <a:rPr sz="1200" b="0" i="0">
                <a:solidFill>
                  <a:srgbClr val="1C242E"/>
                </a:solidFill>
                <a:latin typeface="Segoe UI"/>
              </a:rPr>
              <a:t>•   The compound-object packager, as a secondary output</a:t>
            </a:r>
          </a:p>
        </p:txBody>
      </p:sp>
      <p:sp>
        <p:nvSpPr>
          <p:cNvPr id="10" name="Rounded Rectangle 9"/>
          <p:cNvSpPr/>
          <p:nvPr/>
        </p:nvSpPr>
        <p:spPr>
          <a:xfrm>
            <a:off x="6278727" y="1591056"/>
            <a:ext cx="5254599" cy="3154680"/>
          </a:xfrm>
          <a:prstGeom prst="roundRect">
            <a:avLst>
              <a:gd name="adj" fmla="val 5000"/>
            </a:avLst>
          </a:prstGeom>
          <a:solidFill>
            <a:srgbClr val="FBF9F4"/>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78727" y="1591056"/>
            <a:ext cx="50800" cy="3154680"/>
          </a:xfrm>
          <a:prstGeom prst="rect">
            <a:avLst/>
          </a:prstGeom>
          <a:solidFill>
            <a:srgbClr val="D8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53047" y="1792224"/>
            <a:ext cx="4705959" cy="2743200"/>
          </a:xfrm>
          <a:prstGeom prst="rect">
            <a:avLst/>
          </a:prstGeom>
          <a:noFill/>
        </p:spPr>
        <p:txBody>
          <a:bodyPr wrap="square" anchor="t" lIns="0" rIns="0" tIns="0" bIns="0">
            <a:spAutoFit/>
          </a:bodyPr>
          <a:lstStyle/>
          <a:p>
            <a:pPr algn="l">
              <a:lnSpc>
                <a:spcPct val="100000"/>
              </a:lnSpc>
              <a:spcAft>
                <a:spcPts val="1000"/>
              </a:spcAft>
            </a:pPr>
            <a:r>
              <a:rPr sz="1500" b="0" i="0">
                <a:solidFill>
                  <a:srgbClr val="D88A00"/>
                </a:solidFill>
                <a:latin typeface="Segoe UI Semibold"/>
              </a:rPr>
              <a:t>Designed, not yet built</a:t>
            </a:r>
          </a:p>
          <a:p>
            <a:pPr algn="l">
              <a:lnSpc>
                <a:spcPct val="118000"/>
              </a:lnSpc>
              <a:spcAft>
                <a:spcPts val="800"/>
              </a:spcAft>
            </a:pPr>
            <a:r>
              <a:rPr sz="1200" b="0" i="0">
                <a:solidFill>
                  <a:srgbClr val="1C242E"/>
                </a:solidFill>
                <a:latin typeface="Segoe UI"/>
              </a:rPr>
              <a:t>•   The streaming web canvas — the architecture and the render model are settled; the UI is not finished</a:t>
            </a:r>
          </a:p>
          <a:p>
            <a:pPr algn="l">
              <a:lnSpc>
                <a:spcPct val="118000"/>
              </a:lnSpc>
              <a:spcAft>
                <a:spcPts val="800"/>
              </a:spcAft>
            </a:pPr>
            <a:r>
              <a:rPr sz="1200" b="0" i="0">
                <a:solidFill>
                  <a:srgbClr val="1C242E"/>
                </a:solidFill>
                <a:latin typeface="Segoe UI"/>
              </a:rPr>
              <a:t>•   Live Modbus / OPC-UA — the simulator drives the canvas today</a:t>
            </a:r>
          </a:p>
          <a:p>
            <a:pPr algn="l">
              <a:lnSpc>
                <a:spcPct val="118000"/>
              </a:lnSpc>
              <a:spcAft>
                <a:spcPts val="800"/>
              </a:spcAft>
            </a:pPr>
            <a:r>
              <a:rPr sz="1200" b="0" i="0">
                <a:solidFill>
                  <a:srgbClr val="1C242E"/>
                </a:solidFill>
                <a:latin typeface="Segoe UI"/>
              </a:rPr>
              <a:t>•   Multi-screen projects with navigation between them</a:t>
            </a:r>
          </a:p>
          <a:p>
            <a:pPr algn="l">
              <a:lnSpc>
                <a:spcPct val="118000"/>
              </a:lnSpc>
              <a:spcAft>
                <a:spcPts val="0"/>
              </a:spcAft>
            </a:pPr>
            <a:r>
              <a:rPr sz="1200" b="0" i="0">
                <a:solidFill>
                  <a:srgbClr val="1C242E"/>
                </a:solidFill>
                <a:latin typeface="Segoe UI"/>
              </a:rPr>
              <a:t>•   Customer standards packs</a:t>
            </a:r>
          </a:p>
        </p:txBody>
      </p:sp>
      <p:sp>
        <p:nvSpPr>
          <p:cNvPr id="13" name="TextBox 12"/>
          <p:cNvSpPr txBox="1"/>
          <p:nvPr/>
        </p:nvSpPr>
        <p:spPr>
          <a:xfrm>
            <a:off x="658368" y="4974336"/>
            <a:ext cx="10874959" cy="548640"/>
          </a:xfrm>
          <a:prstGeom prst="rect">
            <a:avLst/>
          </a:prstGeom>
          <a:noFill/>
        </p:spPr>
        <p:txBody>
          <a:bodyPr wrap="square" anchor="t" lIns="0" rIns="0" tIns="0" bIns="0">
            <a:spAutoFit/>
          </a:bodyPr>
          <a:lstStyle/>
          <a:p>
            <a:pPr algn="l">
              <a:lnSpc>
                <a:spcPct val="120000"/>
              </a:lnSpc>
              <a:spcAft>
                <a:spcPts val="600"/>
              </a:spcAft>
            </a:pPr>
            <a:r>
              <a:rPr sz="1150" b="0" i="0">
                <a:solidFill>
                  <a:srgbClr val="6C7A89"/>
                </a:solidFill>
                <a:latin typeface="Segoe UI"/>
              </a:rPr>
              <a:t>Deliberately out of scope: device driver configuration, PLC logic, panel download and safety-instrumented functions. Generated variables are internal, which keeps the demo hardware-free.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anchor="t" lIns="0" rIns="0" tIns="0" bIns="0">
            <a:spAutoFit/>
          </a:bodyPr>
          <a:lstStyle/>
          <a:p>
            <a:pPr algn="l">
              <a:lnSpc>
                <a:spcPct val="100000"/>
              </a:lnSpc>
              <a:spcAft>
                <a:spcPts val="0"/>
              </a:spcAft>
            </a:pPr>
            <a:r>
              <a:rPr sz="1150" b="0" i="0">
                <a:solidFill>
                  <a:srgbClr val="3DCD58"/>
                </a:solidFill>
                <a:latin typeface="Segoe UI Semibold"/>
              </a:rPr>
              <a:t>STACK</a:t>
            </a:r>
          </a:p>
        </p:txBody>
      </p:sp>
      <p:sp>
        <p:nvSpPr>
          <p:cNvPr id="3" name="TextBox 2"/>
          <p:cNvSpPr txBox="1"/>
          <p:nvPr/>
        </p:nvSpPr>
        <p:spPr>
          <a:xfrm>
            <a:off x="658368" y="749808"/>
            <a:ext cx="10874959" cy="502920"/>
          </a:xfrm>
          <a:prstGeom prst="rect">
            <a:avLst/>
          </a:prstGeom>
          <a:noFill/>
        </p:spPr>
        <p:txBody>
          <a:bodyPr wrap="square" anchor="t" lIns="0" rIns="0" tIns="0" bIns="0">
            <a:spAutoFit/>
          </a:bodyPr>
          <a:lstStyle/>
          <a:p>
            <a:pPr algn="l">
              <a:lnSpc>
                <a:spcPct val="100000"/>
              </a:lnSpc>
              <a:spcAft>
                <a:spcPts val="0"/>
              </a:spcAft>
            </a:pPr>
            <a:r>
              <a:rPr sz="3000" b="0" i="0">
                <a:solidFill>
                  <a:srgbClr val="1C242E"/>
                </a:solidFill>
                <a:latin typeface="Segoe UI Semibold"/>
              </a:rPr>
              <a:t>Technology and tools</a:t>
            </a:r>
          </a:p>
        </p:txBody>
      </p:sp>
      <p:sp>
        <p:nvSpPr>
          <p:cNvPr id="4" name="Rectangle 3"/>
          <p:cNvSpPr/>
          <p:nvPr/>
        </p:nvSpPr>
        <p:spPr>
          <a:xfrm>
            <a:off x="658368" y="1298448"/>
            <a:ext cx="822960" cy="4445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6382512"/>
            <a:ext cx="5486400" cy="219456"/>
          </a:xfrm>
          <a:prstGeom prst="rect">
            <a:avLst/>
          </a:prstGeom>
          <a:noFill/>
        </p:spPr>
        <p:txBody>
          <a:bodyPr wrap="square" anchor="t" lIns="0" rIns="0" tIns="0" bIns="0">
            <a:spAutoFit/>
          </a:bodyPr>
          <a:lstStyle/>
          <a:p>
            <a:pPr algn="l">
              <a:lnSpc>
                <a:spcPct val="100000"/>
              </a:lnSpc>
              <a:spcAft>
                <a:spcPts val="0"/>
              </a:spcAft>
            </a:pPr>
            <a:r>
              <a:rPr sz="1000" b="0" i="0">
                <a:solidFill>
                  <a:srgbClr val="DAE1E6"/>
                </a:solidFill>
                <a:latin typeface="Segoe UI"/>
              </a:rPr>
              <a:t>HMI Copilot</a:t>
            </a:r>
          </a:p>
        </p:txBody>
      </p:sp>
      <p:sp>
        <p:nvSpPr>
          <p:cNvPr id="6" name="TextBox 5"/>
          <p:cNvSpPr txBox="1"/>
          <p:nvPr/>
        </p:nvSpPr>
        <p:spPr>
          <a:xfrm>
            <a:off x="10436047" y="6382512"/>
            <a:ext cx="1097280" cy="219456"/>
          </a:xfrm>
          <a:prstGeom prst="rect">
            <a:avLst/>
          </a:prstGeom>
          <a:noFill/>
        </p:spPr>
        <p:txBody>
          <a:bodyPr wrap="square" anchor="t" lIns="0" rIns="0" tIns="0" bIns="0">
            <a:spAutoFit/>
          </a:bodyPr>
          <a:lstStyle/>
          <a:p>
            <a:pPr algn="r">
              <a:lnSpc>
                <a:spcPct val="100000"/>
              </a:lnSpc>
              <a:spcAft>
                <a:spcPts val="0"/>
              </a:spcAft>
            </a:pPr>
            <a:r>
              <a:rPr sz="1000" b="0" i="0">
                <a:solidFill>
                  <a:srgbClr val="DAE1E6"/>
                </a:solidFill>
                <a:latin typeface="Segoe UI"/>
              </a:rPr>
              <a:t>21</a:t>
            </a:r>
          </a:p>
        </p:txBody>
      </p:sp>
      <p:sp>
        <p:nvSpPr>
          <p:cNvPr id="7" name="Rounded Rectangle 6"/>
          <p:cNvSpPr/>
          <p:nvPr/>
        </p:nvSpPr>
        <p:spPr>
          <a:xfrm>
            <a:off x="658368" y="1591056"/>
            <a:ext cx="2512999" cy="1965960"/>
          </a:xfrm>
          <a:prstGeom prst="roundRect">
            <a:avLst>
              <a:gd name="adj" fmla="val 50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591056"/>
            <a:ext cx="50800" cy="196596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1792224"/>
            <a:ext cx="2055799" cy="274320"/>
          </a:xfrm>
          <a:prstGeom prst="rect">
            <a:avLst/>
          </a:prstGeom>
          <a:noFill/>
        </p:spPr>
        <p:txBody>
          <a:bodyPr wrap="square" anchor="t" lIns="0" rIns="0" tIns="0" bIns="0">
            <a:spAutoFit/>
          </a:bodyPr>
          <a:lstStyle/>
          <a:p>
            <a:pPr algn="l">
              <a:lnSpc>
                <a:spcPct val="100000"/>
              </a:lnSpc>
              <a:spcAft>
                <a:spcPts val="1000"/>
              </a:spcAft>
            </a:pPr>
            <a:r>
              <a:rPr sz="1350" b="0" i="0">
                <a:solidFill>
                  <a:srgbClr val="1C242E"/>
                </a:solidFill>
                <a:latin typeface="Segoe UI Semibold"/>
              </a:rPr>
              <a:t>Frontend</a:t>
            </a:r>
          </a:p>
        </p:txBody>
      </p:sp>
      <p:sp>
        <p:nvSpPr>
          <p:cNvPr id="10" name="TextBox 9"/>
          <p:cNvSpPr txBox="1"/>
          <p:nvPr/>
        </p:nvSpPr>
        <p:spPr>
          <a:xfrm>
            <a:off x="896112" y="2212848"/>
            <a:ext cx="2055799" cy="1188720"/>
          </a:xfrm>
          <a:prstGeom prst="rect">
            <a:avLst/>
          </a:prstGeom>
          <a:noFill/>
        </p:spPr>
        <p:txBody>
          <a:bodyPr wrap="square" anchor="t" lIns="0" rIns="0" tIns="0" bIns="0">
            <a:spAutoFit/>
          </a:bodyPr>
          <a:lstStyle/>
          <a:p>
            <a:pPr algn="l">
              <a:lnSpc>
                <a:spcPct val="100000"/>
              </a:lnSpc>
              <a:spcAft>
                <a:spcPts val="700"/>
              </a:spcAft>
            </a:pPr>
            <a:r>
              <a:rPr sz="1150" b="0" i="0">
                <a:solidFill>
                  <a:srgbClr val="6C7A89"/>
                </a:solidFill>
                <a:latin typeface="Segoe UI"/>
              </a:rPr>
              <a:t>Next.js (App Router)</a:t>
            </a:r>
          </a:p>
          <a:p>
            <a:pPr algn="l">
              <a:lnSpc>
                <a:spcPct val="100000"/>
              </a:lnSpc>
              <a:spcAft>
                <a:spcPts val="700"/>
              </a:spcAft>
            </a:pPr>
            <a:r>
              <a:rPr sz="1150" b="0" i="0">
                <a:solidFill>
                  <a:srgbClr val="6C7A89"/>
                </a:solidFill>
                <a:latin typeface="Segoe UI"/>
              </a:rPr>
              <a:t>React · TypeScript</a:t>
            </a:r>
          </a:p>
          <a:p>
            <a:pPr algn="l">
              <a:lnSpc>
                <a:spcPct val="100000"/>
              </a:lnSpc>
              <a:spcAft>
                <a:spcPts val="700"/>
              </a:spcAft>
            </a:pPr>
            <a:r>
              <a:rPr sz="1150" b="0" i="0">
                <a:solidFill>
                  <a:srgbClr val="6C7A89"/>
                </a:solidFill>
                <a:latin typeface="Segoe UI"/>
              </a:rPr>
              <a:t>Inline SVG canvas</a:t>
            </a:r>
          </a:p>
          <a:p>
            <a:pPr algn="l">
              <a:lnSpc>
                <a:spcPct val="100000"/>
              </a:lnSpc>
              <a:spcAft>
                <a:spcPts val="700"/>
              </a:spcAft>
            </a:pPr>
            <a:r>
              <a:rPr sz="1150" b="0" i="0">
                <a:solidFill>
                  <a:srgbClr val="6C7A89"/>
                </a:solidFill>
                <a:latin typeface="Segoe UI"/>
              </a:rPr>
              <a:t>Zustand + immer</a:t>
            </a:r>
          </a:p>
          <a:p>
            <a:pPr algn="l">
              <a:lnSpc>
                <a:spcPct val="100000"/>
              </a:lnSpc>
              <a:spcAft>
                <a:spcPts val="700"/>
              </a:spcAft>
            </a:pPr>
            <a:r>
              <a:rPr sz="1150" b="0" i="0">
                <a:solidFill>
                  <a:srgbClr val="6C7A89"/>
                </a:solidFill>
                <a:latin typeface="Segoe UI"/>
              </a:rPr>
              <a:t>SSE for streaming</a:t>
            </a:r>
          </a:p>
        </p:txBody>
      </p:sp>
      <p:sp>
        <p:nvSpPr>
          <p:cNvPr id="11" name="Rounded Rectangle 10"/>
          <p:cNvSpPr/>
          <p:nvPr/>
        </p:nvSpPr>
        <p:spPr>
          <a:xfrm>
            <a:off x="3445687" y="1591056"/>
            <a:ext cx="2512999" cy="1965960"/>
          </a:xfrm>
          <a:prstGeom prst="roundRect">
            <a:avLst>
              <a:gd name="adj" fmla="val 50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45687" y="1591056"/>
            <a:ext cx="50800" cy="196596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83431" y="1792224"/>
            <a:ext cx="2055799" cy="274320"/>
          </a:xfrm>
          <a:prstGeom prst="rect">
            <a:avLst/>
          </a:prstGeom>
          <a:noFill/>
        </p:spPr>
        <p:txBody>
          <a:bodyPr wrap="square" anchor="t" lIns="0" rIns="0" tIns="0" bIns="0">
            <a:spAutoFit/>
          </a:bodyPr>
          <a:lstStyle/>
          <a:p>
            <a:pPr algn="l">
              <a:lnSpc>
                <a:spcPct val="100000"/>
              </a:lnSpc>
              <a:spcAft>
                <a:spcPts val="1000"/>
              </a:spcAft>
            </a:pPr>
            <a:r>
              <a:rPr sz="1350" b="0" i="0">
                <a:solidFill>
                  <a:srgbClr val="1C242E"/>
                </a:solidFill>
                <a:latin typeface="Segoe UI Semibold"/>
              </a:rPr>
              <a:t>Intelligence</a:t>
            </a:r>
          </a:p>
        </p:txBody>
      </p:sp>
      <p:sp>
        <p:nvSpPr>
          <p:cNvPr id="14" name="TextBox 13"/>
          <p:cNvSpPr txBox="1"/>
          <p:nvPr/>
        </p:nvSpPr>
        <p:spPr>
          <a:xfrm>
            <a:off x="3683431" y="2212848"/>
            <a:ext cx="2055799" cy="1188720"/>
          </a:xfrm>
          <a:prstGeom prst="rect">
            <a:avLst/>
          </a:prstGeom>
          <a:noFill/>
        </p:spPr>
        <p:txBody>
          <a:bodyPr wrap="square" anchor="t" lIns="0" rIns="0" tIns="0" bIns="0">
            <a:spAutoFit/>
          </a:bodyPr>
          <a:lstStyle/>
          <a:p>
            <a:pPr algn="l">
              <a:lnSpc>
                <a:spcPct val="100000"/>
              </a:lnSpc>
              <a:spcAft>
                <a:spcPts val="700"/>
              </a:spcAft>
            </a:pPr>
            <a:r>
              <a:rPr sz="1150" b="0" i="0">
                <a:solidFill>
                  <a:srgbClr val="6C7A89"/>
                </a:solidFill>
                <a:latin typeface="Segoe UI"/>
              </a:rPr>
              <a:t>Claude — claude-opus-5</a:t>
            </a:r>
          </a:p>
          <a:p>
            <a:pPr algn="l">
              <a:lnSpc>
                <a:spcPct val="100000"/>
              </a:lnSpc>
              <a:spcAft>
                <a:spcPts val="700"/>
              </a:spcAft>
            </a:pPr>
            <a:r>
              <a:rPr sz="1150" b="0" i="0">
                <a:solidFill>
                  <a:srgbClr val="6C7A89"/>
                </a:solidFill>
                <a:latin typeface="Segoe UI"/>
              </a:rPr>
              <a:t>@anthropic-ai/sdk</a:t>
            </a:r>
          </a:p>
          <a:p>
            <a:pPr algn="l">
              <a:lnSpc>
                <a:spcPct val="100000"/>
              </a:lnSpc>
              <a:spcAft>
                <a:spcPts val="700"/>
              </a:spcAft>
            </a:pPr>
            <a:r>
              <a:rPr sz="1150" b="0" i="0">
                <a:solidFill>
                  <a:srgbClr val="6C7A89"/>
                </a:solidFill>
                <a:latin typeface="Segoe UI"/>
              </a:rPr>
              <a:t>messages.parse() with</a:t>
            </a:r>
          </a:p>
          <a:p>
            <a:pPr algn="l">
              <a:lnSpc>
                <a:spcPct val="100000"/>
              </a:lnSpc>
              <a:spcAft>
                <a:spcPts val="700"/>
              </a:spcAft>
            </a:pPr>
            <a:r>
              <a:rPr sz="1150" b="0" i="0">
                <a:solidFill>
                  <a:srgbClr val="6C7A89"/>
                </a:solidFill>
                <a:latin typeface="Segoe UI"/>
              </a:rPr>
              <a:t>     zodOutputFormat</a:t>
            </a:r>
          </a:p>
          <a:p>
            <a:pPr algn="l">
              <a:lnSpc>
                <a:spcPct val="100000"/>
              </a:lnSpc>
              <a:spcAft>
                <a:spcPts val="700"/>
              </a:spcAft>
            </a:pPr>
            <a:r>
              <a:rPr sz="1150" b="0" i="0">
                <a:solidFill>
                  <a:srgbClr val="6C7A89"/>
                </a:solidFill>
                <a:latin typeface="Segoe UI"/>
              </a:rPr>
              <a:t>Schema-grounded output</a:t>
            </a:r>
          </a:p>
        </p:txBody>
      </p:sp>
      <p:sp>
        <p:nvSpPr>
          <p:cNvPr id="15" name="Rounded Rectangle 14"/>
          <p:cNvSpPr/>
          <p:nvPr/>
        </p:nvSpPr>
        <p:spPr>
          <a:xfrm>
            <a:off x="6233007" y="1591056"/>
            <a:ext cx="2512999" cy="1965960"/>
          </a:xfrm>
          <a:prstGeom prst="roundRect">
            <a:avLst>
              <a:gd name="adj" fmla="val 50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233007" y="1591056"/>
            <a:ext cx="50800" cy="196596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70751" y="1792224"/>
            <a:ext cx="2055799" cy="274320"/>
          </a:xfrm>
          <a:prstGeom prst="rect">
            <a:avLst/>
          </a:prstGeom>
          <a:noFill/>
        </p:spPr>
        <p:txBody>
          <a:bodyPr wrap="square" anchor="t" lIns="0" rIns="0" tIns="0" bIns="0">
            <a:spAutoFit/>
          </a:bodyPr>
          <a:lstStyle/>
          <a:p>
            <a:pPr algn="l">
              <a:lnSpc>
                <a:spcPct val="100000"/>
              </a:lnSpc>
              <a:spcAft>
                <a:spcPts val="1000"/>
              </a:spcAft>
            </a:pPr>
            <a:r>
              <a:rPr sz="1350" b="0" i="0">
                <a:solidFill>
                  <a:srgbClr val="1C242E"/>
                </a:solidFill>
                <a:latin typeface="Segoe UI Semibold"/>
              </a:rPr>
              <a:t>Artifacts</a:t>
            </a:r>
          </a:p>
        </p:txBody>
      </p:sp>
      <p:sp>
        <p:nvSpPr>
          <p:cNvPr id="18" name="TextBox 17"/>
          <p:cNvSpPr txBox="1"/>
          <p:nvPr/>
        </p:nvSpPr>
        <p:spPr>
          <a:xfrm>
            <a:off x="6470751" y="2212848"/>
            <a:ext cx="2055799" cy="1188720"/>
          </a:xfrm>
          <a:prstGeom prst="rect">
            <a:avLst/>
          </a:prstGeom>
          <a:noFill/>
        </p:spPr>
        <p:txBody>
          <a:bodyPr wrap="square" anchor="t" lIns="0" rIns="0" tIns="0" bIns="0">
            <a:spAutoFit/>
          </a:bodyPr>
          <a:lstStyle/>
          <a:p>
            <a:pPr algn="l">
              <a:lnSpc>
                <a:spcPct val="100000"/>
              </a:lnSpc>
              <a:spcAft>
                <a:spcPts val="700"/>
              </a:spcAft>
            </a:pPr>
            <a:r>
              <a:rPr sz="1150" b="0" i="0">
                <a:solidFill>
                  <a:srgbClr val="6C7A89"/>
                </a:solidFill>
                <a:latin typeface="Segoe UI"/>
              </a:rPr>
              <a:t>jszip — the ZIP container</a:t>
            </a:r>
          </a:p>
          <a:p>
            <a:pPr algn="l">
              <a:lnSpc>
                <a:spcPct val="100000"/>
              </a:lnSpc>
              <a:spcAft>
                <a:spcPts val="700"/>
              </a:spcAft>
            </a:pPr>
            <a:r>
              <a:rPr sz="1150" b="0" i="0">
                <a:solidFill>
                  <a:srgbClr val="6C7A89"/>
                </a:solidFill>
                <a:latin typeface="Segoe UI"/>
              </a:rPr>
              <a:t>sql.js — SQLite in WASM</a:t>
            </a:r>
          </a:p>
          <a:p>
            <a:pPr algn="l">
              <a:lnSpc>
                <a:spcPct val="100000"/>
              </a:lnSpc>
              <a:spcAft>
                <a:spcPts val="700"/>
              </a:spcAft>
            </a:pPr>
            <a:r>
              <a:rPr sz="1150" b="0" i="0">
                <a:solidFill>
                  <a:srgbClr val="6C7A89"/>
                </a:solidFill>
                <a:latin typeface="Segoe UI"/>
              </a:rPr>
              <a:t>SheetJS — tag ingestion</a:t>
            </a:r>
          </a:p>
          <a:p>
            <a:pPr algn="l">
              <a:lnSpc>
                <a:spcPct val="100000"/>
              </a:lnSpc>
              <a:spcAft>
                <a:spcPts val="700"/>
              </a:spcAft>
            </a:pPr>
            <a:r>
              <a:rPr sz="1150" b="0" i="0">
                <a:solidFill>
                  <a:srgbClr val="6C7A89"/>
                </a:solidFill>
                <a:latin typeface="Segoe UI"/>
              </a:rPr>
              <a:t>Node runtime, not Edge</a:t>
            </a:r>
          </a:p>
          <a:p>
            <a:pPr algn="l">
              <a:lnSpc>
                <a:spcPct val="100000"/>
              </a:lnSpc>
              <a:spcAft>
                <a:spcPts val="700"/>
              </a:spcAft>
            </a:pPr>
            <a:r>
              <a:rPr sz="1150" b="0" i="0">
                <a:solidFill>
                  <a:srgbClr val="6C7A89"/>
                </a:solidFill>
                <a:latin typeface="Segoe UI"/>
              </a:rPr>
              <a:t>JSON + SQLite output</a:t>
            </a:r>
          </a:p>
        </p:txBody>
      </p:sp>
      <p:sp>
        <p:nvSpPr>
          <p:cNvPr id="19" name="Rounded Rectangle 18"/>
          <p:cNvSpPr/>
          <p:nvPr/>
        </p:nvSpPr>
        <p:spPr>
          <a:xfrm>
            <a:off x="9020327" y="1591056"/>
            <a:ext cx="2512999" cy="1965960"/>
          </a:xfrm>
          <a:prstGeom prst="roundRect">
            <a:avLst>
              <a:gd name="adj" fmla="val 5000"/>
            </a:avLst>
          </a:prstGeom>
          <a:solidFill>
            <a:srgbClr val="F4F8F5"/>
          </a:solidFill>
          <a:ln w="12700">
            <a:solidFill>
              <a:srgbClr val="DAE1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9020327" y="1591056"/>
            <a:ext cx="50800" cy="1965960"/>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258071" y="1792224"/>
            <a:ext cx="2055799" cy="274320"/>
          </a:xfrm>
          <a:prstGeom prst="rect">
            <a:avLst/>
          </a:prstGeom>
          <a:noFill/>
        </p:spPr>
        <p:txBody>
          <a:bodyPr wrap="square" anchor="t" lIns="0" rIns="0" tIns="0" bIns="0">
            <a:spAutoFit/>
          </a:bodyPr>
          <a:lstStyle/>
          <a:p>
            <a:pPr algn="l">
              <a:lnSpc>
                <a:spcPct val="100000"/>
              </a:lnSpc>
              <a:spcAft>
                <a:spcPts val="1000"/>
              </a:spcAft>
            </a:pPr>
            <a:r>
              <a:rPr sz="1350" b="0" i="0">
                <a:solidFill>
                  <a:srgbClr val="1C242E"/>
                </a:solidFill>
                <a:latin typeface="Segoe UI Semibold"/>
              </a:rPr>
              <a:t>Target</a:t>
            </a:r>
          </a:p>
        </p:txBody>
      </p:sp>
      <p:sp>
        <p:nvSpPr>
          <p:cNvPr id="22" name="TextBox 21"/>
          <p:cNvSpPr txBox="1"/>
          <p:nvPr/>
        </p:nvSpPr>
        <p:spPr>
          <a:xfrm>
            <a:off x="9258071" y="2212848"/>
            <a:ext cx="2055799" cy="1188720"/>
          </a:xfrm>
          <a:prstGeom prst="rect">
            <a:avLst/>
          </a:prstGeom>
          <a:noFill/>
        </p:spPr>
        <p:txBody>
          <a:bodyPr wrap="square" anchor="t" lIns="0" rIns="0" tIns="0" bIns="0">
            <a:spAutoFit/>
          </a:bodyPr>
          <a:lstStyle/>
          <a:p>
            <a:pPr algn="l">
              <a:lnSpc>
                <a:spcPct val="100000"/>
              </a:lnSpc>
              <a:spcAft>
                <a:spcPts val="700"/>
              </a:spcAft>
            </a:pPr>
            <a:r>
              <a:rPr sz="1150" b="0" i="0">
                <a:solidFill>
                  <a:srgbClr val="6C7A89"/>
                </a:solidFill>
                <a:latin typeface="Segoe UI"/>
              </a:rPr>
              <a:t>EcoStruxure OTE 4.4</a:t>
            </a:r>
          </a:p>
          <a:p>
            <a:pPr algn="l">
              <a:lnSpc>
                <a:spcPct val="100000"/>
              </a:lnSpc>
              <a:spcAft>
                <a:spcPts val="700"/>
              </a:spcAft>
            </a:pPr>
            <a:r>
              <a:rPr sz="1150" b="0" i="0">
                <a:solidFill>
                  <a:srgbClr val="6C7A89"/>
                </a:solidFill>
                <a:latin typeface="Segoe UI"/>
              </a:rPr>
              <a:t>PropertyDefinitions schemas</a:t>
            </a:r>
          </a:p>
          <a:p>
            <a:pPr algn="l">
              <a:lnSpc>
                <a:spcPct val="100000"/>
              </a:lnSpc>
              <a:spcAft>
                <a:spcPts val="700"/>
              </a:spcAft>
            </a:pPr>
            <a:r>
              <a:rPr sz="1150" b="0" i="0">
                <a:solidFill>
                  <a:srgbClr val="6C7A89"/>
                </a:solidFill>
                <a:latin typeface="Segoe UI"/>
              </a:rPr>
              <a:t>50 shipped part types</a:t>
            </a:r>
          </a:p>
          <a:p>
            <a:pPr algn="l">
              <a:lnSpc>
                <a:spcPct val="100000"/>
              </a:lnSpc>
              <a:spcAft>
                <a:spcPts val="700"/>
              </a:spcAft>
            </a:pPr>
            <a:r>
              <a:rPr sz="1150" b="0" i="0">
                <a:solidFill>
                  <a:srgbClr val="6C7A89"/>
                </a:solidFill>
                <a:latin typeface="Segoe UI"/>
              </a:rPr>
              <a:t>ColorSet 4 palette</a:t>
            </a:r>
          </a:p>
          <a:p>
            <a:pPr algn="l">
              <a:lnSpc>
                <a:spcPct val="100000"/>
              </a:lnSpc>
              <a:spcAft>
                <a:spcPts val="700"/>
              </a:spcAft>
            </a:pPr>
            <a:r>
              <a:rPr sz="1150" b="0" i="0">
                <a:solidFill>
                  <a:srgbClr val="6C7A89"/>
                </a:solidFill>
                <a:latin typeface="Segoe UI"/>
              </a:rPr>
              <a:t>Modbus / OPC-UA (sim)</a:t>
            </a:r>
          </a:p>
        </p:txBody>
      </p:sp>
      <p:sp>
        <p:nvSpPr>
          <p:cNvPr id="23" name="TextBox 22"/>
          <p:cNvSpPr txBox="1"/>
          <p:nvPr/>
        </p:nvSpPr>
        <p:spPr>
          <a:xfrm>
            <a:off x="658368" y="3877056"/>
            <a:ext cx="10874959" cy="822960"/>
          </a:xfrm>
          <a:prstGeom prst="rect">
            <a:avLst/>
          </a:prstGeom>
          <a:noFill/>
        </p:spPr>
        <p:txBody>
          <a:bodyPr wrap="square" anchor="t" lIns="0" rIns="0" tIns="0" bIns="0">
            <a:spAutoFit/>
          </a:bodyPr>
          <a:lstStyle/>
          <a:p>
            <a:pPr algn="l">
              <a:lnSpc>
                <a:spcPct val="125000"/>
              </a:lnSpc>
              <a:spcAft>
                <a:spcPts val="600"/>
              </a:spcAft>
            </a:pPr>
            <a:r>
              <a:rPr sz="1250" b="0" i="0">
                <a:solidFill>
                  <a:srgbClr val="1C242E"/>
                </a:solidFill>
                <a:latin typeface="Segoe UI"/>
              </a:rPr>
              <a:t>Nothing in the artifact path needs a native module: sql.js is WebAssembly and jszip is pure JavaScript, so the packager that writes a real EcoStruxure project runs anywhere Node runs — including serverless.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A1B"/>
        </a:solidFill>
        <a:effectLst/>
      </p:bgPr>
    </p:bg>
    <p:spTree>
      <p:nvGrpSpPr>
        <p:cNvPr id="1" name=""/>
        <p:cNvGrpSpPr/>
        <p:nvPr/>
      </p:nvGrpSpPr>
      <p:grpSpPr/>
      <p:sp>
        <p:nvSpPr>
          <p:cNvPr id="2" name="Rectangle 1"/>
          <p:cNvSpPr/>
          <p:nvPr/>
        </p:nvSpPr>
        <p:spPr>
          <a:xfrm>
            <a:off x="0" y="6729984"/>
            <a:ext cx="12191695" cy="128016"/>
          </a:xfrm>
          <a:prstGeom prst="rect">
            <a:avLst/>
          </a:prstGeom>
          <a:solidFill>
            <a:srgbClr val="3DCD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1417320"/>
            <a:ext cx="10874959" cy="274320"/>
          </a:xfrm>
          <a:prstGeom prst="rect">
            <a:avLst/>
          </a:prstGeom>
          <a:noFill/>
        </p:spPr>
        <p:txBody>
          <a:bodyPr wrap="square" anchor="t" lIns="0" rIns="0" tIns="0" bIns="0">
            <a:spAutoFit/>
          </a:bodyPr>
          <a:lstStyle/>
          <a:p>
            <a:pPr algn="l">
              <a:lnSpc>
                <a:spcPct val="100000"/>
              </a:lnSpc>
              <a:spcAft>
                <a:spcPts val="1400"/>
              </a:spcAft>
            </a:pPr>
            <a:r>
              <a:rPr sz="1300" b="0" i="0">
                <a:solidFill>
                  <a:srgbClr val="3DCD58"/>
                </a:solidFill>
                <a:latin typeface="Segoe UI Semibold"/>
              </a:rPr>
              <a:t>WHAT HAPPENS NEXT</a:t>
            </a:r>
          </a:p>
        </p:txBody>
      </p:sp>
      <p:sp>
        <p:nvSpPr>
          <p:cNvPr id="4" name="TextBox 3"/>
          <p:cNvSpPr txBox="1"/>
          <p:nvPr/>
        </p:nvSpPr>
        <p:spPr>
          <a:xfrm>
            <a:off x="658368" y="1965960"/>
            <a:ext cx="3200400" cy="274320"/>
          </a:xfrm>
          <a:prstGeom prst="rect">
            <a:avLst/>
          </a:prstGeom>
          <a:noFill/>
        </p:spPr>
        <p:txBody>
          <a:bodyPr wrap="square" anchor="t" lIns="0" rIns="0" tIns="0" bIns="0">
            <a:spAutoFit/>
          </a:bodyPr>
          <a:lstStyle/>
          <a:p>
            <a:pPr algn="l">
              <a:lnSpc>
                <a:spcPct val="100000"/>
              </a:lnSpc>
              <a:spcAft>
                <a:spcPts val="0"/>
              </a:spcAft>
            </a:pPr>
            <a:r>
              <a:rPr sz="1350" b="0" i="0">
                <a:solidFill>
                  <a:srgbClr val="FFFFFF"/>
                </a:solidFill>
                <a:latin typeface="Segoe UI Semibold"/>
              </a:rPr>
              <a:t>Standards packs</a:t>
            </a:r>
          </a:p>
        </p:txBody>
      </p:sp>
      <p:sp>
        <p:nvSpPr>
          <p:cNvPr id="5" name="TextBox 4"/>
          <p:cNvSpPr txBox="1"/>
          <p:nvPr/>
        </p:nvSpPr>
        <p:spPr>
          <a:xfrm>
            <a:off x="4041648" y="1993392"/>
            <a:ext cx="7498079" cy="365760"/>
          </a:xfrm>
          <a:prstGeom prst="rect">
            <a:avLst/>
          </a:prstGeom>
          <a:noFill/>
        </p:spPr>
        <p:txBody>
          <a:bodyPr wrap="square" anchor="t" lIns="0" rIns="0" tIns="0" bIns="0">
            <a:spAutoFit/>
          </a:bodyPr>
          <a:lstStyle/>
          <a:p>
            <a:pPr algn="l">
              <a:lnSpc>
                <a:spcPct val="115000"/>
              </a:lnSpc>
              <a:spcAft>
                <a:spcPts val="0"/>
              </a:spcAft>
            </a:pPr>
            <a:r>
              <a:rPr sz="1200" b="0" i="0">
                <a:solidFill>
                  <a:srgbClr val="A9BDB1"/>
                </a:solidFill>
                <a:latin typeface="Segoe UI"/>
              </a:rPr>
              <a:t>a customer loads their own library and naming rules, and the Copilot generates in their house style</a:t>
            </a:r>
          </a:p>
        </p:txBody>
      </p:sp>
      <p:sp>
        <p:nvSpPr>
          <p:cNvPr id="6" name="TextBox 5"/>
          <p:cNvSpPr txBox="1"/>
          <p:nvPr/>
        </p:nvSpPr>
        <p:spPr>
          <a:xfrm>
            <a:off x="658368" y="2532888"/>
            <a:ext cx="3200400" cy="274320"/>
          </a:xfrm>
          <a:prstGeom prst="rect">
            <a:avLst/>
          </a:prstGeom>
          <a:noFill/>
        </p:spPr>
        <p:txBody>
          <a:bodyPr wrap="square" anchor="t" lIns="0" rIns="0" tIns="0" bIns="0">
            <a:spAutoFit/>
          </a:bodyPr>
          <a:lstStyle/>
          <a:p>
            <a:pPr algn="l">
              <a:lnSpc>
                <a:spcPct val="100000"/>
              </a:lnSpc>
              <a:spcAft>
                <a:spcPts val="0"/>
              </a:spcAft>
            </a:pPr>
            <a:r>
              <a:rPr sz="1350" b="0" i="0">
                <a:solidFill>
                  <a:srgbClr val="FFFFFF"/>
                </a:solidFill>
                <a:latin typeface="Segoe UI Semibold"/>
              </a:rPr>
              <a:t>Brownfield mode</a:t>
            </a:r>
          </a:p>
        </p:txBody>
      </p:sp>
      <p:sp>
        <p:nvSpPr>
          <p:cNvPr id="7" name="TextBox 6"/>
          <p:cNvSpPr txBox="1"/>
          <p:nvPr/>
        </p:nvSpPr>
        <p:spPr>
          <a:xfrm>
            <a:off x="4041648" y="2560320"/>
            <a:ext cx="7498079" cy="365760"/>
          </a:xfrm>
          <a:prstGeom prst="rect">
            <a:avLst/>
          </a:prstGeom>
          <a:noFill/>
        </p:spPr>
        <p:txBody>
          <a:bodyPr wrap="square" anchor="t" lIns="0" rIns="0" tIns="0" bIns="0">
            <a:spAutoFit/>
          </a:bodyPr>
          <a:lstStyle/>
          <a:p>
            <a:pPr algn="l">
              <a:lnSpc>
                <a:spcPct val="115000"/>
              </a:lnSpc>
              <a:spcAft>
                <a:spcPts val="0"/>
              </a:spcAft>
            </a:pPr>
            <a:r>
              <a:rPr sz="1200" b="0" i="0">
                <a:solidFill>
                  <a:srgbClr val="A9BDB1"/>
                </a:solidFill>
                <a:latin typeface="Segoe UI"/>
              </a:rPr>
              <a:t>ingest an existing project, report standards drift, propose fixes</a:t>
            </a:r>
          </a:p>
        </p:txBody>
      </p:sp>
      <p:sp>
        <p:nvSpPr>
          <p:cNvPr id="8" name="TextBox 7"/>
          <p:cNvSpPr txBox="1"/>
          <p:nvPr/>
        </p:nvSpPr>
        <p:spPr>
          <a:xfrm>
            <a:off x="658368" y="3099816"/>
            <a:ext cx="3200400" cy="274320"/>
          </a:xfrm>
          <a:prstGeom prst="rect">
            <a:avLst/>
          </a:prstGeom>
          <a:noFill/>
        </p:spPr>
        <p:txBody>
          <a:bodyPr wrap="square" anchor="t" lIns="0" rIns="0" tIns="0" bIns="0">
            <a:spAutoFit/>
          </a:bodyPr>
          <a:lstStyle/>
          <a:p>
            <a:pPr algn="l">
              <a:lnSpc>
                <a:spcPct val="100000"/>
              </a:lnSpc>
              <a:spcAft>
                <a:spcPts val="0"/>
              </a:spcAft>
            </a:pPr>
            <a:r>
              <a:rPr sz="1350" b="0" i="0">
                <a:solidFill>
                  <a:srgbClr val="FFFFFF"/>
                </a:solidFill>
                <a:latin typeface="Segoe UI Semibold"/>
              </a:rPr>
              <a:t>Machine Expert round-trip</a:t>
            </a:r>
          </a:p>
        </p:txBody>
      </p:sp>
      <p:sp>
        <p:nvSpPr>
          <p:cNvPr id="9" name="TextBox 8"/>
          <p:cNvSpPr txBox="1"/>
          <p:nvPr/>
        </p:nvSpPr>
        <p:spPr>
          <a:xfrm>
            <a:off x="4041648" y="3127248"/>
            <a:ext cx="7498079" cy="365760"/>
          </a:xfrm>
          <a:prstGeom prst="rect">
            <a:avLst/>
          </a:prstGeom>
          <a:noFill/>
        </p:spPr>
        <p:txBody>
          <a:bodyPr wrap="square" anchor="t" lIns="0" rIns="0" tIns="0" bIns="0">
            <a:spAutoFit/>
          </a:bodyPr>
          <a:lstStyle/>
          <a:p>
            <a:pPr algn="l">
              <a:lnSpc>
                <a:spcPct val="115000"/>
              </a:lnSpc>
              <a:spcAft>
                <a:spcPts val="0"/>
              </a:spcAft>
            </a:pPr>
            <a:r>
              <a:rPr sz="1200" b="0" i="0">
                <a:solidFill>
                  <a:srgbClr val="A9BDB1"/>
                </a:solidFill>
                <a:latin typeface="Segoe UI"/>
              </a:rPr>
              <a:t>regenerate screens when the PLC symbols change</a:t>
            </a:r>
          </a:p>
        </p:txBody>
      </p:sp>
      <p:sp>
        <p:nvSpPr>
          <p:cNvPr id="10" name="TextBox 9"/>
          <p:cNvSpPr txBox="1"/>
          <p:nvPr/>
        </p:nvSpPr>
        <p:spPr>
          <a:xfrm>
            <a:off x="658368" y="3666744"/>
            <a:ext cx="3200400" cy="274320"/>
          </a:xfrm>
          <a:prstGeom prst="rect">
            <a:avLst/>
          </a:prstGeom>
          <a:noFill/>
        </p:spPr>
        <p:txBody>
          <a:bodyPr wrap="square" anchor="t" lIns="0" rIns="0" tIns="0" bIns="0">
            <a:spAutoFit/>
          </a:bodyPr>
          <a:lstStyle/>
          <a:p>
            <a:pPr algn="l">
              <a:lnSpc>
                <a:spcPct val="100000"/>
              </a:lnSpc>
              <a:spcAft>
                <a:spcPts val="0"/>
              </a:spcAft>
            </a:pPr>
            <a:r>
              <a:rPr sz="1350" b="0" i="0">
                <a:solidFill>
                  <a:srgbClr val="FFFFFF"/>
                </a:solidFill>
                <a:latin typeface="Segoe UI Semibold"/>
              </a:rPr>
              <a:t>Commissioning assistant</a:t>
            </a:r>
          </a:p>
        </p:txBody>
      </p:sp>
      <p:sp>
        <p:nvSpPr>
          <p:cNvPr id="11" name="TextBox 10"/>
          <p:cNvSpPr txBox="1"/>
          <p:nvPr/>
        </p:nvSpPr>
        <p:spPr>
          <a:xfrm>
            <a:off x="4041648" y="3694176"/>
            <a:ext cx="7498079" cy="365760"/>
          </a:xfrm>
          <a:prstGeom prst="rect">
            <a:avLst/>
          </a:prstGeom>
          <a:noFill/>
        </p:spPr>
        <p:txBody>
          <a:bodyPr wrap="square" anchor="t" lIns="0" rIns="0" tIns="0" bIns="0">
            <a:spAutoFit/>
          </a:bodyPr>
          <a:lstStyle/>
          <a:p>
            <a:pPr algn="l">
              <a:lnSpc>
                <a:spcPct val="115000"/>
              </a:lnSpc>
              <a:spcAft>
                <a:spcPts val="0"/>
              </a:spcAft>
            </a:pPr>
            <a:r>
              <a:rPr sz="1200" b="0" i="0">
                <a:solidFill>
                  <a:srgbClr val="A9BDB1"/>
                </a:solidFill>
                <a:latin typeface="Segoe UI"/>
              </a:rPr>
              <a:t>replay logged values through the live canvas to reproduce field issues at a desk</a:t>
            </a:r>
          </a:p>
        </p:txBody>
      </p:sp>
      <p:sp>
        <p:nvSpPr>
          <p:cNvPr id="12" name="Rectangle 11"/>
          <p:cNvSpPr/>
          <p:nvPr/>
        </p:nvSpPr>
        <p:spPr>
          <a:xfrm>
            <a:off x="658368" y="4617720"/>
            <a:ext cx="10874959" cy="19050"/>
          </a:xfrm>
          <a:prstGeom prst="rect">
            <a:avLst/>
          </a:prstGeom>
          <a:solidFill>
            <a:srgbClr val="2A45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8368" y="4983480"/>
            <a:ext cx="10874959" cy="640080"/>
          </a:xfrm>
          <a:prstGeom prst="rect">
            <a:avLst/>
          </a:prstGeom>
          <a:noFill/>
        </p:spPr>
        <p:txBody>
          <a:bodyPr wrap="square" anchor="t" lIns="0" rIns="0" tIns="0" bIns="0">
            <a:spAutoFit/>
          </a:bodyPr>
          <a:lstStyle/>
          <a:p>
            <a:pPr algn="l">
              <a:lnSpc>
                <a:spcPct val="100000"/>
              </a:lnSpc>
              <a:spcAft>
                <a:spcPts val="800"/>
              </a:spcAft>
            </a:pPr>
            <a:r>
              <a:rPr sz="4000" b="0" i="0">
                <a:solidFill>
                  <a:srgbClr val="FFFFFF"/>
                </a:solidFill>
                <a:latin typeface="Segoe UI Semibold"/>
              </a:rPr>
              <a:t>AI proposes.  You see.  You decide.</a:t>
            </a:r>
          </a:p>
        </p:txBody>
      </p:sp>
      <p:sp>
        <p:nvSpPr>
          <p:cNvPr id="14" name="TextBox 13"/>
          <p:cNvSpPr txBox="1"/>
          <p:nvPr/>
        </p:nvSpPr>
        <p:spPr>
          <a:xfrm>
            <a:off x="658368" y="5715000"/>
            <a:ext cx="8229600" cy="365760"/>
          </a:xfrm>
          <a:prstGeom prst="rect">
            <a:avLst/>
          </a:prstGeom>
          <a:noFill/>
        </p:spPr>
        <p:txBody>
          <a:bodyPr wrap="square" anchor="t" lIns="0" rIns="0" tIns="0" bIns="0">
            <a:spAutoFit/>
          </a:bodyPr>
          <a:lstStyle/>
          <a:p>
            <a:pPr algn="l">
              <a:lnSpc>
                <a:spcPct val="100000"/>
              </a:lnSpc>
              <a:spcAft>
                <a:spcPts val="0"/>
              </a:spcAft>
            </a:pPr>
            <a:r>
              <a:rPr sz="1500" b="0" i="0">
                <a:solidFill>
                  <a:srgbClr val="3DCD58"/>
                </a:solidFill>
                <a:latin typeface="Segoe UI"/>
              </a:rPr>
              <a:t>A complete HMI — in one file that opens in EcoStruxure Operator Terminal Expert.</a:t>
            </a:r>
          </a:p>
        </p:txBody>
      </p:sp>
      <p:sp>
        <p:nvSpPr>
          <p:cNvPr id="15" name="TextBox 14"/>
          <p:cNvSpPr txBox="1"/>
          <p:nvPr/>
        </p:nvSpPr>
        <p:spPr>
          <a:xfrm>
            <a:off x="8424367" y="5733288"/>
            <a:ext cx="3108960" cy="365760"/>
          </a:xfrm>
          <a:prstGeom prst="rect">
            <a:avLst/>
          </a:prstGeom>
          <a:noFill/>
        </p:spPr>
        <p:txBody>
          <a:bodyPr wrap="square" anchor="t" lIns="0" rIns="0" tIns="0" bIns="0">
            <a:spAutoFit/>
          </a:bodyPr>
          <a:lstStyle/>
          <a:p>
            <a:pPr algn="r">
              <a:lnSpc>
                <a:spcPct val="100000"/>
              </a:lnSpc>
              <a:spcAft>
                <a:spcPts val="0"/>
              </a:spcAft>
            </a:pPr>
            <a:r>
              <a:rPr sz="1200" b="0" i="0">
                <a:solidFill>
                  <a:srgbClr val="6E8677"/>
                </a:solidFill>
                <a:latin typeface="Segoe UI"/>
              </a:rPr>
              <a:t>&lt;Team name&gt;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