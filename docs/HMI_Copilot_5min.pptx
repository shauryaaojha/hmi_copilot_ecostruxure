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0:00–0:20 · HOOK. Read the sentence, then the numbers, then the last line slowly. Two seconds of silence. Do not explain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0:20–0:50 · Do not read the table. Land the black bar: this is a safety problem, not only a productivity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0:50–1:15 · The product in one diagram. Stress the last line — the human is in the loop by design, not by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1:15–1:40 · The enabling insight. Say: we asked the one question that kills this category of idea, and we asked 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1:40–2:15 · The longest non-demo slide. Trace the flow left to right once, then land the green line — that is the credibility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2:15–2:40 · Switch to the live app here if it is up. Otherwise this slide is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2:40–3:02 · Point at the step details. This is the difference between a black box and a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3:02–3:24 · The highest-value view. Say: this is the stated problem, and this is it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3:24–3:46 · Let it run in silence for a few seconds. The alarms firing is 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3:46–4:10 · If a judge takes one thing away, it is this slide. Offer to open the file on their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4:10–4:45 · Integrators already have the licensed OTE install the tool needs. Customer and technical precondition are the same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4:45–5:00 · Close on the invitation.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DCD58"/>
                </a:solidFill>
                <a:latin typeface="Arial"/>
              </a:rPr>
              <a:t>SCHNEIDER ELECTRIC  ·  HMI HACKATHON  ·  PROBLEM STATEMENT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HMI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423160"/>
            <a:ext cx="10149840" cy="73152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C5CED8"/>
                </a:solidFill>
                <a:latin typeface="Arial"/>
              </a:rPr>
              <a:t>“Build the whole plant: an overview plus a screen for each area, with pump status, flows, levels and alarms”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29000"/>
            <a:ext cx="1869033" cy="137160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39312"/>
            <a:ext cx="18690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3DCD58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279392"/>
            <a:ext cx="1722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screens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6041" y="3429000"/>
            <a:ext cx="1869033" cy="137160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6041" y="3639312"/>
            <a:ext cx="18690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3DCD58"/>
                </a:solidFill>
                <a:latin typeface="Arial"/>
              </a:rPr>
              <a:t>560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9193" y="4279392"/>
            <a:ext cx="1722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objects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6243" y="3429000"/>
            <a:ext cx="1869033" cy="137160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6243" y="3639312"/>
            <a:ext cx="18690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3DCD58"/>
                </a:solidFill>
                <a:latin typeface="Arial"/>
              </a:rPr>
              <a:t>232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9395" y="4279392"/>
            <a:ext cx="1722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alarms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6444" y="3429000"/>
            <a:ext cx="1869033" cy="137160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6444" y="3639312"/>
            <a:ext cx="18690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3DCD58"/>
                </a:solidFill>
                <a:latin typeface="Arial"/>
              </a:rPr>
              <a:t>1,248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596" y="4279392"/>
            <a:ext cx="1722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tags bound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6646" y="3429000"/>
            <a:ext cx="1869033" cy="137160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6646" y="3639312"/>
            <a:ext cx="18690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3DCD58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9798" y="4279392"/>
            <a:ext cx="1722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by hand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38928"/>
            <a:ext cx="12801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And the file opens in EcoStruxure Operator Terminal Expert 4.4.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CD58"/>
                </a:solidFill>
                <a:latin typeface="Arial"/>
              </a:rPr>
              <a:t>It was never saved by the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Today this is done by hand,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9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228"/>
                <a:gridCol w="782269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The cost the brief names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it looks like on a real project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6"/>
                          </a:solidFill>
                          <a:latin typeface="Arial"/>
                        </a:rPr>
                        <a:t>Manual screen development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F26"/>
                          </a:solidFill>
                          <a:latin typeface="Arial"/>
                        </a:rPr>
                        <a:t>Hand-place every lamp, bargraph and trend. Then repeat it for 40 near-identical equipment screens.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6"/>
                          </a:solidFill>
                          <a:latin typeface="Arial"/>
                        </a:rPr>
                        <a:t>Expert-driven configuration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F26"/>
                          </a:solidFill>
                          <a:latin typeface="Arial"/>
                        </a:rPr>
                        <a:t>Only senior engineers know which object, animation and colour standard applies. Juniors block on them.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6"/>
                          </a:solidFill>
                          <a:latin typeface="Arial"/>
                        </a:rPr>
                        <a:t>Complex tag integration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F26"/>
                          </a:solidFill>
                          <a:latin typeface="Arial"/>
                        </a:rPr>
                        <a:t>Hundreds of PLC symbols mapped by hand onto object properties, one property sheet at a time.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6"/>
                          </a:solidFill>
                          <a:latin typeface="Arial"/>
                        </a:rPr>
                        <a:t>Inconsistency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F26"/>
                          </a:solidFill>
                          <a:latin typeface="Arial"/>
                        </a:rPr>
                        <a:t>Two engineers on one project produce two differently-named, differently-coloured HMIs.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754879"/>
            <a:ext cx="10789920" cy="9144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56047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 wrong binding is not a drawing error. It is pump 2’s flow under pump 1’s label, found during an upset.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A tag export and a sentence become a finished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789920" cy="2414016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65960"/>
            <a:ext cx="1033272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PLC tag export  (.csv / .xlsx / symbol file) 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                     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"Two pump station with running lamps,        ---+---&gt; HMI COPILOT ---&gt; project.eote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a flow display and a high-level alarm"         |          |           validation report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                                           |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Company standards (naming, colours, layout) ----+          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                                             LIVE CANVAS + BINDING MAP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                                             (the engineer sees it and steers 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1F26"/>
                </a:solidFill>
                <a:latin typeface="Arial"/>
              </a:rPr>
              <a:t>One file. File ▸ Open Project, and the HMI is there — screens drawn, tags declared, alarms configured, bindings wired. Nothing to import, nothing to assemble.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The engineer stays in control throughout: the AI proposes, the canvas makes the proposal legible, and a human accepts, edits or redirects. It never deploys anything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03 · THE PROJECT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Why this is possible at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789920" cy="2414016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20240"/>
            <a:ext cx="1033272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&lt;project&gt;.eote                  ZIP    (nested entries use BACKSLASH separators)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Project.dat, Target.dat    JSON   project identity, panel model, resolution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Variables.db               SQLite the tags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Alarm.db                   SQLite alarm groups and alarms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Recipe.db, Security.db ... SQLite other subsystems, passed through untouched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Bindings.dat               JSON   Sources[] -&gt; Bindings[] -&gt; Targets[] graph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Screens\Hierarchy.dat      JSON   screen order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+-- Screens\&lt;guid&gt;\Screen.dat  JSON   the object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1A1F26"/>
                </a:solidFill>
                <a:latin typeface="Arial"/>
              </a:rPr>
              <a:t>Plain JSON and plain SQLite. No signature. No encryption. Nothing to defeat.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Bindings are declarative — wiring a tag to a display is one JSON object. And the geometry is absolute Location, Width and Height inside a ViewBox, which maps one-to-one onto SVG. That last property is what lets one model drive both the preview and the file.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DCD58"/>
                </a:solidFill>
                <a:latin typeface="Arial"/>
              </a:rPr>
              <a:t>So the first thing we did was not design a UI. It was to prove a project could be written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04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Eight stages, one streaming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10789920" cy="4718304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01952"/>
            <a:ext cx="10332720" cy="4443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+---------------------------------------------------------------------------+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WEB CLIENT   Conversation . Live HMI canvas . Binding map . Validation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+-------------------------------+-------------------------------------------+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                                |   SSE - one finished object at a time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+-------------------------------v-------------------------------------------+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ORCHESTRATOR                                       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Tag Ingestion --&gt; Equipment Inference --&gt; Layout Planner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|                   |                     |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|                   v                     v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|            Part Selector -------&gt; Screen Generator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|        (50 real part shapes)    (schema-grounded JSON)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+------------&gt; Binding Resolver &lt;--------+ 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                     |                     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          Validation Engine --&gt; Project Packager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                (7 rules)     (.eote: screens, Variables.db,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|                                         Alarm.db, Bindings.dat)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+---------------------------------------------------------------------------+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30368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3DCD58"/>
                </a:solidFill>
                <a:latin typeface="Arial"/>
              </a:rPr>
              <a:t>One model, two renderers — so the preview cannot lie.</a:t>
            </a:r>
          </a:p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The same Screen.dat JSON drives the SVG canvas and the packager. There is no second model of the screen to drift from the first, and the compiler enforces it: the canvas switches exhaustively over the part union, so it cannot draw a part the packager cannot 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One sentence becomes a plant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8-board-all-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2919679" cy="3840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11096"/>
            <a:ext cx="2736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DEMO · 1  ·  THE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91967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A1F26"/>
                </a:solidFill>
                <a:latin typeface="Arial"/>
              </a:rPr>
              <a:t>Eleven screens on a board. An overview, then a screen per area, with navigation between them.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A 1,248-tag plant is not one screen — it is a hierarchy, and inferring that hierarchy from tag names is the actual problem. Every unit gets a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You watch it work, in engineering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7-generation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2919679" cy="3840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11096"/>
            <a:ext cx="2736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DEMO · 2  ·  THE PIPELINE,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91967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A1F26"/>
                </a:solidFill>
                <a:latin typeface="Arial"/>
              </a:rPr>
              <a:t>Eight steps, each reporting what it produced, each clickable to select the objects it created.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Not “Thinking…”. Parsed 1,248 tags. Inferred pumps, instruments, motors. Configured 232 alarms. An engineer will not accept a screen they did not see being built.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Every tag, wired and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b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2919679" cy="3840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11096"/>
            <a:ext cx="2736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DEMO · 3  ·  THE PAIN POINT, 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91967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A1F26"/>
                </a:solidFill>
                <a:latin typeface="Arial"/>
              </a:rPr>
              <a:t>The binding map, drawn from the real Sources / Targets graph inside the .eote.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Tag integration is the pain point the brief names, and today it is invisible until commissioning. Here you can check it before you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Behaviour, before any hardware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simulation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2919679" cy="3840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11096"/>
            <a:ext cx="2736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DEMO · 4  ·  VALIDATION WITHOUT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91967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A1F26"/>
                </a:solidFill>
                <a:latin typeface="Arial"/>
              </a:rPr>
              <a:t>Press Simulate and a process model drives the screen: lamps change state, numbers move, alarms raise.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Values are driven through the project’s own alarm setpoints, so every alarm it configured actually fires. Lead and standby pumps behave differently.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06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Built, not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A1F26"/>
                </a:solidFill>
                <a:latin typeface="Arial"/>
              </a:rPr>
              <a:t>Two .eote files written from scratch, both open in EcoStruxure Operator Terminal Expert 4.4. Neither was ever saved by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52044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parts placed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4017" y="265176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4017" y="285292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3745" y="352044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typed tags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2235" y="265176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2235" y="285292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1963" y="352044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alarms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0452" y="265176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0452" y="285292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0180" y="352044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bindings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78670" y="265176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8670" y="285292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8398" y="352044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placed by hand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3434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445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2120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3572" y="43434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3572" y="45445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3300" y="52120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shipped symbols indexed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43434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45445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52120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real part types extracted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29116" y="43434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9116" y="45445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8844" y="52120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independent packagers
that agree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943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673"/>
                </a:solidFill>
                <a:latin typeface="Arial"/>
              </a:rPr>
              <a:t>A Python reference and a TypeScript packager, structurally diffed against each other. Two implementations agreeing is a stronger claim than either passing its own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07 · 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Who pays, and what it costs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8" cy="1966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216"/>
                <a:gridCol w="2610464"/>
                <a:gridCol w="4872867"/>
                <a:gridCol w="208837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Why they buy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The wedge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System integrators and panel builders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Fixed-price work. Time saved is margin on hours they already quoted, and they decide fast.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₹3,499 / seat / month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Expand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Plants, utilities, OEMs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They own the house style. Standards packs make every contractor produce their HMI.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from ₹25,00,000 / year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Schneider Electric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A generative front end for the format they already ship, with no change to the product.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OEM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042409"/>
            <a:ext cx="10789920" cy="1133856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225289"/>
            <a:ext cx="1033272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DCD58"/>
                </a:solidFill>
                <a:latin typeface="Consolas"/>
              </a:rPr>
              <a:t>#  BREAK-EVEN      Indian automation engineer, fully loaded   INR 700-1,200 / hour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           Team seat                                  INR 41,988 / year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           Hours it must give back    41,988 / 950  =  ~44 h  =  5.5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40857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CD58"/>
                </a:solidFill>
                <a:latin typeface="Arial"/>
              </a:rPr>
              <a:t>Does generating your first draft and resolving your bindings save you five days a year? That is the whole question — and it needs no savings claim we have not measured.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The AI does not replace
the HMI engineer.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80360"/>
            <a:ext cx="12801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5CED8"/>
                </a:solidFill>
                <a:latin typeface="Arial"/>
              </a:rPr>
              <a:t>It encodes the senior engineer’s judgement — which part to use, which alarm every pump needs, which naming standard applies — and gives it to everyone on the team,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It works today, at the file boundary, with no change to Schneider’s product.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CD58"/>
                </a:solidFill>
                <a:latin typeface="Arial"/>
              </a:rPr>
              <a:t>Ask us to open the generated project on your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A95A1"/>
                </a:solidFill>
                <a:latin typeface="Arial"/>
              </a:rPr>
              <a:t>HMI Copilot  ·  From Intent to HMI — Faster. Smarter. Safer.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