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0:00–0:25 · HOOK. Read the sentence. Then the numbers. Then the last line, slowly. Do not explain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0:25–0:55 · Four costs, fast. Do not read the table. Land the black bar — this is a safety story, not only a productivity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0:55–1:20 · The enabling insight. Say: we asked the one question that kills this category of idea, and we asked it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1:20–1:50 · Switch to the app if it is up. Type the sentence live. Otherwise this slide is the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1:50–2:15 · Point at the step details. This is the difference between a black box and a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2:15–2:40 · The highest-value view. Say: this is the stated problem, and this is it solved.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2:40–3:05 · Let it run for a few seconds in silence. The alarms firing is the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3:05–3:35 · The credibility slide. Most tools in this space render a pretty approximation and generate the file separately. Ours cannot.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3:35–4:05 · If a judge takes one thing away, it is this slide. Offer to open the file on their machine.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4:05–4:40 · Integrators already have the licensed OTE install the tool needs. Customer and technical precondition are the same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4:40–5:00 · Close on the invitation. Stop talking.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3DCD58"/>
                </a:solidFill>
                <a:latin typeface="Arial"/>
              </a:rPr>
              <a:t>SCHNEIDER ELECTRIC  ·  HMI HACKATHON  ·  PROBLEM STATEMENT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37160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800" b="1">
                <a:solidFill>
                  <a:srgbClr val="FFFFFF"/>
                </a:solidFill>
                <a:latin typeface="Arial"/>
              </a:rPr>
              <a:t>HMI 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2423160"/>
            <a:ext cx="10149840" cy="731520"/>
          </a:xfrm>
          <a:prstGeom prst="rect">
            <a:avLst/>
          </a:prstGeom>
          <a:solidFill>
            <a:srgbClr val="1A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60604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C5CED8"/>
                </a:solidFill>
                <a:latin typeface="Arial"/>
              </a:rPr>
              <a:t>“Build the whole plant: an overview plus a screen for each area, with pump status, flows, levels and alarms”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3429000"/>
            <a:ext cx="1869033" cy="1371600"/>
          </a:xfrm>
          <a:prstGeom prst="rect">
            <a:avLst/>
          </a:prstGeom>
          <a:solidFill>
            <a:srgbClr val="1A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639312"/>
            <a:ext cx="186903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3DCD58"/>
                </a:solidFill>
                <a:latin typeface="Arial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4279392"/>
            <a:ext cx="17227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AA5B1"/>
                </a:solidFill>
                <a:latin typeface="Arial"/>
              </a:rPr>
              <a:t>screens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76041" y="3429000"/>
            <a:ext cx="1869033" cy="1371600"/>
          </a:xfrm>
          <a:prstGeom prst="rect">
            <a:avLst/>
          </a:prstGeom>
          <a:solidFill>
            <a:srgbClr val="1A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76041" y="3639312"/>
            <a:ext cx="186903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3DCD58"/>
                </a:solidFill>
                <a:latin typeface="Arial"/>
              </a:rPr>
              <a:t>560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49193" y="4279392"/>
            <a:ext cx="17227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AA5B1"/>
                </a:solidFill>
                <a:latin typeface="Arial"/>
              </a:rPr>
              <a:t>objects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46243" y="3429000"/>
            <a:ext cx="1869033" cy="1371600"/>
          </a:xfrm>
          <a:prstGeom prst="rect">
            <a:avLst/>
          </a:prstGeom>
          <a:solidFill>
            <a:srgbClr val="1A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46243" y="3639312"/>
            <a:ext cx="186903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3DCD58"/>
                </a:solidFill>
                <a:latin typeface="Arial"/>
              </a:rPr>
              <a:t>232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9395" y="4279392"/>
            <a:ext cx="17227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AA5B1"/>
                </a:solidFill>
                <a:latin typeface="Arial"/>
              </a:rPr>
              <a:t>alarms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16444" y="3429000"/>
            <a:ext cx="1869033" cy="1371600"/>
          </a:xfrm>
          <a:prstGeom prst="rect">
            <a:avLst/>
          </a:prstGeom>
          <a:solidFill>
            <a:srgbClr val="1A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16444" y="3639312"/>
            <a:ext cx="186903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3DCD58"/>
                </a:solidFill>
                <a:latin typeface="Arial"/>
              </a:rPr>
              <a:t>1,248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89596" y="4279392"/>
            <a:ext cx="17227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AA5B1"/>
                </a:solidFill>
                <a:latin typeface="Arial"/>
              </a:rPr>
              <a:t>tags bound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86646" y="3429000"/>
            <a:ext cx="1869033" cy="1371600"/>
          </a:xfrm>
          <a:prstGeom prst="rect">
            <a:avLst/>
          </a:prstGeom>
          <a:solidFill>
            <a:srgbClr val="1A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86646" y="3639312"/>
            <a:ext cx="186903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3DCD58"/>
                </a:solidFill>
                <a:latin typeface="Arial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59798" y="4279392"/>
            <a:ext cx="17227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AA5B1"/>
                </a:solidFill>
                <a:latin typeface="Arial"/>
              </a:rPr>
              <a:t>by hand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5840" y="5138928"/>
            <a:ext cx="1280160" cy="41148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440680"/>
            <a:ext cx="10149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And the file opens in EcoStruxure Operator Terminal Expert 4.4.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3DCD58"/>
                </a:solidFill>
                <a:latin typeface="Arial"/>
              </a:rPr>
              <a:t>It was never saved by the product.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3DCD58"/>
                </a:solidFill>
                <a:latin typeface="Arial"/>
              </a:rPr>
              <a:t>THE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A1F26"/>
                </a:solidFill>
                <a:latin typeface="Arial"/>
              </a:rPr>
              <a:t>Today this is done by hand, and it is done twice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822960" cy="41148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874519"/>
          <a:ext cx="10789920" cy="24437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7312"/>
                <a:gridCol w="7912608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</a:rPr>
                        <a:t>The work</a:t>
                      </a:r>
                    </a:p>
                  </a:txBody>
                  <a:tcPr marL="91440" marR="91440" marT="45720" marB="45720" anchor="ctr">
                    <a:solidFill>
                      <a:srgbClr val="0F141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</a:rPr>
                        <a:t>What it looks like</a:t>
                      </a:r>
                    </a:p>
                  </a:txBody>
                  <a:tcPr marL="91440" marR="91440" marT="45720" marB="45720" anchor="ctr">
                    <a:solidFill>
                      <a:srgbClr val="0F1419"/>
                    </a:solidFill>
                  </a:tcPr>
                </a:tc>
              </a:tr>
              <a:tr h="564642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A1F26"/>
                          </a:solidFill>
                          <a:latin typeface="Arial"/>
                        </a:rPr>
                        <a:t>Manual screen development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F26"/>
                          </a:solidFill>
                          <a:latin typeface="Arial"/>
                        </a:rPr>
                        <a:t>Hand-place every lamp, bargraph and trend. Then repeat it for 40 near-identical equipment screens.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64642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A1F26"/>
                          </a:solidFill>
                          <a:latin typeface="Arial"/>
                        </a:rPr>
                        <a:t>Expert-driven configuration</a:t>
                      </a:r>
                    </a:p>
                  </a:txBody>
                  <a:tcPr marL="91440" marR="91440" marT="36576" marB="36576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F26"/>
                          </a:solidFill>
                          <a:latin typeface="Arial"/>
                        </a:rPr>
                        <a:t>Only senior engineers know which object, animation and colour standard applies. Juniors block on them.</a:t>
                      </a:r>
                    </a:p>
                  </a:txBody>
                  <a:tcPr marL="91440" marR="91440" marT="36576" marB="36576" anchor="ctr">
                    <a:solidFill>
                      <a:srgbClr val="F4F6F8"/>
                    </a:solidFill>
                  </a:tcPr>
                </a:tc>
              </a:tr>
              <a:tr h="564642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A1F26"/>
                          </a:solidFill>
                          <a:latin typeface="Arial"/>
                        </a:rPr>
                        <a:t>Complex tag integration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F26"/>
                          </a:solidFill>
                          <a:latin typeface="Arial"/>
                        </a:rPr>
                        <a:t>Hundreds of PLC symbols mapped by hand onto object properties, one property sheet at a time.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A1F26"/>
                          </a:solidFill>
                          <a:latin typeface="Arial"/>
                        </a:rPr>
                        <a:t>Inconsistency</a:t>
                      </a:r>
                    </a:p>
                  </a:txBody>
                  <a:tcPr marL="91440" marR="91440" marT="36576" marB="36576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F26"/>
                          </a:solidFill>
                          <a:latin typeface="Arial"/>
                        </a:rPr>
                        <a:t>Two engineers on one project produce two differently-named, differently-coloured HMIs.</a:t>
                      </a:r>
                    </a:p>
                  </a:txBody>
                  <a:tcPr marL="91440" marR="91440" marT="36576" marB="36576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85800" y="4592573"/>
            <a:ext cx="10789920" cy="9144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793741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A wrong binding is not a drawing error. It is pump 2’s flow under pump 1’s label, found during an upset.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3DCD58"/>
                </a:solidFill>
                <a:latin typeface="Arial"/>
              </a:rPr>
              <a:t>WHY THIS IS POSSIBLE AT 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A1F26"/>
                </a:solidFill>
                <a:latin typeface="Arial"/>
              </a:rPr>
              <a:t>The project format is fully legible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822960" cy="41148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783080"/>
            <a:ext cx="10789920" cy="1901952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1965960"/>
            <a:ext cx="10332720" cy="1627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Consolas"/>
              </a:rPr>
              <a:t>&lt;project&gt;.eote                 ZIP    (nested entries use BACKSLASH separators)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Consolas"/>
              </a:rPr>
              <a:t> |-- Project.dat, Target.dat   JSON   panel model, resolution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Consolas"/>
              </a:rPr>
              <a:t> |-- Variables.db              SQLite the tags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Consolas"/>
              </a:rPr>
              <a:t> |-- Alarm.db                  SQLite alarm groups and alarms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Consolas"/>
              </a:rPr>
              <a:t> |-- Bindings.dat              JSON   Sources[] -&gt; Bindings[] -&gt; Targets[]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Consolas"/>
              </a:rPr>
              <a:t> +-- Screens\&lt;guid&gt;\Screen.dat JSON   the object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794760"/>
            <a:ext cx="107899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1">
                <a:solidFill>
                  <a:srgbClr val="1A1F26"/>
                </a:solidFill>
                <a:latin typeface="Arial"/>
              </a:rPr>
              <a:t>Plain JSON and plain SQLite. No signature. No encryption. Nothing to defeat.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0">
                <a:solidFill>
                  <a:srgbClr val="5A6673"/>
                </a:solidFill>
                <a:latin typeface="Arial"/>
              </a:rPr>
              <a:t>So the first thing we did was not design a UI or pick a model. It was to take the product’s own shipped templates apart and find out whether a project could be written from scratch at all.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3DCD58"/>
                </a:solidFill>
                <a:latin typeface="Arial"/>
              </a:rPr>
              <a:t>It can. Everything after this follows from that.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3DCD58"/>
                </a:solidFill>
                <a:latin typeface="Arial"/>
              </a:rPr>
              <a:t>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A1F26"/>
                </a:solidFill>
                <a:latin typeface="Arial"/>
              </a:rPr>
              <a:t>One sentence becomes a plant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822960" cy="41148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8-board-all-scre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1239" y="1783080"/>
            <a:ext cx="7534656" cy="47091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971239" y="1783080"/>
            <a:ext cx="7534656" cy="4709160"/>
          </a:xfrm>
          <a:prstGeom prst="rect">
            <a:avLst/>
          </a:prstGeom>
          <a:noFill/>
          <a:ln w="1270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28800"/>
            <a:ext cx="2919679" cy="384048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11096"/>
            <a:ext cx="2736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DEMO ·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95728"/>
            <a:ext cx="2919679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300"/>
              </a:spcAft>
            </a:pPr>
            <a:r>
              <a:rPr sz="1550" b="1">
                <a:solidFill>
                  <a:srgbClr val="1A1F26"/>
                </a:solidFill>
                <a:latin typeface="Arial"/>
              </a:rPr>
              <a:t>Eleven screens, laid out as a board. A plant overview, then a screen per area, with navigation between them.</a:t>
            </a:r>
          </a:p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5A6673"/>
                </a:solidFill>
                <a:latin typeface="Arial"/>
              </a:rPr>
              <a:t>A 1,248-tag plant is not one screen — it is a screen hierarchy, and inferring that hierarchy from tag names is the real problem. Every unit gets a screen. A chiller is not an air compressor.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3DCD58"/>
                </a:solidFill>
                <a:latin typeface="Arial"/>
              </a:rPr>
              <a:t>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A1F26"/>
                </a:solidFill>
                <a:latin typeface="Arial"/>
              </a:rPr>
              <a:t>You watch it work, in engineering language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822960" cy="41148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7-generation-run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1239" y="1783080"/>
            <a:ext cx="7534656" cy="47091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971239" y="1783080"/>
            <a:ext cx="7534656" cy="4709160"/>
          </a:xfrm>
          <a:prstGeom prst="rect">
            <a:avLst/>
          </a:prstGeom>
          <a:noFill/>
          <a:ln w="1270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28800"/>
            <a:ext cx="2919679" cy="384048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11096"/>
            <a:ext cx="2736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DEMO ·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95728"/>
            <a:ext cx="2919679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300"/>
              </a:spcAft>
            </a:pPr>
            <a:r>
              <a:rPr sz="1550" b="1">
                <a:solidFill>
                  <a:srgbClr val="1A1F26"/>
                </a:solidFill>
                <a:latin typeface="Arial"/>
              </a:rPr>
              <a:t>Eight steps, each reporting what it produced, each clickable to select the objects it created.</a:t>
            </a:r>
          </a:p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5A6673"/>
                </a:solidFill>
                <a:latin typeface="Arial"/>
              </a:rPr>
              <a:t>Not “Thinking…”. Parse PLC tags → 1,248. Infer equipment → pumps, instruments, motors. Configure alarms → 232. An engineer will not accept a screen they did not see being built.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3DCD58"/>
                </a:solidFill>
                <a:latin typeface="Arial"/>
              </a:rPr>
              <a:t>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A1F26"/>
                </a:solidFill>
                <a:latin typeface="Arial"/>
              </a:rPr>
              <a:t>Every tag, wired and visible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822960" cy="41148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4-bind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1239" y="1783080"/>
            <a:ext cx="7534656" cy="47091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971239" y="1783080"/>
            <a:ext cx="7534656" cy="4709160"/>
          </a:xfrm>
          <a:prstGeom prst="rect">
            <a:avLst/>
          </a:prstGeom>
          <a:noFill/>
          <a:ln w="1270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28800"/>
            <a:ext cx="2919679" cy="384048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11096"/>
            <a:ext cx="2736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DEMO ·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95728"/>
            <a:ext cx="2919679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300"/>
              </a:spcAft>
            </a:pPr>
            <a:r>
              <a:rPr sz="1550" b="1">
                <a:solidFill>
                  <a:srgbClr val="1A1F26"/>
                </a:solidFill>
                <a:latin typeface="Arial"/>
              </a:rPr>
              <a:t>The binding map, drawn from the real Sources / Targets graph the .eote contains.</a:t>
            </a:r>
          </a:p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5A6673"/>
                </a:solidFill>
                <a:latin typeface="Arial"/>
              </a:rPr>
              <a:t>This is the pain point the brief names, and today it is invisible until commissioning. Here it is a picture you can check before you export.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3DCD58"/>
                </a:solidFill>
                <a:latin typeface="Arial"/>
              </a:rPr>
              <a:t>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A1F26"/>
                </a:solidFill>
                <a:latin typeface="Arial"/>
              </a:rPr>
              <a:t>Behaviour, before any hardware exists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822960" cy="41148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6-simulation-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1239" y="1783080"/>
            <a:ext cx="7534656" cy="47091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971239" y="1783080"/>
            <a:ext cx="7534656" cy="4709160"/>
          </a:xfrm>
          <a:prstGeom prst="rect">
            <a:avLst/>
          </a:prstGeom>
          <a:noFill/>
          <a:ln w="1270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28800"/>
            <a:ext cx="2919679" cy="384048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11096"/>
            <a:ext cx="2736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DEMO ·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95728"/>
            <a:ext cx="2919679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300"/>
              </a:spcAft>
            </a:pPr>
            <a:r>
              <a:rPr sz="1550" b="1">
                <a:solidFill>
                  <a:srgbClr val="1A1F26"/>
                </a:solidFill>
                <a:latin typeface="Arial"/>
              </a:rPr>
              <a:t>Press Simulate and a process model drives the screen: lamps change state, numbers move, alarms raise.</a:t>
            </a:r>
          </a:p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5A6673"/>
                </a:solidFill>
                <a:latin typeface="Arial"/>
              </a:rPr>
              <a:t>Numerics are driven through their own alarm setpoints, so every alarm the project defines actually fires. Lead and standby pumps behave differently.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3DCD58"/>
                </a:solidFill>
                <a:latin typeface="Arial"/>
              </a:rPr>
              <a:t>WHY YOU CAN TRUST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A1F26"/>
                </a:solidFill>
                <a:latin typeface="Arial"/>
              </a:rPr>
              <a:t>One model, two renderers — the preview cannot lie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822960" cy="41148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783080"/>
            <a:ext cx="10789920" cy="1901952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1965960"/>
            <a:ext cx="10332720" cy="1627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Consolas"/>
              </a:rPr>
              <a:t>                       Screen.dat  (one JSON object tree)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Consolas"/>
              </a:rPr>
              <a:t>                              |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Consolas"/>
              </a:rPr>
              <a:t>               +--------------+--------------+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Consolas"/>
              </a:rPr>
              <a:t>               v                             v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Consolas"/>
              </a:rPr>
              <a:t>        SVG in the browser            .eote packager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Consolas"/>
              </a:rPr>
              <a:t>        (what the engineer approves)  (what EcoStruxure opens)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840480"/>
            <a:ext cx="1078992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1A1F26"/>
                </a:solidFill>
                <a:latin typeface="Arial"/>
              </a:rPr>
              <a:t>The same JSON drives the preview and the file. There is no second model of the screen to drift from the first.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0">
                <a:solidFill>
                  <a:srgbClr val="5A6673"/>
                </a:solidFill>
                <a:latin typeface="Arial"/>
              </a:rPr>
              <a:t>And it is the compiler that enforces it, not discipline: the canvas switches exhaustively over the part union, so it cannot draw a part the packager cannot write.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3DCD58"/>
                </a:solidFill>
                <a:latin typeface="Arial"/>
              </a:rPr>
              <a:t>What the engineer approves is what OTE opens.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3DCD58"/>
                </a:solidFill>
                <a:latin typeface="Arial"/>
              </a:rPr>
              <a:t>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A1F26"/>
                </a:solidFill>
                <a:latin typeface="Arial"/>
              </a:rPr>
              <a:t>Built, not proposed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822960" cy="41148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78308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1A1F26"/>
                </a:solidFill>
                <a:latin typeface="Arial"/>
              </a:rPr>
              <a:t>Two .eote files written from scratch, both open in EcoStruxure Operator Terminal Expert 4.4. Neither was ever saved by the product.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651760"/>
            <a:ext cx="1997049" cy="141732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852928"/>
            <a:ext cx="199704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3DCD58"/>
                </a:solidFill>
                <a:latin typeface="Arial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3520440"/>
            <a:ext cx="17775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5A6673"/>
                </a:solidFill>
                <a:latin typeface="Arial"/>
              </a:rPr>
              <a:t>parts placed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4017" y="2651760"/>
            <a:ext cx="1997049" cy="141732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84017" y="2852928"/>
            <a:ext cx="199704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3DCD58"/>
                </a:solidFill>
                <a:latin typeface="Arial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3745" y="3520440"/>
            <a:ext cx="17775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5A6673"/>
                </a:solidFill>
                <a:latin typeface="Arial"/>
              </a:rPr>
              <a:t>typed tags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82235" y="2651760"/>
            <a:ext cx="1997049" cy="141732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82235" y="2852928"/>
            <a:ext cx="199704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3DCD58"/>
                </a:solidFill>
                <a:latin typeface="Arial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1963" y="3520440"/>
            <a:ext cx="17775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5A6673"/>
                </a:solidFill>
                <a:latin typeface="Arial"/>
              </a:rPr>
              <a:t>alarms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80452" y="2651760"/>
            <a:ext cx="1997049" cy="141732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80452" y="2852928"/>
            <a:ext cx="199704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3DCD58"/>
                </a:solidFill>
                <a:latin typeface="Arial"/>
              </a:rPr>
              <a:t>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90180" y="3520440"/>
            <a:ext cx="17775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5A6673"/>
                </a:solidFill>
                <a:latin typeface="Arial"/>
              </a:rPr>
              <a:t>bindings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78670" y="2651760"/>
            <a:ext cx="1997049" cy="141732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8670" y="2852928"/>
            <a:ext cx="199704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3DCD58"/>
                </a:solidFill>
                <a:latin typeface="Arial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8398" y="3520440"/>
            <a:ext cx="17775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5A6673"/>
                </a:solidFill>
                <a:latin typeface="Arial"/>
              </a:rPr>
              <a:t>placed by hand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4343400"/>
            <a:ext cx="2546604" cy="141732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544568"/>
            <a:ext cx="25466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3DCD58"/>
                </a:solidFill>
                <a:latin typeface="Arial"/>
              </a:rPr>
              <a:t>467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8" y="5212080"/>
            <a:ext cx="23271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5A6673"/>
                </a:solidFill>
                <a:latin typeface="Arial"/>
              </a:rPr>
              <a:t>tests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33572" y="4343400"/>
            <a:ext cx="2546604" cy="141732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33572" y="4544568"/>
            <a:ext cx="25466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3DCD58"/>
                </a:solidFill>
                <a:latin typeface="Arial"/>
              </a:rPr>
              <a:t>474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43300" y="5212080"/>
            <a:ext cx="23271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5A6673"/>
                </a:solidFill>
                <a:latin typeface="Arial"/>
              </a:rPr>
              <a:t>shipped symbols indexed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1344" y="4343400"/>
            <a:ext cx="2546604" cy="141732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81344" y="4544568"/>
            <a:ext cx="25466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3DCD58"/>
                </a:solidFill>
                <a:latin typeface="Arial"/>
              </a:rPr>
              <a:t>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91072" y="5212080"/>
            <a:ext cx="23271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5A6673"/>
                </a:solidFill>
                <a:latin typeface="Arial"/>
              </a:rPr>
              <a:t>real part types extracted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929116" y="4343400"/>
            <a:ext cx="2546604" cy="141732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29116" y="4544568"/>
            <a:ext cx="25466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3DCD58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38844" y="5212080"/>
            <a:ext cx="23271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5A6673"/>
                </a:solidFill>
                <a:latin typeface="Arial"/>
              </a:rPr>
              <a:t>independent packagers
that agree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594360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A6673"/>
                </a:solidFill>
                <a:latin typeface="Arial"/>
              </a:rPr>
              <a:t>A Python reference and a TypeScript packager, structurally diffed against each other. Two implementations agreeing is a stronger claim than either passing its own tests.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3DCD58"/>
                </a:solidFill>
                <a:latin typeface="Arial"/>
              </a:rPr>
              <a:t>THE 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A1F26"/>
                </a:solidFill>
                <a:latin typeface="Arial"/>
              </a:rPr>
              <a:t>Who pays, and what it costs them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822960" cy="41148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874519"/>
          <a:ext cx="10789918" cy="19667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8216"/>
                <a:gridCol w="2610464"/>
                <a:gridCol w="4872867"/>
                <a:gridCol w="2088371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0F141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Who</a:t>
                      </a:r>
                    </a:p>
                  </a:txBody>
                  <a:tcPr marL="91440" marR="91440" marT="45720" marB="45720" anchor="ctr">
                    <a:solidFill>
                      <a:srgbClr val="0F141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Why they buy</a:t>
                      </a:r>
                    </a:p>
                  </a:txBody>
                  <a:tcPr marL="91440" marR="91440" marT="45720" marB="45720" anchor="ctr">
                    <a:solidFill>
                      <a:srgbClr val="0F141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Price</a:t>
                      </a:r>
                    </a:p>
                  </a:txBody>
                  <a:tcPr marL="91440" marR="91440" marT="45720" marB="45720" anchor="ctr">
                    <a:solidFill>
                      <a:srgbClr val="0F1419"/>
                    </a:solidFill>
                  </a:tcPr>
                </a:tc>
              </a:tr>
              <a:tr h="53365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A1F26"/>
                          </a:solidFill>
                          <a:latin typeface="Arial"/>
                        </a:rPr>
                        <a:t>The wedge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F26"/>
                          </a:solidFill>
                          <a:latin typeface="Arial"/>
                        </a:rPr>
                        <a:t>System integrators and panel builders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F26"/>
                          </a:solidFill>
                          <a:latin typeface="Arial"/>
                        </a:rPr>
                        <a:t>Fixed-price work. Time saved is margin on hours they already quoted, and they decide fast.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A1F26"/>
                          </a:solidFill>
                          <a:latin typeface="Arial"/>
                        </a:rPr>
                        <a:t>₹3,499 / seat / month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3365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A1F26"/>
                          </a:solidFill>
                          <a:latin typeface="Arial"/>
                        </a:rPr>
                        <a:t>Expand</a:t>
                      </a:r>
                    </a:p>
                  </a:txBody>
                  <a:tcPr marL="91440" marR="91440" marT="36576" marB="36576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F26"/>
                          </a:solidFill>
                          <a:latin typeface="Arial"/>
                        </a:rPr>
                        <a:t>Plants, utilities, OEMs</a:t>
                      </a:r>
                    </a:p>
                  </a:txBody>
                  <a:tcPr marL="91440" marR="91440" marT="36576" marB="36576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F26"/>
                          </a:solidFill>
                          <a:latin typeface="Arial"/>
                        </a:rPr>
                        <a:t>They own the house style. Standards packs make every contractor produce their HMI.</a:t>
                      </a:r>
                    </a:p>
                  </a:txBody>
                  <a:tcPr marL="91440" marR="91440" marT="36576" marB="36576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F26"/>
                          </a:solidFill>
                          <a:latin typeface="Arial"/>
                        </a:rPr>
                        <a:t>from ₹25,00,000 / year</a:t>
                      </a:r>
                    </a:p>
                  </a:txBody>
                  <a:tcPr marL="91440" marR="91440" marT="36576" marB="36576" anchor="ctr">
                    <a:solidFill>
                      <a:srgbClr val="F4F6F8"/>
                    </a:solidFill>
                  </a:tcPr>
                </a:tc>
              </a:tr>
              <a:tr h="53365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A1F26"/>
                          </a:solidFill>
                          <a:latin typeface="Arial"/>
                        </a:rPr>
                        <a:t>Scale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F26"/>
                          </a:solidFill>
                          <a:latin typeface="Arial"/>
                        </a:rPr>
                        <a:t>Schneider Electric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F26"/>
                          </a:solidFill>
                          <a:latin typeface="Arial"/>
                        </a:rPr>
                        <a:t>A generative front end for the format they already ship, with no change to the product.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F26"/>
                          </a:solidFill>
                          <a:latin typeface="Arial"/>
                        </a:rPr>
                        <a:t>OEM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85800" y="4069841"/>
            <a:ext cx="10789920" cy="1133856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4252721"/>
            <a:ext cx="1033272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3DCD58"/>
                </a:solidFill>
                <a:latin typeface="Consolas"/>
              </a:rPr>
              <a:t>#  BREAK-EVEN      Indian automation engineer, fully loaded   INR 700-1,200 / hour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Consolas"/>
              </a:rPr>
              <a:t>                   Team seat                                  INR 41,988 / year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Consolas"/>
              </a:rPr>
              <a:t>                   Hours it must give back    41,988 / 950  =  ~44 h  =  5.5 days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86577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3DCD58"/>
                </a:solidFill>
                <a:latin typeface="Arial"/>
              </a:rPr>
              <a:t>Does generating your first draft and resolving your bindings save you five days a year? That is the whole question — and it needs no savings claim we have not measured.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23444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The AI does not replace
the HMI engineer.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2880360"/>
            <a:ext cx="1280160" cy="41148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246120"/>
            <a:ext cx="98755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5CED8"/>
                </a:solidFill>
                <a:latin typeface="Arial"/>
              </a:rPr>
              <a:t>It encodes the senior engineer’s judgement — which part to use, which alarm every pump needs, which naming standard applies — and gives it to everyone on the team, every 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8920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It is working today, at the file boundary, with no change to the product.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3DCD58"/>
                </a:solidFill>
                <a:latin typeface="Arial"/>
              </a:rPr>
              <a:t>Ask us to open the generated project on your machine.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172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8A95A1"/>
                </a:solidFill>
                <a:latin typeface="Arial"/>
              </a:rPr>
              <a:t>HMI Copilot  ·  From Intent to HMI — Faster. Smarter. Safer.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