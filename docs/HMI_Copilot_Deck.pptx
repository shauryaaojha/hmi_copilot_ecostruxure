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a tag export plus a sentence becomes a real .eote that opens in OTE 4.4.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 the binding example: this is a safety story, not only a productivity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 &gt; Open Project. This is what separates us from a mockup.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slide. Pause. Then let them do the arithmetic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all real. The fact we can name them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shows we understand the business, not just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CD58"/>
                </a:solidFill>
                <a:latin typeface="Arial"/>
              </a:rPr>
              <a:t>SCHNEIDER ELECTRIC  ·  HMI HACKATHON  ·  PROBLEM STATEMENT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200" b="1">
                <a:solidFill>
                  <a:srgbClr val="FFFFFF"/>
                </a:solidFill>
                <a:latin typeface="Arial"/>
              </a:rPr>
              <a:t>HMI Copilot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600"/>
              </a:spcAft>
            </a:pPr>
            <a:r>
              <a:rPr sz="2200" b="0">
                <a:solidFill>
                  <a:srgbClr val="C5CED8"/>
                </a:solidFill>
                <a:latin typeface="Arial"/>
              </a:rPr>
              <a:t>From a PLC tag list and one sentence of English to a finished EcoStruxure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434840"/>
            <a:ext cx="12801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8A95A1"/>
                </a:solidFill>
                <a:latin typeface="Arial"/>
              </a:rPr>
              <a:t>Target platform  ·  EcoStruxure Operator Terminal Expert 4.4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CD58"/>
                </a:solidFill>
                <a:latin typeface="Arial"/>
              </a:rPr>
              <a:t>A generated project opens in the product. It was never saved by the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Four costs, and they compound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50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816"/>
                <a:gridCol w="5754624"/>
                <a:gridCol w="2697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Pain point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actually looks like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Where it hurts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Manual screen development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An engineer hand-places every lamp, bargraph and trend, then repeats it for 40 near-identical equipment screens.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Hours per screen, times the plant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Expert-driven configuration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Only senior engineers know which object, animation and colour standard applies. Juniors block waiting on them.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Seniors become a bottleneck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Complex tag integration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Hundreds of PLC symbols mapped by hand onto object properties. One wrong binding stays invisible until commissioning.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Silent until it is expensive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Inconsistency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Two engineers on one project produce two differently-named, differently-coloured HMIs.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Operators pay for it daily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557775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A1F26"/>
                </a:solidFill>
                <a:latin typeface="Arial"/>
              </a:rPr>
              <a:t>The binding problem is the sharp one. A wrong binding is not a drawing error — it is pump 2’s flow displayed under pump 1’s label, discovered during an upset.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question we asked before building anything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10789920" cy="105156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Does the output actually load into the engineering tool?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07899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>
                <a:solidFill>
                  <a:srgbClr val="1A1F26"/>
                </a:solidFill>
                <a:latin typeface="Arial"/>
              </a:rPr>
              <a:t>Everything else is decoration. A beautiful generated screen that EcoStruxure refuses to open is a mockup, and a judge who opens the file finds out in ten seconds.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>
                <a:solidFill>
                  <a:srgbClr val="5A6673"/>
                </a:solidFill>
                <a:latin typeface="Arial"/>
              </a:rPr>
              <a:t>So the first thing we did was take apart the files the product itself ships — Blank.eote, two demo projects and three samples — and find out whether a project could be written from scratch at all.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3DCD58"/>
                </a:solidFill>
                <a:latin typeface="Arial"/>
              </a:rPr>
              <a:t>It could. That answer is the foundation of everything that 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project format is fully legible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1901952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&lt;project&gt;.eote                  ZIP   (nested entries use BACKSLASH separators)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Project.dat, Target.dat    JSON   project identity, panel model, resolution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Variables.db               SQLite the tags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Alarm.db                   SQLite alarm groups and alarms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|-- Bindings.dat               JSON   Sources[] -&gt; Bindings[] -&gt; Targets[] graph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+-- Screens\&lt;guid&gt;\Screen.dat  JSON   the object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No proprietary binary. No signature. No encryption. Every project carries _metadata with "EncryptionInfo": null and "SignatureInfo": null.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Four properties make automation possible: everything meaningful is plain JSON or SQLite; nothing is signed or encrypted; bindings are declarative; and the geometry — absolute Location, Width and Height inside a ViewBox — maps one-to-one onto SVG.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CD58"/>
                </a:solidFill>
                <a:latin typeface="Arial"/>
              </a:rPr>
              <a:t>That last one carries the whole user experience. It is what lets one model drive both the preview and the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Built, not proposed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A1F26"/>
                </a:solidFill>
                <a:latin typeface="Arial"/>
              </a:rPr>
              <a:t>Two .eote files were written from scratch and open in EcoStruxure Operator Terminal Expert 4.4. Neither was ever saved by the product.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072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4747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parts placed
on the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4017" y="26060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4017" y="28072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3745" y="34747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typed tags in
Variables.db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2235" y="26060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2235" y="28072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1963" y="34747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alarms in
Alarm.db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0452" y="26060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0452" y="28072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0180" y="34747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bindings
wired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8670" y="26060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8670" y="28072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8398" y="34747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objects placed
by hand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4343400"/>
          <a:ext cx="10789920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File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Written by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HMICopilot_PumpStation.eote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tools/make_project.py — the Python reference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DCD58"/>
                          </a:solidFill>
                          <a:latin typeface="Arial"/>
                        </a:rPr>
                        <a:t>opens in OTE 4.4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HMICopilot_TS.eote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web/src/lib/ote/packager.ts — the browser path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DCD58"/>
                          </a:solidFill>
                          <a:latin typeface="Arial"/>
                        </a:rPr>
                        <a:t>opens in OTE 4.4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5660136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673"/>
                </a:solidFill>
                <a:latin typeface="Arial"/>
              </a:rPr>
              <a:t>Two independent implementations — Python and TypeScript — agreeing on the same output is a far stronger claim than either passing its own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NOVELTY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One model, two renderers — the preview cannot lie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1A1F26"/>
                </a:solidFill>
                <a:latin typeface="Arial"/>
              </a:rPr>
              <a:t>The same JSON that becomes the project file drives the live preview. There is no second model of the screen, no “preview approximation” that drifts from the export.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10789920" cy="2157984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926080"/>
            <a:ext cx="10332720" cy="1883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        Screen.dat  (one JSON object tree)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+--------------+--------------+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v                             v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SVG in the browser            .eote packager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(what the engineer            (what EcoStruxure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approves)                     opens)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9204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3DCD58"/>
                </a:solidFill>
                <a:latin typeface="Arial"/>
              </a:rPr>
              <a:t>What the engineer approves is what OTE opens.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Most tools in this space render a pretty approximation and generate the real artifact separately. The two drift, and the customer finds the drift. Here they are the same object, so drift is not unlikely — it is impossible.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NOVELTY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one rule, enforced by the compiler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86868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The canvas may only render what the packager can emit.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0789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1A1F26"/>
                </a:solidFill>
                <a:latin typeface="Arial"/>
              </a:rPr>
              <a:t>A rule written in a document is a rule someone breaks at 2am. So this one is a type error instead.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3"/>
                </a:solidFill>
                <a:latin typeface="Arial"/>
              </a:rPr>
              <a:t>ScreenRenderer switches exhaustively over the part union in schema.ts, with a never assignment on the default branch. Add a part to the schema and the canvas stops compiling until it can draw it.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0">
                <a:solidFill>
                  <a:srgbClr val="5A6673"/>
                </a:solidFill>
                <a:latin typeface="Arial"/>
              </a:rPr>
              <a:t>The other half is a test: canvas.test.ts restates the Python reference renderer’s rules independently, so the two renderers cannot drift together and still pass.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3DCD58"/>
                </a:solidFill>
                <a:latin typeface="Arial"/>
              </a:rPr>
              <a:t>The visible corollary: the theme toggle themes the application and never the HMI screen, whose colours are palette indices from the project’s own colour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NOVELTY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Grounded twice, so invented properties are impossible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9" cy="2354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9981"/>
                <a:gridCol w="4564966"/>
                <a:gridCol w="373497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Grounding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prevents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727329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Machine-readable schemas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Buildtime/PropertyDefinitions/ — the product’s own definitions of Screen, Variable, 25 parts and 13 layout objects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A model inventing a property that does not exist. Structurally impossible, not merely unlikely.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727329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Real part shapes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50 part types extracted from the shipped sample projects into reference/part_examples.json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A model guessing at the shape of a Lamp. Every shape we emit was observed in a project the product wrote.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zod at the boundary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web/src/lib/ote/schema.ts — a discriminated union parsed at runtime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A malformed object reaching the canvas or the packager at all.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11471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The model is never asked “what should a pump screen look like?” in the abstract. It chooses among real parts, with real properties, from the product’s own vocabulary — which is why the output is boring in exactly the way engineering output should be boring.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NOVELTY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We meet the product at the artifact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1389888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65960"/>
            <a:ext cx="1033272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HMI Copilot                   BOUNDARY                 EcoStruxure OTE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(Next.js / TypeScript)  (files - language-agnostic)   (C# / C++ / Qt / Lua)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 |                            |                            |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generated JSON  --&gt;  project.eote -+--&gt; File &gt; Open Project --&gt; a built HMI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107899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>
                <a:solidFill>
                  <a:srgbClr val="1A1F26"/>
                </a:solidFill>
                <a:latin typeface="Arial"/>
              </a:rPr>
              <a:t>EcoStruxure Buildtime is a .NET/C# shell with native Qt5/C++ modules. RunTime is C++/Qt5 with embedded Lua. We do not merge into any of it.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5A6673"/>
                </a:solidFill>
                <a:latin typeface="Arial"/>
              </a:rPr>
              <a:t>That is judgement, not a workaround. Touching the internals would need an SDK we do not have and code signing, would break on every release, and would amount to asking Schneider to maintain a fork of its own product.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3DCD58"/>
                </a:solidFill>
                <a:latin typeface="Arial"/>
              </a:rPr>
              <a:t>Staying at the file boundary means the tool works with any OTE 4.4+ installation, survives upgrades, and could actually ship. And both layers already ship Qt5WebEngine, so this same interface can be docked inside the tool later with no new technology decision.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Eight steps from a tag export to a file OTE opens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9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"/>
                <a:gridCol w="2247900"/>
                <a:gridCol w="3057144"/>
                <a:gridCol w="5035295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Out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Tag Ingestion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.csv / .txt / .xlsx export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Normalised {name, dataType, address, scanRate, comment}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Equipment Inference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Tag names and comments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Clusters: PMP_101_RUN + _FLT + _SPD = one pump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Part Selector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Each tag and its role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 right part from the 50 the product ships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Layout Planner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Parts and panel size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Positions inside a ViewBox, reading order respected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Screen Generator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Layout + schema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Screen.dat JSON constrained by the .propDef schema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Binding Resolver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Tags and placed objects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 Sources / Targets / Bindings graph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Validation Engine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 whole project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Findings, each clickable back to its object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Project Packager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Everything above + skeleton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.eote — screens, Variables.db, Alarm.db, Bindings.dat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495543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673"/>
                </a:solidFill>
                <a:latin typeface="Arial"/>
              </a:rPr>
              <a:t>Step 2 is where expert knowledge lives: a pump should have a fault alarm, so a missing one is flagged rather than silently skipped.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Stack, and why each piece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93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656"/>
                <a:gridCol w="3236976"/>
                <a:gridCol w="611428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Framework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Next.js (App Router), full stack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One repo, one language, one deploy. No CORS, no second dev server.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Canvas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Inline SVG, one node per object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Direct mapping to the OTE screen model. Click-to-select maps straight back to the JSON node.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Zustand + immer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A JSON tree with cheap undo/redo and snapshots.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Transport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SSE from a route handler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Streams one complete object at a time — never a partially-parsed JSON tree.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Gemini, Claude as the alternative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Schema-grounded structured output. One model call per generation.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Packager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jszip + sql.js, Node runtime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No native module, so it runs anywhere including serverless.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995671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Three packager constraints learned the hard way: the route must declare nodejs runtime not Edge; ZIP entry names must use backslash separators; only Variables.db and Alarm.db are written, the rest pass through verbatim.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457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D58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5A1"/>
                </a:solidFill>
                <a:latin typeface="Arial"/>
              </a:rPr>
              <a:t>The product, in seven screens.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board — every screen in the project at 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8-board-all-scre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Eleven screens generated from one sentence, laid out as a board you can zoom and pan.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A 1,248-tag plant is not one screen; it is a screen hierarchy. The board is where you see the hierarchy, and the strip above it is where you move between the screens in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The run overlay — the AI’s work in engineering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7-generation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Eight steps, each reporting what it produced, each clickable to select the objects it created.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Not “Thinking…”. Parse PLC tags → 1,248 tags. Infer equipment → pumps, instruments, motors. Configure alarms → 232. When the run finishes the overlay settles into a single line and gets out of the 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The inspector — derived from the schema, not hand-written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inspector-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Select any object and edit its real properties. The fields are generated by walking the zod union at runtime.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A field is a colour field because its shape is {Color:{Value}}, not because someone named it “Fill”. Add a property to the schema and the inspector grows it for free. Layers, Library and Tags sit beside it as tabs.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The binding map — the stated pain point, made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bin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Tags on one side, object properties on the other, drawn from the real Sources / Targets graph the .eote contains.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This is the highest-value view in the product, because tag integration is the pain point the brief names, and today it is invisible until commissioning.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Live simulation — behaviour before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simulation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Flip to Live and a process model drives the canvas: lamps change state, numerics move, alarms raise and clear.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Numerics are driven through their own alarm setpoints, so every alarm the project defines actually fires. Lead and standby pumps behave differently. This is the demo moment.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Tag import — corrections reported, never applied silently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6-tags-imported-corr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1,248 tags parsed, five names corrected, every correction listed with its before and after.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OTE silently drops names that break its rules on import. Here they are caught, auto-corrected, and the change is shown. This is the single most trust-relevant behaviour in the product.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A1F26"/>
                </a:solidFill>
                <a:latin typeface="Arial"/>
              </a:rPr>
              <a:t>Validation, then export — caught at the desk, signed off on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39" y="1783080"/>
            <a:ext cx="7534656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71239" y="1783080"/>
            <a:ext cx="7534656" cy="4709160"/>
          </a:xfrm>
          <a:prstGeom prst="rect">
            <a:avLst/>
          </a:prstGeom>
          <a:noFill/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91967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Seven rule families run before export: naming, binding integrity, type mismatches, completeness, alarms, unused tags, standards.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Every finding carries the objectId of the thing that caused it, so the binding map and the validation list can never disagree. Export produces the .eote, a Variables.csv, and a standalone HTML sign-off report with no stylesheet, font host or script — because a commissioning laptop has no internet.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DCD58"/>
                </a:solidFill>
                <a:latin typeface="Arial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One sentence. A whole plant.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00200"/>
            <a:ext cx="10789920" cy="68580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64792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5CED8"/>
                </a:solidFill>
                <a:latin typeface="Arial"/>
              </a:rPr>
              <a:t>“Build the whole plant: an overview plus a screen for each area, with pump status, flows, levels and alarms”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2011680" cy="155448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screens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606040"/>
            <a:ext cx="2011680" cy="155448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4930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objects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606040"/>
            <a:ext cx="2011680" cy="155448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232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4930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alarms
configured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2606040"/>
            <a:ext cx="2011680" cy="155448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1,248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4930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tags
ingested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606040"/>
            <a:ext cx="2011680" cy="1554480"/>
          </a:xfrm>
          <a:prstGeom prst="rect">
            <a:avLst/>
          </a:prstGeom>
          <a:solidFill>
            <a:srgbClr val="1A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81635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349300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A5B1"/>
                </a:solidFill>
                <a:latin typeface="Arial"/>
              </a:rPr>
              <a:t>errors
0 warnings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89120"/>
            <a:ext cx="10789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450" b="0">
                <a:solidFill>
                  <a:srgbClr val="C5CED8"/>
                </a:solidFill>
                <a:latin typeface="Arial"/>
              </a:rPr>
              <a:t>From the 1,248-tag water treatment export, with a navigation model between the screens — a plant overview, then a screen per area, and the buttons that move between them.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9AA5B1"/>
                </a:solidFill>
                <a:latin typeface="Arial"/>
              </a:rPr>
              <a:t>One measured run. Screens and objects vary with the model — other runs produced 8 / 434 and 10 / 486. What did not vary on any run: 232 alarms, 1,248 tags, 5 corrections, every binding resolved, 0 errors.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DCD58"/>
                </a:solidFill>
                <a:latin typeface="Arial"/>
              </a:rPr>
              <a:t>Hand-placing several hundred objects and making every binding is the work this replaces. Apply your own hourly rate.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Two workstreams that could never touch the same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356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754880"/>
                <a:gridCol w="48463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SURFACE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Owns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Everything touching the .eote file format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Everything the engineer sees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Files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lib/ote, lib/ai, lib/tags, validation, app/api, scripts, fixtures, tools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components, app routes, store, lib/sim, styles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The packager, tag ingestion, inference, the generation pipeline, validation rules, the sign-off report, the symbol index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The design system, the canvas, the inspector, the binding map, simulation, the supporting screens, the demo path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Machine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Windows, with a licensed EcoStruxure 4.4 installation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macOS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13503"/>
            <a:ext cx="10789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A6673"/>
                </a:solidFill>
                <a:latin typeface="Arial"/>
              </a:rPr>
              <a:t>Three files were frozen without a conversation: schema.ts, events.ts and package.json — the contracts between the two halves. The interesting constraint: FORMAT had the licensed install and SURFACE did not, so the format work had to be provable on a machine that could not run the product.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Testing, and the engineering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974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tests in the 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33572" y="18288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3572" y="20299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6974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run anywhere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8288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20299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6974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need a licensed
EcoStruxure install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29116" y="182880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9116" y="202996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8844" y="269748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failing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2044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2160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38912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commits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33572" y="352044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33572" y="372160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18,251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3300" y="438912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lines of TypeScript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352044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4" y="372160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474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438912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shipped symbols indexed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29116" y="3520440"/>
            <a:ext cx="2546604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9116" y="3721608"/>
            <a:ext cx="25466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8844" y="4389120"/>
            <a:ext cx="23271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real part types extracted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120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A1F26"/>
                </a:solidFill>
                <a:latin typeface="Arial"/>
              </a:rPr>
              <a:t>Two implementations, structurally diffed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3"/>
                </a:solidFill>
                <a:latin typeface="Arial"/>
              </a:rPr>
              <a:t>packager.test.ts diffs the TypeScript packager against the Python reference — same entries, same binding graph, same rows. Two independent implementations agreeing is stronger than either passing its own tests.</a:t>
            </a: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300"/>
              </a:spcAft>
            </a:pPr>
            <a:r>
              <a:rPr sz="1450" b="1">
                <a:solidFill>
                  <a:srgbClr val="1A1F26"/>
                </a:solidFill>
                <a:latin typeface="Arial"/>
              </a:rPr>
              <a:t>The renderer checked against a restatement, not an import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673"/>
                </a:solidFill>
                <a:latin typeface="Arial"/>
              </a:rPr>
              <a:t>canvas.test.ts restates the Python renderer’s rules independently, so the two cannot drift together and still pass.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WHAT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issue 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9" cy="3413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4214812"/>
                <a:gridCol w="3877627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broke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How it was fixed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The ZIP would not open in OTE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Nested entry names use backslash separators, which every ZIP library normalises to forward slashes.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Write the entry names the product itself writes, and guard the separator with a test.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Symbols lost their geometry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 graphics indexer dropped Commands and Points, keeping only derived path data — so a symbol could not round-trip.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Keep all three, and assert with a test that they can never drift.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Every large generation died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React update loop: effect dependencies that changed identity on every store write. 232 alarm events blew past the nested-update limit.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Dependencies narrowed to one, and a referentially idempotent idle state.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Half the toolbar was unreachable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719px of a 1,498px toolbar sat past the right edge on a 1440px laptop, including Simulate.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 run-state group pinned outside the scroll region.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The Copilot column went invisible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Three new ground tokens were added to the dark theme and never given light-theme values, so dark grounds met dark ink.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Contrast ratio 1.03, measured in the browser. Light values added.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WHAT WENT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Two lessons that changed how we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731520"/>
          </a:xfrm>
          <a:prstGeom prst="rect">
            <a:avLst/>
          </a:prstGeom>
          <a:solidFill>
            <a:srgbClr val="FDF0F0"/>
          </a:solidFill>
          <a:ln w="12700">
            <a:solidFill>
              <a:srgbClr val="F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93B3B"/>
                </a:solidFill>
                <a:latin typeface="Consolas"/>
              </a:rPr>
              <a:t>Parsed 1248 tags · Placed 29 objects · Generation failed: Maximum update depth exceeded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A1F26"/>
                </a:solidFill>
                <a:latin typeface="Arial"/>
              </a:rPr>
              <a:t>1 · A demo fixture small enough to be convenient is small enough to hide the bug that matters.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8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The seven-tag fixture never triggered it. A 1,248-tag export did, every time. Every sample we ship now exercises a different path through the importer rather than flattering it.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A1F26"/>
                </a:solidFill>
                <a:latin typeface="Arial"/>
              </a:rPr>
              <a:t>2 · A passing test suite does not tell you whether a button is reachable.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4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The crash was found by a person clicking. So we started driving the real product in a real browser at 1280, 1440 and 1920 — measuring overflow, clipped text, hit-target size and colour contrast. That found the off-screen Simulate button, a timeline that said “0 of 8” while showing seven, two hydration mismatches, and the invisible Copilot column.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3DCD58"/>
                </a:solidFill>
                <a:latin typeface="Arial"/>
              </a:rPr>
              <a:t>Zero console errors across all eleven routes, at every width, in both themes.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The decision that comes before the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1A1F26"/>
                </a:solidFill>
                <a:latin typeface="Arial"/>
              </a:rPr>
              <a:t>Every .eote we write contains Schneider’s own database files, copied through verbatim — Recipe.db, Security.db, Language.db, DriverConfig.db. Each developer extracts their own copy from their own licensed installation.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600"/>
              </a:spcAft>
            </a:pPr>
            <a:r>
              <a:rPr sz="1450" b="1">
                <a:solidFill>
                  <a:srgbClr val="D93B3B"/>
                </a:solidFill>
                <a:latin typeface="Arial"/>
              </a:rPr>
              <a:t>Right for a hackathon. Not a posture a product can ship in: a hosted service needs the skeleton on the server, and a server holding those files is redistributing them.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329184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035040"/>
                <a:gridCol w="2103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How it works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A. Local generation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Runs on a machine that already has a licensed OTE install. The skeleton never moves.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CD58"/>
                          </a:solidFill>
                          <a:latin typeface="Arial"/>
                        </a:rPr>
                        <a:t>Build this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B. Server plans, browser packages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Layout server-side; the .eote assembled in the browser from a skeleton on the engineer’s own disk.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5A6673"/>
                          </a:solidFill>
                          <a:latin typeface="Arial"/>
                        </a:rPr>
                        <a:t>Don’t — Chromium-only, fragile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A1F26"/>
                          </a:solidFill>
                          <a:latin typeface="Arial"/>
                        </a:rPr>
                        <a:t>C. Schneider blesses it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1F26"/>
                          </a:solidFill>
                          <a:latin typeface="Arial"/>
                        </a:rPr>
                        <a:t>An OEM agreement covering a redistributable skeleton, or better, an official project API.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3DCD58"/>
                          </a:solidFill>
                          <a:latin typeface="Arial"/>
                        </a:rPr>
                        <a:t>Pitch this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39496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3DCD58"/>
                </a:solidFill>
                <a:latin typeface="Arial"/>
              </a:rPr>
              <a:t>Build for A, pitch for C — they are compatible. A is also the honest fit: plant engineering happens on restricted, frequently air-gapped networks, and a cloud tool that phones a model API is a procurement fight at every site.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Four gaps, named plainly — and the safety 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732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"/>
                <a:gridCol w="5215128"/>
                <a:gridCol w="5215128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we do about it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It can only write, never read. Most HMI work is brownfield — adding a pump to a station built in 2019, not starting from nothing.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Build the reader as a preservation problem first: model what you understand, carry the rest through untouched, assert a byte-identical round trip.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Persistence is local only. Autosave to localStorage survives a reload; it does not survive a new machine.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For architecture A this is a local database and a file on disk — not a multi-tenant backend.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Nothing talks to a PLC. Generated variables are internal, so the export is a drawing, not a project.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Device driver configuration, written into DriverConfig.db rather than passed through.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Generation quality is unmeasured. No corpus, no scoring, no regression gate.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golden corpus of 20–50 real tag exports with the screens an experienced engineer would draw. Ship nothing that regresses binding accuracy.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790183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F26"/>
                </a:solidFill>
                <a:latin typeface="Arial"/>
              </a:rPr>
              <a:t>And the safety position: never auto-deploy. The engineer watches every object appear and approves before export. That is not a hackathon limitation to grow out of — it is the product’s licence to exist.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PRODUCTION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A1F26"/>
                </a:solidFill>
                <a:latin typeface="Arial"/>
              </a:rPr>
              <a:t>How it merges with the product — the integration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201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  <a:gridCol w="2286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0 — Artifact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Generate the .eote; the engineer opens it. Zero coupling, no licence dependency.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3DCD58"/>
                          </a:solidFill>
                          <a:latin typeface="Arial"/>
                        </a:rPr>
                        <a:t>Working today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1 — Lua scripting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Both layers embed Lua — the product’s own sanctioned extension point.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Natural next step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3365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2 — Managed plugin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Buildtime is .NET, so the generator can be repackaged as an in-process C# library.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E89C1F"/>
                          </a:solidFill>
                          <a:latin typeface="Arial"/>
                        </a:rPr>
                        <a:t>Needs Schneider’s SDK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1F26"/>
                          </a:solidFill>
                          <a:latin typeface="Arial"/>
                        </a:rPr>
                        <a:t>3 — UI automation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A1F26"/>
                          </a:solidFill>
                          <a:latin typeface="Arial"/>
                        </a:rPr>
                        <a:t>Driving the OTE window programmatically.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A6673"/>
                          </a:solidFill>
                          <a:latin typeface="Arial"/>
                        </a:rPr>
                        <a:t>Brittle. Not worth it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8563"/>
            <a:ext cx="10789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3DCD58"/>
                </a:solidFill>
                <a:latin typeface="Arial"/>
              </a:rPr>
              <a:t>And it can live inside OTE later, with no new technology decision.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5A6673"/>
                </a:solidFill>
                <a:latin typeface="Arial"/>
              </a:rPr>
              <a:t>Both Buildtime and RunTime already ship Qt5WebEngine — an embedded Chromium — and the parts library already includes a WebBrowser object. The same interface can be docked inside the engineering tool, and surfaced on the panel at runtime for operator diagnostics, on a runtime Schneider already distributes.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4572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D58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The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5468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5A1"/>
                </a:solidFill>
                <a:latin typeface="Arial"/>
              </a:rPr>
              <a:t>Who pays, why, how much, and what stops someone else doing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Three buyers, one wedge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8" cy="2230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984"/>
                <a:gridCol w="3319975"/>
                <a:gridCol w="4149969"/>
                <a:gridCol w="124499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Buyer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they feel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Why they buy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System integrators &amp;
panel builders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Fixed-price projects, margin pressure, HMI engineering is a large share of the hours.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Time saved converts directly into margin on work they have already quoted. They buy tools with their own money and decide fast.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DCD58"/>
                          </a:solidFill>
                          <a:latin typeface="Arial"/>
                        </a:rPr>
                        <a:t>THE WEDGE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End users — plants,
utilities, OEMs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Inconsistency across contractors, standards drift, errors found at commissioning.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They own the house style. Standards packs make every contractor produce their HMI, not the contractor’s.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Expand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68084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Schneider Electric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OTE competes with Siemens WinCC and Rockwell FactoryTalk on engineering productivity.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generative front end that runs on the format they already ship, with no change to the product.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87517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F26"/>
                </a:solidFill>
                <a:latin typeface="Arial"/>
              </a:rPr>
              <a:t>Start with integrators: sharpest pain, shortest sales cycle, and they already have a licensed OTE installation on every engineering laptop — exactly what architecture A requires.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Price, and why a seat pays for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18" cy="237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278"/>
                <a:gridCol w="2088371"/>
                <a:gridCol w="4872867"/>
                <a:gridCol w="226240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Includes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Price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Individual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One engineer, one laptop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Local generation, all part types, symbol library, validation, export, sign-off report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€149 / engineer / month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Team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5–25 seats at an integrator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Plus shared standards packs, project templates, priority support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€119 / seat / month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Site / Enterprise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plant or large integrator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On-prem or air-gapped install, bring-your-own or local model, audit trail, custom standards packs, conformance, SLA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from €40k / year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OEM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Schneider Electric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Bundled with or sold alongside OTE; revenue share or per-licence royalty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Negotiated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479543"/>
            <a:ext cx="10789920" cy="1389888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662423"/>
            <a:ext cx="1033272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DCD58"/>
                </a:solidFill>
                <a:latin typeface="Consolas"/>
              </a:rPr>
              <a:t>#  BREAK-EVEN   (assumptions stated, customer changes them)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Fully-loaded automation engineer   EUR 70-100 / hour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Team seat                          EUR 1,428 / year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Hours it must give back            1,428 / 85  =  ~17 hours  =  two working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4023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3DCD58"/>
                </a:solidFill>
                <a:latin typeface="Arial"/>
              </a:rPr>
              <a:t>Break-even at two days a year is an easy question to answer honestly — and it does not depend on a savings percentage we have not measured. Illustrative pricing.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Go to market, and what stops someone copying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1873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3147060"/>
                <a:gridCol w="3147060"/>
                <a:gridCol w="31470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Land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Expand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Scale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Who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System integrators, 5–50 engineers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Their end customers — plants and utilities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Schneider’s channel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Motion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Direct, self-serve trial on a laptop that already has OTE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Standards packs authored to the customer’s house style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OEM agreement, bundled with OTE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Proof needed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generated project opens. Already true.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Round-trip safety on brownfield, and the audit trail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Version-matrix conformance across OTE releases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04309"/>
            <a:ext cx="10789920" cy="23050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1A1F26"/>
                </a:solidFill>
                <a:latin typeface="Arial"/>
              </a:rPr>
              <a:t>Format knowledge that had to be earned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Fifty real part types, the machine-readable property definitions, the palette out of the product’s own Colors.lua, the naming rules, and the backslash separator that decides whether a file opens. None of it documented publicly; all verified by a file that opens.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  <a:spcAft>
                <a:spcPts val="300"/>
              </a:spcAft>
            </a:pPr>
            <a:r>
              <a:rPr sz="1350" b="1">
                <a:solidFill>
                  <a:srgbClr val="1A1F26"/>
                </a:solidFill>
                <a:latin typeface="Arial"/>
              </a:rPr>
              <a:t>Two implementations that agree, and a compiler-enforced rule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Anyone can write one packager; proving it correct is the work. A competitor who builds a preview separately from the generator ships drift their customers find.</a:t>
            </a:r>
          </a:p>
          <a:p>
            <a:pPr algn="l">
              <a:lnSpc>
                <a:spcPct val="125000"/>
              </a:lnSpc>
              <a:spcBef>
                <a:spcPts val="700"/>
              </a:spcBef>
              <a:spcAft>
                <a:spcPts val="300"/>
              </a:spcAft>
            </a:pPr>
            <a:r>
              <a:rPr sz="1350" b="1">
                <a:solidFill>
                  <a:srgbClr val="1A1F26"/>
                </a:solidFill>
                <a:latin typeface="Arial"/>
              </a:rPr>
              <a:t>Standards packs become switching cost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673"/>
                </a:solidFill>
                <a:latin typeface="Arial"/>
              </a:rPr>
              <a:t>Once a customer’s conventions live in the tool as data and every contractor generates against them, leaving means renegotiating consistency across a supply chain.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Risks, and what we would build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4519"/>
          <a:ext cx="10789920" cy="2376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188720"/>
                <a:gridCol w="6126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91440" marR="91440" marT="45720" marB="45720" anchor="ctr">
                    <a:solidFill>
                      <a:srgbClr val="0F1419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Schneider declines a redistributable skeleton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89C1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Architecture A needs no redistribution — the tool runs where a licence already is. The business survives a “no”.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A generated binding is wrong and nobody catches it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89C1F"/>
                          </a:solidFill>
                          <a:latin typeface="Arial"/>
                        </a:rPr>
                        <a:t>Critical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Never auto-deploy. The engineer approves before export, findings carry object ids, and the golden corpus gates every change to binding accuracy.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Format drift across OTE versions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89C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Part schemas read from the installation at run time; the packager should refuse to write a version it has not been proven against.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66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A1F26"/>
                          </a:solidFill>
                          <a:latin typeface="Arial"/>
                        </a:rPr>
                        <a:t>Air-gapped sites cannot reach a model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E89C1F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A1F26"/>
                          </a:solidFill>
                          <a:latin typeface="Arial"/>
                        </a:rPr>
                        <a:t>A local model is a requirement, not a nice-to-have. The provider seam is one module today — cheap now, expensive once call sites spread.</a:t>
                      </a:r>
                    </a:p>
                  </a:txBody>
                  <a:tcPr marL="91440" marR="91440" marT="36576" marB="36576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452111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1F26"/>
                </a:solidFill>
                <a:latin typeface="Arial"/>
              </a:rPr>
              <a:t>Next, in order: take the licensing question to Schneider · start the .eote reader as a preservation problem · stand up the golden corpus. Then durable persistence and the audit trail. Then ISA-101 and ISA-18.2 rules and the version matrix. Then desktop packaging and a local model.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673"/>
                </a:solidFill>
                <a:latin typeface="Arial"/>
              </a:rPr>
              <a:t>Deliberately cut: multi-tenancy, SSO, a marketplace, real-time collaboration. Two engineers do not edit one HMI screen at once.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3DCD58"/>
                </a:solidFill>
                <a:latin typeface="Arial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A1F26"/>
                </a:solidFill>
                <a:latin typeface="Arial"/>
              </a:rPr>
              <a:t>Where this stands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8229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7889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screens from
one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4017" y="19202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4017" y="21214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560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3745" y="27889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objects, none
placed by hand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2235" y="19202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2235" y="21214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1,248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1963" y="27889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tags
ingested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80452" y="19202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0452" y="21214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0180" y="27889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tests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78670" y="1920240"/>
            <a:ext cx="1997049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8670" y="2121408"/>
            <a:ext cx="199704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3DCD58"/>
                </a:solidFill>
                <a:latin typeface="Arial"/>
              </a:rPr>
              <a:t>4.4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8398" y="2788920"/>
            <a:ext cx="17775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opens in 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429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5A6673"/>
                </a:solidFill>
                <a:latin typeface="Arial"/>
              </a:rPr>
              <a:t>Screens and objects are one measured run and vary with the model; alarms, tags, corrections and the zero-error result did not vary on any 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1078992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The loop works, end to end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Tag export in, conversation, live canvas, validation, and a .eote that opens in EcoStruxure Operator Terminal Expert 4.4 — a file the product never saved.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The format layer is genuinely defensible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Two independent implementations, structurally diffed. The canvas cannot draw what the packager cannot emit, and the compiler enforces it.</a:t>
            </a:r>
          </a:p>
          <a:p>
            <a:pPr algn="l">
              <a:lnSpc>
                <a:spcPct val="125000"/>
              </a:lnSpc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1A1F26"/>
                </a:solidFill>
                <a:latin typeface="Arial"/>
              </a:rPr>
              <a:t>What stands between this and a real engineer is not features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673"/>
                </a:solidFill>
                <a:latin typeface="Arial"/>
              </a:rPr>
              <a:t>It is the licensing question, a reader that never loses what it does not understand, and a way to prove the generation is right. Everything else is sequencing.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The AI does not replace
the HMI engineer.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94760"/>
            <a:ext cx="1280160" cy="41148"/>
          </a:xfrm>
          <a:prstGeom prst="rect">
            <a:avLst/>
          </a:prstGeom>
          <a:solidFill>
            <a:srgbClr val="3DC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9692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C5CED8"/>
                </a:solidFill>
                <a:latin typeface="Arial"/>
              </a:rPr>
              <a:t>It encodes the senior engineer’s judgement — which part to use, which alarm every pump needs, which naming standard applies — and makes it available to everyone on the team,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DCD58"/>
                </a:solidFill>
                <a:latin typeface="Arial"/>
              </a:rPr>
              <a:t>HMI Copilot  ·  From Intent to HMI — Faster. Smarter. Safer.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